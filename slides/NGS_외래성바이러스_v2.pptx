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xml" ContentType="application/vnd.openxmlformats-officedocument.drawingml.char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22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검출 바이러스 수</c:v>
                </c:pt>
              </c:strCache>
            </c:strRef>
          </c:tx>
          <c:spPr>
            <a:solidFill>
              <a:srgbClr val="000080"/>
            </a:solidFill>
            <a:effectLst/>
          </c:spPr>
          <c:invertIfNegative val="0"/>
          <c:dPt>
            <c:idx val="0"/>
            <c:invertIfNegative val="0"/>
            <c:bubble3D val="0"/>
            <c:extLst>
              <c:ext xmlns:c16="http://schemas.microsoft.com/office/drawing/2014/chart" uri="{C3380CC4-5D6E-409C-BE32-E72D297353CC}">
                <c16:uniqueId val="{00000001-2B2D-4F95-916C-A187A2EE0BC9}"/>
              </c:ext>
            </c:extLst>
          </c:dPt>
          <c:dPt>
            <c:idx val="1"/>
            <c:invertIfNegative val="0"/>
            <c:bubble3D val="0"/>
            <c:spPr>
              <a:solidFill>
                <a:srgbClr val="FFA500"/>
              </a:solidFill>
              <a:effectLst/>
            </c:spPr>
            <c:extLst>
              <c:ext xmlns:c16="http://schemas.microsoft.com/office/drawing/2014/chart" uri="{C3380CC4-5D6E-409C-BE32-E72D297353CC}">
                <c16:uniqueId val="{00000003-2B2D-4F95-916C-A187A2EE0BC9}"/>
              </c:ext>
            </c:extLst>
          </c:dPt>
          <c:dLbls>
            <c:numFmt formatCode="#,##0" sourceLinked="0"/>
            <c:spPr>
              <a:noFill/>
              <a:ln>
                <a:noFill/>
              </a:ln>
              <a:effectLst/>
            </c:spPr>
            <c:txPr>
              <a:bodyPr/>
              <a:lstStyle/>
              <a:p>
                <a:pPr>
                  <a:defRPr sz="1600" b="1" i="0" u="none" strike="noStrike">
                    <a:solidFill>
                      <a:srgbClr val="000080"/>
                    </a:solidFill>
                    <a:latin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In vivo</c:v>
                </c:pt>
                <c:pt idx="1">
                  <c:v>NGS</c:v>
                </c:pt>
              </c:strCache>
            </c:strRef>
          </c:cat>
          <c:val>
            <c:numRef>
              <c:f>Sheet1!$B$2:$B$3</c:f>
              <c:numCache>
                <c:formatCode>General</c:formatCode>
                <c:ptCount val="2"/>
                <c:pt idx="0">
                  <c:v>5</c:v>
                </c:pt>
                <c:pt idx="1">
                  <c:v>9</c:v>
                </c:pt>
              </c:numCache>
            </c:numRef>
          </c:val>
          <c:extLst>
            <c:ext xmlns:c16="http://schemas.microsoft.com/office/drawing/2014/chart" uri="{C3380CC4-5D6E-409C-BE32-E72D297353CC}">
              <c16:uniqueId val="{00000004-2B2D-4F95-916C-A187A2EE0BC9}"/>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80"/>
                </a:solidFill>
                <a:latin typeface="Arial"/>
              </a:defRPr>
            </a:pPr>
            <a:endParaRPr lang="en-US"/>
          </a:p>
        </c:txPr>
        <c:crossAx val="2094734552"/>
        <c:crosses val="autoZero"/>
        <c:auto val="1"/>
        <c:lblAlgn val="ctr"/>
        <c:lblOffset val="100"/>
        <c:noMultiLvlLbl val="1"/>
      </c:catAx>
      <c:valAx>
        <c:axId val="2094734552"/>
        <c:scaling>
          <c:orientation val="minMax"/>
          <c:max val="9"/>
          <c:min val="0"/>
        </c:scaling>
        <c:delete val="0"/>
        <c:axPos val="t"/>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F7F7F"/>
                </a:solidFill>
                <a:latin typeface="Arial"/>
              </a:defRPr>
            </a:pPr>
            <a:endParaRPr lang="en-US"/>
          </a:p>
        </c:txPr>
        <c:crossAx val="2094734554"/>
        <c:crosses val="autoZero"/>
        <c:crossBetween val="between"/>
        <c:majorUnit val="3"/>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66238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40분 발표, Q&amp;A 별도.
발표자·소속·일자는 확정 후 기입.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1 (7분). 왜 지금 이 주제인가: 사건 → 규제 → 대체 범위 → 용어 정의 순.</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허가·출하시험을 모두 통과한 제품에서 NGS(메타게놈)가 PCV1을 찾았다. 못 찾은 이유는 '검사 목록에 없었기 때문'.
- 발견: 허가 생백신 8종 메타게놈 + 범미생물 마이크로어레이 재검 (Victoria 2010).
- 2010.03.22 FDA 사용 일시 중단 권고 → 05.06 RotaTeq에서도 PCV1·PCV2 DNA 단편 → 05.07 VRBPAC → 05.14 사용 재개.
- 원인: 1983년 MCB 제작 시 사용한 비조사(non-irradiated) 돼지 trypsin 추정. Vero 세포은행 포함 전 단계에 존재. 인체 감염 근거 없음 (Dubin 2013).
⚠ FDA 원 보도자료 URL 확보 필요 (현재 보도 기사 경유 확인).</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2023년 개정으로 non-targeted NGS가 in vivo 시험을 정면 비교 없이 대체할 수 있게 되었다.
- 위치: 3.2.5 Molecular Methods › 3.2.5.2 Next generation sequencing.
- 정면 비교를 요구하지 않는 근거: 시험계마다 종말점이 다르고, in vitro·in vivo의 검출 폭이 NGS보다 좁다.
- 시행: FDA 2024-01-11, EU 2024-06-14, 일본 2024-02-14.
⚠ 인용문은 검색 발췌 기준. 원문 PDF와 글자 단위 대조 필요. 절 제목 표기도 확인.
⚠ 식약처 시행 여부·일자 미확인 → 발표 시 '확인 중'으로 언급하거나 확인 후 추가.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NGS는 전망이 아니라 현행 규제 선택지다. Ph. Eur. 2.6.41은 2026-04-01부터 시행 중.
- 2013 WHO TRS 978 Annex 3: deep sequencing의 가능성과 Rotarix 사례를 이미 언급.
- 2013.11 PDA/FDA 워크숍(Bethesda) → IABS 컨퍼런스 1차 2017 Rockville, 2차 2019 Ghent, 3차 2022 Rockville, 4차 2024 Frankfurt.
- 2017 Ph. Eur. 5.2.3·2.6.16 개정: 위해성 평가 도입, 일부 동물시험 삭제 (⚠ 삭제 항목 원문 확인).
- 2021 식약처(식품의약품안전평가원) 「백신 생산용 세포주의 NGS 기반 외래성 바이러스 부정시험법 정보집」 (⚠ 발간일 확인).
- 2024 WHO ECBS 1st International Reference Panel (HTS 외래성 바이러스 검출, 7종).
- 2025.03 Ph. Eur. 2.6.41 채택, 12.2 수재 → 2026.04.01 시행.</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문서 세 곳이 같은 방향. In vivo와 표적 PCR은 '대체', in vitro 세포배양은 '보완 또는 대체'.
- ICH Q5A(R2): non-targeted NGS로 in vivo 대체, in vitro 보완·대체 / Table 3 동물(항체생산) 시험은 NAT·NGS로 대체.
- Ph. Eur. 2.6.41: in vivo·NAT 대체, 세포배양 in vitro 보완·대체.
- 4차 컨퍼런스 합의: 'readiness of NGS to replace the in vivo ... and PCR assays, and to supplement or replace the in vitro cell-based assays, based on a suitable validation package.'
- '—'는 해당 문서에서 명시 여부를 확인하지 못한 칸.
⚠ ICH의 종특이 PCR 대체 문구는 검색 발췌 기준 → 원문 대조 필요.
- 3Rs는 부수 효과로만 언급. 1차 논거는 검출 폭(성능).</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'외래(外來)'의 기준은 환자가 아니라 세포기질 유전체.
- Adventitious: 'Unintentionally introduced contaminant viruses.'
- Endogenous: 'Viral entity whose genome is part of the germ line of the species of origin of the cell line and is covalently integrated into the genome of animal from which the parental cell line was derived.'
- 예: CHO의 레트로바이러스 유사입자(RVLP)는 바이러스이지만 외래성이 아니다. FBS 유래 BVDV는 외래성이다.
- 규제상 취급: 외래성 = 부정시험(없음 확인) / 내인성 = 존재 전제, 정량 + 제거·불활화 공정 검증.
- 예고: 파트 4의 EVE 사례에서 이 경계로 돌아온다.
⚠ Glossary 문구는 R1 기준. R2 원문 동일 여부 대조.</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2 (7분). 청중이 발표자보다 이 분야의 실무 전문가임을 전제. 각 장은 가이드라인 원문 요약 + 출처만. 발표자 해석은 마지막 '세 가지 한계' 한 장에 모은다.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세포은행과 LIVCA는 1회, 미가공 벌크는 배치마다.
- Table 1 열: MCB, WCB, LIVCA(시험관내 세포 연령 한계의 세포). 행: 레트로·내인성 시험(감염성, EM, RT), 외래성 시험(in vitro, in vivo, 항체생산, 분자법).
- 미가공 벌크: 배치별 외래성 바이러스 시험 (in vitro 지시세포 또는 non-targeted NGS).
⚠ 하단 점선 영역에 ICH Q5A(R2) Table 1 원문을 캡처해 넣을 것. 셀별 +/− 값은 검증 단계에서 읽지 못했으므로 원문 그대로 사용.
⚠ 미가공 벌크 조항의 절 번호 확인.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지시세포 시험은 '복제 가능한 바이러스'를 직접 보는 시험. NGS가 주지 않는 정보(감염성)를 준다.
- 지시세포 (FDA 2010): 인간 이배체 세포(예: MRC-5), 원숭이 신장세포(예: Vero), 생산세포와 동일 종·조직의 세포.
- 판독: 배양 중 세포변성효과(CPE) 관찰 → 종료 시점 혈구흡착(hemadsorption)·혈구응집(hemagglutination).
⚠ 관찰 기간 '28일(2주 계대)'은 출처(Q5A(R2) vs Ph. Eur.)가 미확정 → 슬라이드에 기재하지 않음.
- 파트 4 EVE 사례에서 '서열 ≠ 감염성'으로 다시 연결.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동물 구성은 문서마다 다르다. 재조합 단백질(ICH)과 백신 세포기질(FDA 2010)의 차이.
- ICH Q5A(R2): 유약 마우스, 성숙 마우스, 발육란 — 위해성 평가에 근거. CHO·NS0·SP2/0처럼 광범위하게 사용되고 특성이 잘 분석된 세포주는 in vivo 불필요.
- FDA 2010: 위 시험 + 기니피그.
- Ph. Eur.: 2017년 5.2.3·2.6.16 개정으로 일부 동물시험 삭제 (⚠ 삭제 항목 원문 확인).
⚠ 동물 수·관찰 일수는 원문 대조 전 게재 금지 → 확인 후 Supplementary 표로.</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표적 기반 시험의 검출 범위는 표적 목록 그 자체.
- 설치류 세포주이거나 설치류 유래 원료에 노출된 경우: MAP(마우스)·RAP(랫드)·HAP(햄스터). 대상 바이러스는 Q5A(R2) Table 3.
- Q5A(R2): Table 3의 동물 시험은 PCR 등 NAT 또는 NGS로 정면 비교 없이 대체 가능 (⚠ 문구 원문 대조).
- 종특이 PCR은 알려진 표적에 대해 빠르고 민감. 목록 밖은 원리적으로 검출하지 않는다.
- Supplementary의 Bas-Congo 슬라이드: 질의응답에서 'PCR 패널을 넓히면 되지 않나' 질문 대비.</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내인성 바이러스는 '없음'을 증명하는 대상이 아니라 '얼마나 있는가'를 재고 공정으로 관리하는 대상.
- 시험: 역전사효소 활성(PERT/PBRT), 투과전자현미경(TEM), 감염성 시험.
- CHO의 RVLP: 존재를 전제로 TEM 정량 → 공정의 제거·불활화 능력으로 안전역 확보.
- 1-7(외래성/내인성 정의)이 시험 설계에서 어떻게 달라지는지 보여주는 장.</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요지(발표자 해석): 전통법의 한계는 세 유형으로 정리된다. 각 유형이 파트 4의 사례와 연결된다.
- 표적 기반: 목록에 없거나 프라이머가 닿지 않으면 음성 → FBS·trypsin, Rotarix.
- 증식 기반: 지시세포에서 자라지 않거나 잠복 상태면 음성 → Vero·High Five 전사체.
- 검출 폭: 동물이 반응하는 바이러스군이 제한적 → in vivo 9종 중 5종.
- 균형 문장: 이 시험들은 수십 년간 실제 오염을 잡아냈다(Kerr &amp; Nims 2010). 이 발표는 폐기론이 아니라 보완·대체의 근거를 다룬다.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3 (11분). 화학 원리는 3장·약 3분만 가볍게. 나머지는 전처리 설계와 in-silico 분석, 특히 host removal.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PCR은 '이것이 있는가'를, non-targeted NGS는 '무엇이 있는가'를 묻는다.
- 흐름: 검체 → 전처리(뉴클레이스·추출) → 라이브러리 → 시퀀싱 → in-silico(QC, host removal, 분류, assembly, 판정) → 확증시험.
- Ph. Eur. 2.6.41은 전처리부터 보고·후속조치까지 전 과정을 다룬다.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핵산을 짧게 자르고, 양 끝에 어댑터를 붙이고, 검체마다 index(바코드)를 달아 한 번에 분석한다.
- 단편화 + 말단 수선·어댑터 결합(ligation) 또는 tagmentation(트랜스포좀이 단편화와 어댑터 부착을 한 번에).
- RNA 바이러스·전사체: random priming으로 cDNA 합성 후 동일 과정.
- Index 멀티플렉싱 → 뒤의 '대조군 설계'에서 index 오배정(교차오염) 문제로 이어짐. 도식에서 오렌지 블록이 index.</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한 분자를 제자리에서 수천 복제해 '보이는' 신호로 만든다.
- Bridge amplification: flow cell 표면 올리고에 결합한 단일 가닥이 제자리에서 증폭 → 클론 클러스터.
- Patterned flow cell: 위치가 고정된 나노웰 배열. ExAmp(Exclusion Amplification)는 시딩과 증폭을 동시에 진행해 한 웰에 두 분자가 자랄 확률을 낮춘다.
- 도식은 개념도(축척 무관). Illumina 공식 도식으로 교체 가능.</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형광 표지된 가역적 종결자(reversible terminator) dNTP로 한 사이클에 한 염기씩 합성·촬영·제거를 반복한다.
- 2-channel(NextSeq·NovaSeq 등): 적·녹 두 색으로 4염기 판독. A=적+녹, C=적, T=녹, G=신호 없음(dark G).
- Paired-end: 한 단편의 양 끝을 읽어 정렬 정확도 향상.
- 곁가지: long-read(Oxford Nanopore)도 동일 목적에 사용 가능. Hirai 2024에서 short-read와 검출한계가 거의 동일 (파트 4).</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전처리 선택이 '무엇을 볼 수 있는가'를 결정한다.
- 뉴클레이스 처리·여과: 캡시드 밖 숙주 핵산을 분해해 바이러스 입자 핵산을 농축 (Allander 2001). 대가: 입자를 형성하지 않은 잠복·통합 바이러스는 놓친다.
- 총 핵산·전사체: 잠복·발현 바이러스까지 포착 (Onions 2011, 파트 4). 대가: 숙주 read가 압도적 → host removal 부담.
- DNA/RNA 병행, rRNA 제거로 숙주 배경 감소, 저투입량 증폭 (Ng 2018).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 결과의 신뢰도는 대조군 설계가 정한다.
- 6/25: NIBSC 후보 표준물질(25종 바이러스)을 16개 기관이 분석 → 전 기관 검출은 6종, 나머지는 4–14개 기관 (Mee 2016). 기관 간 편차가 크다.
- 7종: WHO 1st International Reference Panel (2024) — EBV, reovirus 1, RSV, FeLV, PCV1, HCoV-OC43, MVM.
- ~2%: patterned flow cell에서 index 오배정 최대 약 2% (Illumina). 강한 양성 대조가 같은 run의 시험 검체로 번질 수 있다 → Unique dual index(UDI)로 차단.
- 음성 대조(추출 blank, no-template): 시약 유래 핵산 'kitome' (Salter 2014).</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NGS의 성능은 시퀀서가 아니라 이 파이프라인과 그 밸리데이션이 결정한다.
① QC·트리밍: 어댑터·저품질·저복잡도 read 제거 (FastQC, Trimmomatic, fastp).
② Host removal: 생산세포주 유전체에 정렬해 제거 (BWA, Bowtie2) — 다음 두 장.
③ 분류: BLASTn/x, DIAMOND, Kraken2 — DB 선택이 핵심.
④ De novo assembly: 신종·발산 바이러스 contig 복원 (SPAdes, MEGAHIT).
⑤ 판정·확증: 역치 판정 → 특이 PCR, 감염성 시험.
- 규제기관 플랫폼 예: FDA CBER HIVE (Simonyan 2016).</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host removal의 '호스트'는 환자가 아니라 생산세포주. 참조 유전체의 품질이 위양성률을 좌우한다.
- CHO: Xu 2011(CHO-K1), Lewis 2013(C. griseus), Rupp 2018 PICR(PacBio+Illumina 하이브리드). PICR 저자들은 이전 어셈블리가 단편적이고 gap·오조립이 많다고 명시.
- Vero: Osada 2014 (Chlorocebus sabaeus 유래). SRV 근연 베타레트로바이러스 발현 보고 (Onions 2011).
- HEK293: Lin 2014, 계통(lineage)별 게놈 차이, pseudotriploid.
- Sf9: Nandakumar 2017 (FDA CBER, PacBio). Sf 세포는 rhabdovirus 유사 EVE 보유 (Geisler 2016).
- 쟁점: 불완전 참조 / 실제 생산 계대주와의 계통 차이 / ERV·EVE는 숙주 서열이면서 바이러스 서열.</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ERV·EVE는 숙주 서열이면서 바이러스 서열. 기계적으로 지우면 안 되고, 식별해서 해석해야 한다.
- 잔류 숙주 read: 참조 유전체가 불완전하거나 계통이 다르면 숙주 read가 남아 바이러스 DB에 오정렬 → 위양성.
- ERV·EVE: 판정 단계에서 '내인성 요소'로 해석 (1-7의 정의로 귀결).
- DNA+RNA 병행: 유전체와 전사체를 함께 보면 전사되는 EVE를 식별할 수 있다 (Geisler 2016).
⚠ '과도한 제거가 숙주 유사 서열을 가진 바이러스를 함께 지운다'는 일반 원리 수준. 특정 문헌 미확인 → 발표 시 '원리적 위험'으로만 언급.</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같은 read라도 DB에 따라 결과가 달라진다.
- 좁은 DB(RefSeq viral): 발산한 바이러스를 놓침.
- 넓은 DB(GenBank nt 전체): 세포 서열이 다수 → 느리고 오분류 증가.
- RVDB (FDA CBER): 바이러스·바이러스 관련 서열 망라, 파지 제외, 세포 서열 축소, 98% 동일성 군집(CD-HIT-EST). 2025년 개정(U-RVDB/C-RVDB).
- 분류기: 정렬 기반(BLAST, DIAMOND) vs k-mer 기반(Kraken2) — 속도와 민감도의 교환. 생물의약품 적용 벤치마크: MacDonald 2021.</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 양성 신호는 '추정 검출'. 직교 시험으로 확증해야 판정이 된다.
- 판정 역치(read 수, 커버리지, 독립 영역 수, e-value 등)는 각 시험기관이 spike-in 밸리데이션으로 설정. 규제상 공통 수치는 확인되지 않음 → 특정 숫자를 표준처럼 제시하지 말 것.
- 확증: 특이 PCR → 감염성 시험으로 복제 바이러스 / 불활화 핵산 / EVE·ERV 구분.
- 다기관 근거: Khan 2017 — 3개 기관이 서로 다른 플랫폼·분석법으로 비교 가능한 결과 (⚠ 수치 원문 대조).</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4 (13분). 13편을 7개 묶음으로. 슬라이드마다 숫자 하나 또는 문장 하나. 원 노트 번호가 아니라 저자·연도로 부른다.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청중이 지금 어디를 듣는지 알 수 있도록 지도를 먼저 보여준다.
순서: 원료 → 세포주(전사체, 음성 입증, Sf9) → 함정(EVE) → 완제품(Rotarix) → 현장(10년 기록, 저항성 세포주) → 성능(in vivo 비교, LoD) → 구현(LAIV 교체, 4차 합의).
Sf9(Ma 2014)와 EVE(Geisler 2016)를 연속 배치: '같은 세포주, 같은 바이러스 계통, 정반대 결론'.</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세포배양 원료(FBS·trypsin) 자체가 다양한 바이러스를 운반한다. Rotarix의 원인(돼지 trypsin)과 같은 경로.
- Gagnieur 2014: FBS에서 BVDV 1–3형·BPV3 주종, 신규 후보종(bovine parvovirus, bovine pegivirus). Trypsin에서 PCV2 주종.
- Zhang 2022: 8년 뒤 다른 지역 상용 제품 재확인. BPV3·bosavirus 고빈도·고농도. Bovine norovirus·BVDV-1은 신규 유전형 시사.
⚠ 원문 대조 전 게재 금지: 바이러스 read 비율 배치 간 0.002–22.7%, FBS 유래 BVDV 서열과 통용 스크리닝 프라이머의 불일치. 확인되면 이 장의 핵심 숫자로 추가.
메시지: 'BVDV 검사를 하고 있다'와 '우리 FBS에 BVDV가 없다'는 다른 문장.</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유전체에 '있는가'와 지금 '발현되는가'는 다른 질문. 전사체 시퀀싱(MP-Seq)은 후자를 묻는다.
- Vero ATCC CCL-81 세포은행: PCV 및 기타 외래성 인자 배제. 동시에 SRV 근연 베타레트로바이러스 전장이 발현될 수 있음을 확인.
- Trichoplusia ni(High Five) 세포: 오염된 잠복 nodavirus 검출, 발현 중인 errantivirus 유전체 확인.
- 잠복 바이러스는 통상 배양 조건의 증식 기반 시험에서 신호가 없을 수 있다 → 파트 2의 '증식 기반' 한계.</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NGS는 오염을 찾는 도구이자, '없음'을 입증해 새 세포기질의 규제 문턱을 넘는 도구.
- A549(종양원성 인간 폐암 세포주)를 백신 세포기질로 쓸 수 있는가: 2012년 9월 FDA VRBPAC 심의.
- 전 세포 전사체를 시퀀싱해 큐레이션된 바이러스 서열 DB와 대조.
- 결론: 'A549 cells pose no more risk than any other cell substrate for vaccine manufacture.'
- 신규 모달리티 공정 개발 청중에게 가장 실무적인 각도.</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'Sf9에서 보고된 바이러스가 없다'와 'Sf9에 바이러스가 없다'는 다른 말.
- FDA CBER(Khan) 그룹. Degenerate PCR + massively parallel sequencing으로 Mononegavirales 목의 신종 랩도바이러스 동정.
- ORF: N·P·M·G·L + G–L 사이 미지 ORF(111 aa). L 유전자 일부가 Taastrup virus 및 식물 cytorhabdovirus와 근연.
- TEM으로 랩도바이러스 형태 확인. 모세포주 Sf21에도 존재, 다른 곤충세포주에는 없음. 인체 세포주에서 진입·복제 근거 없음.
⚠ '광범위 시험에서 바이러스 보고 없음'은 초록 명시 문장이 아님 → 발표자 서술로 표현.
- 게놈 도식은 유전자 순서만 표시(길이 비율 무관).
- 다음 장(EVE)과 연속: 같은 세포주·같은 바이러스 계통·정반대 결론.</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NGS는 서열을 볼 뿐 감염성을 보지 않는다. 같은 세포주·같은 바이러스 계통에서 정반대 결론.
- Sf 세포 유전체·전사체에서 Sf-rhabdovirus 유사 서열 발견 → 전사체와 유전체 서열 일치 → 내인성 바이러스 유사 요소(EVE).
- N·P 유사 ORF는 온전, G·L 유사 ORF는 부분적.
- 저자 권고 요지: MPS 기반 외래성 바이러스 탐색은 유전체와 전사체를 함께 봐야 전사되는 EVE를 식별하고 위양성을 피할 수 있다.
⚠ '4개 유전자 자리', 'M ORF 없음'은 원문 확인 전 게재 금지.
- 1-7 정의(외래성 vs 내인성)로 귀결. 전사 여부 행이 핵심: 둘 다 전사되므로 RNA만으로는 구분 불가.</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같은 메타게놈 데이터가 외래성 오염체, 약독화주 변이체, 내인성 레트로바이러스를 한 번에 보여줬다.
- 허가 생백신 8종(OPV, 풍진, 홍역, 황열, 수두, MMR, 로타바이러스 2종) 분석.
- 외래성: Rotarix에서 PCV1.
- Minority variant: OPV·볼거리·수두 백신.
- 내인성 레트로바이러스: 조류 ALV(입자 내 RNA), 원숭이 SRV(결손 DNA).
- 범미생물 마이크로어레이로 교차 확인.
- 사건 경과는 인트로에서 다뤘으므로 여기서는 1분 이내.</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전통적 in vitro 시험의 실제 작동 기록. 이 장을 빼면 발표가 선전물이 된다.
- 10년간 다양한 포유류 세포배양 생물의약품 bulk harvest를 in vitro virus screening assay로 평가.
- 검출: reovirus 2형, Cache Valley virus — 둘 다 CHO 세포 생산품.
- 희소성은 곧 '한 건의 무게'를 뜻한다 → 다음 장(저항성 세포주)으로 연결.
⚠ '문헌상 CHO에서 MVM 보고'는 본문 맥락 — 인용 시 원문 확인.</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검출 다음 단계 — 세포주 설계로 위험 자체를 줄인다.
- ZFN 유전자 편집으로 MVM 진입에 필요한 세포 표면 시알산 경로 제거.
- Slc35a1(CMP-시알산 수송체) KO: 시알산 완전 소실 → MVM 감염에 완전 저항.
- Cosmc·Mgat1 KO: 유의한 억제.
⚠ 재조합 단백질 생산성·품질 유지, '파국적(catastrophic)' 인용은 본문 대조 필요.</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동물시험은 윤리 때문만이 아니라 성능 때문에 대체되고 있다.
- 세포배양에 9종 바이러스 접종 → in vivo(동물·발육란) 시험은 5종만 검출, NGS 전사체 분석은 9종 모두 검출.
- 민감도: 감염세포 1개를 비감염세포 10^3–10^7개 중에서 검출. (기존 노트의 10^5–10^6은 오기, 정정 완료)
- 결론: 세포기질 바이러스 안전성 시험에서 in vivo를 NGS로 대체하는 것을 지지.</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플랫폼(short vs long read)보다 설계가 중요. 둘 다 assay당 1 copy 수준까지 검출.
- 일본 국립의약품식품위생연구소. 외래성 바이러스 in vitro 시험의 표준 지시세포인 Vero에 adenovirus 5 접종 → 감염세포 RNA를 비감염세포 RNA로 연속 희석.
- Short-read vs long-read(Oxford Nanopore): 검출한계 거의 동일. 'sensitive enough to detect viral sequences as long as there was at least one copy in one assay.'
⚠ 멀티플렉싱에 따른 검체 간 교차오염 위험 지적은 본문 대조 필요 → 확인되면 파트 3의 index 오배정과 연결.</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'가능하다'(Beurdeley 2023)에서 '실제로 했다'로. 상용 제품 출하시험에 적용된 구현 사례.
- 생백신 인플루엔자(LAIV) 상용 제품의 in vivo 외래성 인자 시험을 NGS 외래성 인자 검출법으로 교체.
- 제품 매트릭스에 spike하여 검출한계(LoD) 설정·밸리데이션.
- 규제 근거: ICH Q5A(R2) 3.2.5.2.
⚠ AstraZeneca·MilliporeSigma 협업 명시 여부, '정면 비교 생략' 서술은 본문 대조 필요.
- 계란 기반 백신 생산 맥락은 국내 백신 개발과도 가깝다.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규제기관이 공동 주재한 4차 컨퍼런스에서 대체 준비 합의 — '전망'이 아니라 '현재 좌표'.
- 2013.11 PDA/FDA 'Advanced Technologies for Virus Detection' 워크숍(Bethesda).
- IABS: 1차 2017.10 Rockville(IABS·FDA), 2차 2019.11 Ghent, 3차 2022.09 Rockville, 4차 2024.12.4–5 Frankfurt(FDA·EDQM 공동 주재).
- 4차 합의: 'readiness of NGS to replace the in vivo adventitious virus detection assays and PCR assays, and to supplement or replace the in vitro cell-based assays, based on a suitable validation package.'
⚠ 4차 보고의 PMID(40945333) 연결, 2차 보고 PMID 원문 확인.</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Take-home (2분).
1. 정의: 외래성의 기준점은 세포기질 유전체. 내인성과의 경계를 NGS 해석에서도 유지.
2. 규제: ICH Q5A(R2)(2023)와 Ph. Eur. 2.6.41(2026-04 시행)로 non-targeted NGS는 이미 현행 규제 선택지.
3. 기술: 성능은 시퀀서가 아니라 전처리 설계, host removal·DB·판정 기준을 포함한 in-silico 파이프라인과 그 밸리데이션이 결정.
4. 한계: 서열은 감염성이 아니다. 확증시험과 전통법의 역할은 남는다.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본 발표에서는 넘기고, 질의응답 대비용으로만 사용.</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용도: 질의응답에서 'PCR 패널을 넓히면 되지 않나'에 대한 답.
- 2009년 콩고민주공화국 급성 출혈열 3례. 고도로 발산한 신종 랩도바이러스(Bas-Congo virus).
- 발산도가 이 정도면 degenerate PCR 프라이머 설계 자체가 원리적으로 어렵다 → unbiased NGS + de novo assembly.
⚠ 원문 대조 전: 기존 랩도바이러스와 아미노산 동일성 34% 미만, 혈청 1.09×10^6 copies/mL, 약 1억 4천만 read, 유전체 98.2% de novo assembly.</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FDA 2010 가이던스의 in vivo 시험 표(동물 수, 투여 경로, 관찰 기간, 표적 바이러스군)를 원문에서 캡처하거나 옮겨 적을 것. 검증 단계에서 원문 PDF를 열지 못해 수치를 싣지 않았다.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참고문헌. 전체 링크는 notes/03_발표콘티.md 참조.</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참고문헌. 전체 링크는 notes/03_발표콘티.md 참조.</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a:effectLst/>
      </p:bgPr>
    </p:bg>
    <p:spTree>
      <p:nvGrpSpPr>
        <p:cNvPr id="1" name=""/>
        <p:cNvGrpSpPr/>
        <p:nvPr/>
      </p:nvGrpSpPr>
      <p:grpSpPr>
        <a:xfrm>
          <a:off x="0" y="0"/>
          <a:ext cx="0" cy="0"/>
          <a:chOff x="0" y="0"/>
          <a:chExt cx="0" cy="0"/>
        </a:xfrm>
      </p:grpSpPr>
      <p:sp>
        <p:nvSpPr>
          <p:cNvPr id="3" name="Shape 0"/>
          <p:cNvSpPr/>
          <p:nvPr/>
        </p:nvSpPr>
        <p:spPr>
          <a:xfrm>
            <a:off x="822960" y="160020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4" name="Text 1"/>
          <p:cNvSpPr txBox="1"/>
          <p:nvPr/>
        </p:nvSpPr>
        <p:spPr>
          <a:xfrm>
            <a:off x="822960" y="1920240"/>
            <a:ext cx="10515600" cy="1097280"/>
          </a:xfrm>
          <a:prstGeom prst="rect">
            <a:avLst/>
          </a:prstGeom>
          <a:noFill/>
          <a:ln/>
        </p:spPr>
        <p:txBody>
          <a:bodyPr wrap="square" lIns="0" tIns="0" rIns="0" bIns="0" rtlCol="0" anchor="t"/>
          <a:lstStyle/>
          <a:p>
            <a:pPr marL="0" indent="0">
              <a:buNone/>
            </a:pPr>
            <a:r>
              <a:rPr lang="en-US" sz="5400" b="1" dirty="0">
                <a:solidFill>
                  <a:srgbClr val="000080"/>
                </a:solidFill>
                <a:latin typeface="Malgun Gothic" pitchFamily="34" charset="0"/>
                <a:ea typeface="Malgun Gothic" pitchFamily="34" charset="-122"/>
                <a:cs typeface="Malgun Gothic" pitchFamily="34" charset="-120"/>
              </a:rPr>
              <a:t>NGS </a:t>
            </a:r>
            <a:r>
              <a:rPr lang="ko-KR" altLang="en-US" sz="5400" b="1" dirty="0">
                <a:solidFill>
                  <a:srgbClr val="000080"/>
                </a:solidFill>
                <a:latin typeface="Malgun Gothic" pitchFamily="34" charset="0"/>
                <a:ea typeface="Malgun Gothic" pitchFamily="34" charset="-122"/>
                <a:cs typeface="Malgun Gothic" pitchFamily="34" charset="-120"/>
              </a:rPr>
              <a:t>기반 </a:t>
            </a:r>
            <a:r>
              <a:rPr lang="ko-KR" altLang="en-US" sz="5400" b="1" dirty="0" err="1">
                <a:solidFill>
                  <a:srgbClr val="000080"/>
                </a:solidFill>
                <a:latin typeface="Malgun Gothic" pitchFamily="34" charset="0"/>
                <a:ea typeface="Malgun Gothic" pitchFamily="34" charset="-122"/>
                <a:cs typeface="Malgun Gothic" pitchFamily="34" charset="-120"/>
              </a:rPr>
              <a:t>외래성</a:t>
            </a:r>
            <a:r>
              <a:rPr lang="ko-KR" altLang="en-US" sz="5400" b="1" dirty="0">
                <a:solidFill>
                  <a:srgbClr val="000080"/>
                </a:solidFill>
                <a:latin typeface="Malgun Gothic" pitchFamily="34" charset="0"/>
                <a:ea typeface="Malgun Gothic" pitchFamily="34" charset="-122"/>
                <a:cs typeface="Malgun Gothic" pitchFamily="34" charset="-120"/>
              </a:rPr>
              <a:t> 바이러스 검출</a:t>
            </a:r>
            <a:endParaRPr lang="en-US" sz="5400" dirty="0"/>
          </a:p>
        </p:txBody>
      </p:sp>
      <p:sp>
        <p:nvSpPr>
          <p:cNvPr id="6" name="Text 3"/>
          <p:cNvSpPr txBox="1"/>
          <p:nvPr/>
        </p:nvSpPr>
        <p:spPr>
          <a:xfrm>
            <a:off x="822960" y="3794760"/>
            <a:ext cx="10515600" cy="457200"/>
          </a:xfrm>
          <a:prstGeom prst="rect">
            <a:avLst/>
          </a:prstGeom>
          <a:noFill/>
          <a:ln/>
        </p:spPr>
        <p:txBody>
          <a:bodyPr wrap="square" lIns="0" tIns="0" rIns="0" bIns="0" rtlCol="0" anchor="t"/>
          <a:lstStyle/>
          <a:p>
            <a:pPr marL="0" indent="0">
              <a:buNone/>
            </a:pPr>
            <a:r>
              <a:rPr lang="ko-KR" altLang="en-US" sz="1600" dirty="0" err="1">
                <a:solidFill>
                  <a:srgbClr val="595959"/>
                </a:solidFill>
                <a:latin typeface="Malgun Gothic" pitchFamily="34" charset="0"/>
                <a:ea typeface="Malgun Gothic" pitchFamily="34" charset="-122"/>
                <a:cs typeface="Malgun Gothic" pitchFamily="34" charset="-120"/>
              </a:rPr>
              <a:t>오송</a:t>
            </a:r>
            <a:r>
              <a:rPr lang="ko-KR" altLang="en-US" sz="1600" dirty="0">
                <a:solidFill>
                  <a:srgbClr val="595959"/>
                </a:solidFill>
                <a:latin typeface="Malgun Gothic" pitchFamily="34" charset="0"/>
                <a:ea typeface="Malgun Gothic" pitchFamily="34" charset="-122"/>
                <a:cs typeface="Malgun Gothic" pitchFamily="34" charset="-120"/>
              </a:rPr>
              <a:t> 신약개발지원센터</a:t>
            </a:r>
            <a:endParaRPr lang="en-US" altLang="ko-KR" sz="1600" dirty="0">
              <a:solidFill>
                <a:srgbClr val="595959"/>
              </a:solidFill>
              <a:latin typeface="Malgun Gothic" pitchFamily="34" charset="0"/>
              <a:ea typeface="Malgun Gothic" pitchFamily="34" charset="-122"/>
              <a:cs typeface="Malgun Gothic" pitchFamily="34" charset="-120"/>
            </a:endParaRPr>
          </a:p>
          <a:p>
            <a:pPr marL="0" indent="0">
              <a:buNone/>
            </a:pPr>
            <a:endParaRPr lang="en-US" sz="1600" dirty="0">
              <a:solidFill>
                <a:srgbClr val="595959"/>
              </a:solidFill>
              <a:latin typeface="Malgun Gothic" pitchFamily="34" charset="0"/>
              <a:ea typeface="Malgun Gothic" pitchFamily="34" charset="-122"/>
            </a:endParaRPr>
          </a:p>
          <a:p>
            <a:pPr marL="0" indent="0">
              <a:buNone/>
            </a:pPr>
            <a:r>
              <a:rPr lang="ko-KR" altLang="en-US" sz="1600" dirty="0" err="1">
                <a:solidFill>
                  <a:srgbClr val="595959"/>
                </a:solidFill>
                <a:latin typeface="Malgun Gothic" pitchFamily="34" charset="0"/>
                <a:ea typeface="Malgun Gothic" pitchFamily="34" charset="-122"/>
              </a:rPr>
              <a:t>타이탄바이오</a:t>
            </a:r>
            <a:r>
              <a:rPr lang="ko-KR" altLang="en-US" sz="1600" dirty="0">
                <a:solidFill>
                  <a:srgbClr val="595959"/>
                </a:solidFill>
                <a:latin typeface="Malgun Gothic" pitchFamily="34" charset="0"/>
                <a:ea typeface="Malgun Gothic" pitchFamily="34" charset="-122"/>
              </a:rPr>
              <a:t> 이윤범</a:t>
            </a:r>
            <a:endParaRPr lang="en-US" sz="1600" dirty="0"/>
          </a:p>
        </p:txBody>
      </p:sp>
      <p:sp>
        <p:nvSpPr>
          <p:cNvPr id="7" name="Text 4"/>
          <p:cNvSpPr txBox="1"/>
          <p:nvPr/>
        </p:nvSpPr>
        <p:spPr>
          <a:xfrm>
            <a:off x="822960" y="5669280"/>
            <a:ext cx="3657600" cy="365760"/>
          </a:xfrm>
          <a:prstGeom prst="rect">
            <a:avLst/>
          </a:prstGeom>
          <a:noFill/>
          <a:ln/>
        </p:spPr>
        <p:txBody>
          <a:bodyPr wrap="square" lIns="0" tIns="0" rIns="0" bIns="0" rtlCol="0" anchor="t"/>
          <a:lstStyle/>
          <a:p>
            <a:pPr marL="0" indent="0">
              <a:buNone/>
            </a:pPr>
            <a:r>
              <a:rPr lang="en-US" sz="1400" dirty="0">
                <a:solidFill>
                  <a:srgbClr val="7F7F7F"/>
                </a:solidFill>
                <a:latin typeface="Arial" pitchFamily="34" charset="0"/>
                <a:ea typeface="Arial" pitchFamily="34" charset="-122"/>
                <a:cs typeface="Arial" pitchFamily="34" charset="-120"/>
              </a:rPr>
              <a:t>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5" name="Text 2"/>
          <p:cNvSpPr txBox="1"/>
          <p:nvPr/>
        </p:nvSpPr>
        <p:spPr>
          <a:xfrm>
            <a:off x="822960" y="2148840"/>
            <a:ext cx="2743200" cy="1188720"/>
          </a:xfrm>
          <a:prstGeom prst="rect">
            <a:avLst/>
          </a:prstGeom>
          <a:noFill/>
          <a:ln/>
        </p:spPr>
        <p:txBody>
          <a:bodyPr wrap="square" lIns="0" tIns="0" rIns="0" bIns="0" rtlCol="0" anchor="t"/>
          <a:lstStyle/>
          <a:p>
            <a:pPr marL="0" indent="0">
              <a:buNone/>
            </a:pPr>
            <a:r>
              <a:rPr lang="en-US" sz="8000" b="1" dirty="0">
                <a:solidFill>
                  <a:srgbClr val="000080"/>
                </a:solidFill>
                <a:latin typeface="Arial" pitchFamily="34" charset="0"/>
                <a:ea typeface="Arial" pitchFamily="34" charset="-122"/>
                <a:cs typeface="Arial" pitchFamily="34" charset="-120"/>
              </a:rPr>
              <a:t>01</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인트로</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marL="0" indent="0">
              <a:buNone/>
            </a:pPr>
            <a:r>
              <a:rPr lang="en-US" sz="1800" dirty="0">
                <a:solidFill>
                  <a:srgbClr val="595959"/>
                </a:solidFill>
                <a:latin typeface="Malgun Gothic" pitchFamily="34" charset="0"/>
                <a:ea typeface="Malgun Gothic" pitchFamily="34" charset="-122"/>
                <a:cs typeface="Malgun Gothic" pitchFamily="34" charset="-120"/>
              </a:rPr>
              <a:t>오염 사건   ·   규제 전환   ·   정의</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marL="0" indent="0">
              <a:buNone/>
            </a:pPr>
            <a:r>
              <a:rPr lang="en-US" sz="1200" dirty="0">
                <a:solidFill>
                  <a:srgbClr val="7F7F7F"/>
                </a:solidFill>
                <a:latin typeface="Malgun Gothic" pitchFamily="34" charset="0"/>
                <a:ea typeface="Malgun Gothic" pitchFamily="34" charset="-122"/>
                <a:cs typeface="Malgun Gothic" pitchFamily="34" charset="-120"/>
              </a:rPr>
              <a:t>7분</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Rotarix, 2010</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Victoria JG et al. J Virol 2010;84:6033 · FDA 발표 2010.03.22 / 05.14 (Medscape 보도) · CIDRAP 2010.05.06 · Dubin G et al. Hum Vaccin Immunother 2013;9:2398</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a:t>
            </a:r>
            <a:endParaRPr lang="en-US" sz="900" dirty="0"/>
          </a:p>
        </p:txBody>
      </p:sp>
      <p:sp>
        <p:nvSpPr>
          <p:cNvPr id="8" name="Text 5"/>
          <p:cNvSpPr txBox="1"/>
          <p:nvPr/>
        </p:nvSpPr>
        <p:spPr>
          <a:xfrm>
            <a:off x="548640" y="1600200"/>
            <a:ext cx="5852160" cy="1645920"/>
          </a:xfrm>
          <a:prstGeom prst="rect">
            <a:avLst/>
          </a:prstGeom>
          <a:noFill/>
          <a:ln/>
        </p:spPr>
        <p:txBody>
          <a:bodyPr wrap="square" lIns="0" tIns="0" rIns="0" bIns="0" rtlCol="0" anchor="t"/>
          <a:lstStyle/>
          <a:p>
            <a:pPr marL="0" indent="0">
              <a:buNone/>
            </a:pPr>
            <a:r>
              <a:rPr lang="en-US" sz="3200" b="1" dirty="0" err="1">
                <a:solidFill>
                  <a:srgbClr val="000080"/>
                </a:solidFill>
                <a:latin typeface="Malgun Gothic" pitchFamily="34" charset="0"/>
                <a:ea typeface="Malgun Gothic" pitchFamily="34" charset="-122"/>
                <a:cs typeface="Malgun Gothic" pitchFamily="34" charset="-120"/>
              </a:rPr>
              <a:t>출하시험</a:t>
            </a:r>
            <a:r>
              <a:rPr lang="en-US" sz="3200" b="1" dirty="0">
                <a:solidFill>
                  <a:srgbClr val="000080"/>
                </a:solidFill>
                <a:latin typeface="Malgun Gothic" pitchFamily="34" charset="0"/>
                <a:ea typeface="Malgun Gothic" pitchFamily="34" charset="-122"/>
                <a:cs typeface="Malgun Gothic" pitchFamily="34" charset="-120"/>
              </a:rPr>
              <a:t> </a:t>
            </a:r>
            <a:r>
              <a:rPr lang="en-US" sz="3200" b="1" dirty="0" err="1">
                <a:solidFill>
                  <a:srgbClr val="000080"/>
                </a:solidFill>
                <a:latin typeface="Malgun Gothic" pitchFamily="34" charset="0"/>
                <a:ea typeface="Malgun Gothic" pitchFamily="34" charset="-122"/>
                <a:cs typeface="Malgun Gothic" pitchFamily="34" charset="-120"/>
              </a:rPr>
              <a:t>통과</a:t>
            </a:r>
            <a:r>
              <a:rPr lang="en-US" sz="3200" dirty="0"/>
              <a:t> </a:t>
            </a:r>
            <a:r>
              <a:rPr lang="ko-KR" altLang="en-US" sz="3200" dirty="0"/>
              <a:t>후 </a:t>
            </a:r>
            <a:r>
              <a:rPr lang="en-US" sz="3200" b="1" dirty="0">
                <a:solidFill>
                  <a:srgbClr val="000080"/>
                </a:solidFill>
                <a:highlight>
                  <a:srgbClr val="FFA500"/>
                </a:highlight>
                <a:latin typeface="Malgun Gothic" pitchFamily="34" charset="0"/>
                <a:ea typeface="Malgun Gothic" pitchFamily="34" charset="-122"/>
                <a:cs typeface="Malgun Gothic" pitchFamily="34" charset="-120"/>
              </a:rPr>
              <a:t>PCV1 </a:t>
            </a:r>
            <a:r>
              <a:rPr lang="ko-KR" altLang="en-US" sz="3200" b="1" dirty="0">
                <a:solidFill>
                  <a:srgbClr val="000080"/>
                </a:solidFill>
                <a:highlight>
                  <a:srgbClr val="FFA500"/>
                </a:highlight>
                <a:latin typeface="Malgun Gothic" pitchFamily="34" charset="0"/>
                <a:ea typeface="Malgun Gothic" pitchFamily="34" charset="-122"/>
                <a:cs typeface="Malgun Gothic" pitchFamily="34" charset="-120"/>
              </a:rPr>
              <a:t>검출</a:t>
            </a:r>
            <a:endParaRPr lang="en-US" sz="3200" dirty="0"/>
          </a:p>
        </p:txBody>
      </p:sp>
      <p:sp>
        <p:nvSpPr>
          <p:cNvPr id="9" name="Text 6"/>
          <p:cNvSpPr txBox="1"/>
          <p:nvPr/>
        </p:nvSpPr>
        <p:spPr>
          <a:xfrm>
            <a:off x="548640" y="365760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0" name="Text 7"/>
          <p:cNvSpPr txBox="1"/>
          <p:nvPr/>
        </p:nvSpPr>
        <p:spPr>
          <a:xfrm>
            <a:off x="1051560" y="3621024"/>
            <a:ext cx="49834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메타게놈 재검</a:t>
            </a:r>
            <a:endParaRPr lang="en-US" sz="1800" dirty="0"/>
          </a:p>
        </p:txBody>
      </p:sp>
      <p:sp>
        <p:nvSpPr>
          <p:cNvPr id="11" name="Text 8"/>
          <p:cNvSpPr txBox="1"/>
          <p:nvPr/>
        </p:nvSpPr>
        <p:spPr>
          <a:xfrm>
            <a:off x="1051560" y="4005072"/>
            <a:ext cx="49834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허가 생백신 8종 · 2010</a:t>
            </a:r>
            <a:endParaRPr lang="en-US" sz="1150" dirty="0"/>
          </a:p>
        </p:txBody>
      </p:sp>
      <p:sp>
        <p:nvSpPr>
          <p:cNvPr id="12" name="Shape 9"/>
          <p:cNvSpPr/>
          <p:nvPr/>
        </p:nvSpPr>
        <p:spPr>
          <a:xfrm>
            <a:off x="548640" y="4398264"/>
            <a:ext cx="5486400" cy="0"/>
          </a:xfrm>
          <a:prstGeom prst="line">
            <a:avLst/>
          </a:prstGeom>
          <a:noFill/>
          <a:ln w="9525">
            <a:solidFill>
              <a:srgbClr val="D9D9D9"/>
            </a:solidFill>
            <a:prstDash val="solid"/>
          </a:ln>
        </p:spPr>
        <p:txBody>
          <a:bodyPr/>
          <a:lstStyle/>
          <a:p>
            <a:endParaRPr lang="ko-KR" altLang="en-US"/>
          </a:p>
        </p:txBody>
      </p:sp>
      <p:sp>
        <p:nvSpPr>
          <p:cNvPr id="13" name="Text 10"/>
          <p:cNvSpPr txBox="1"/>
          <p:nvPr/>
        </p:nvSpPr>
        <p:spPr>
          <a:xfrm>
            <a:off x="548640" y="45262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4" name="Text 11"/>
          <p:cNvSpPr txBox="1"/>
          <p:nvPr/>
        </p:nvSpPr>
        <p:spPr>
          <a:xfrm>
            <a:off x="1051560" y="4489704"/>
            <a:ext cx="49834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비조사 돼지 trypsin</a:t>
            </a:r>
            <a:endParaRPr lang="en-US" sz="1800" dirty="0"/>
          </a:p>
        </p:txBody>
      </p:sp>
      <p:sp>
        <p:nvSpPr>
          <p:cNvPr id="15" name="Text 12"/>
          <p:cNvSpPr txBox="1"/>
          <p:nvPr/>
        </p:nvSpPr>
        <p:spPr>
          <a:xfrm>
            <a:off x="1051560" y="4873752"/>
            <a:ext cx="49834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1983년 MCB 제작 단계 추정</a:t>
            </a:r>
            <a:endParaRPr lang="en-US" sz="1150" dirty="0"/>
          </a:p>
        </p:txBody>
      </p:sp>
      <p:sp>
        <p:nvSpPr>
          <p:cNvPr id="16" name="Shape 13"/>
          <p:cNvSpPr/>
          <p:nvPr/>
        </p:nvSpPr>
        <p:spPr>
          <a:xfrm>
            <a:off x="548640" y="5266944"/>
            <a:ext cx="5486400" cy="0"/>
          </a:xfrm>
          <a:prstGeom prst="line">
            <a:avLst/>
          </a:prstGeom>
          <a:noFill/>
          <a:ln w="9525">
            <a:solidFill>
              <a:srgbClr val="D9D9D9"/>
            </a:solidFill>
            <a:prstDash val="solid"/>
          </a:ln>
        </p:spPr>
        <p:txBody>
          <a:bodyPr/>
          <a:lstStyle/>
          <a:p>
            <a:endParaRPr lang="ko-KR" altLang="en-US"/>
          </a:p>
        </p:txBody>
      </p:sp>
      <p:sp>
        <p:nvSpPr>
          <p:cNvPr id="17" name="Text 14"/>
          <p:cNvSpPr txBox="1"/>
          <p:nvPr/>
        </p:nvSpPr>
        <p:spPr>
          <a:xfrm>
            <a:off x="548640" y="539496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18" name="Text 15"/>
          <p:cNvSpPr txBox="1"/>
          <p:nvPr/>
        </p:nvSpPr>
        <p:spPr>
          <a:xfrm>
            <a:off x="1051560" y="5358384"/>
            <a:ext cx="49834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인체 감염 근거 없음</a:t>
            </a:r>
            <a:endParaRPr lang="en-US" sz="1800" dirty="0"/>
          </a:p>
        </p:txBody>
      </p:sp>
      <p:sp>
        <p:nvSpPr>
          <p:cNvPr id="19" name="Text 16"/>
          <p:cNvSpPr txBox="1"/>
          <p:nvPr/>
        </p:nvSpPr>
        <p:spPr>
          <a:xfrm>
            <a:off x="1051560" y="5742432"/>
            <a:ext cx="49834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위해성 평가 후 사용 재개</a:t>
            </a:r>
            <a:endParaRPr lang="en-US" sz="1150" dirty="0"/>
          </a:p>
        </p:txBody>
      </p:sp>
      <p:sp>
        <p:nvSpPr>
          <p:cNvPr id="20" name="Shape 17"/>
          <p:cNvSpPr/>
          <p:nvPr/>
        </p:nvSpPr>
        <p:spPr>
          <a:xfrm>
            <a:off x="7406640" y="1783080"/>
            <a:ext cx="0" cy="4023360"/>
          </a:xfrm>
          <a:prstGeom prst="line">
            <a:avLst/>
          </a:prstGeom>
          <a:noFill/>
          <a:ln w="25400">
            <a:solidFill>
              <a:srgbClr val="000080"/>
            </a:solidFill>
            <a:prstDash val="solid"/>
          </a:ln>
        </p:spPr>
        <p:txBody>
          <a:bodyPr/>
          <a:lstStyle/>
          <a:p>
            <a:endParaRPr lang="ko-KR" altLang="en-US"/>
          </a:p>
        </p:txBody>
      </p:sp>
      <p:sp>
        <p:nvSpPr>
          <p:cNvPr id="21" name="Shape 18"/>
          <p:cNvSpPr/>
          <p:nvPr/>
        </p:nvSpPr>
        <p:spPr>
          <a:xfrm>
            <a:off x="7287768" y="1755648"/>
            <a:ext cx="237744" cy="237744"/>
          </a:xfrm>
          <a:prstGeom prst="ellipse">
            <a:avLst/>
          </a:prstGeom>
          <a:solidFill>
            <a:srgbClr val="FFA500"/>
          </a:solidFill>
          <a:ln w="12700">
            <a:solidFill>
              <a:srgbClr val="FFA500"/>
            </a:solidFill>
            <a:prstDash val="solid"/>
          </a:ln>
        </p:spPr>
        <p:txBody>
          <a:bodyPr/>
          <a:lstStyle/>
          <a:p>
            <a:endParaRPr lang="ko-KR" altLang="en-US"/>
          </a:p>
        </p:txBody>
      </p:sp>
      <p:sp>
        <p:nvSpPr>
          <p:cNvPr id="22" name="Text 19"/>
          <p:cNvSpPr txBox="1"/>
          <p:nvPr/>
        </p:nvSpPr>
        <p:spPr>
          <a:xfrm>
            <a:off x="7726680" y="1673352"/>
            <a:ext cx="3840480" cy="320040"/>
          </a:xfrm>
          <a:prstGeom prst="rect">
            <a:avLst/>
          </a:prstGeom>
          <a:noFill/>
          <a:ln/>
        </p:spPr>
        <p:txBody>
          <a:bodyPr wrap="square" lIns="0" tIns="0" rIns="0" bIns="0" rtlCol="0" anchor="t"/>
          <a:lstStyle/>
          <a:p>
            <a:pPr marL="0" indent="0">
              <a:buNone/>
            </a:pPr>
            <a:r>
              <a:rPr lang="en-US" sz="1500" b="1" dirty="0">
                <a:solidFill>
                  <a:srgbClr val="000080"/>
                </a:solidFill>
                <a:latin typeface="Arial" pitchFamily="34" charset="0"/>
                <a:ea typeface="Arial" pitchFamily="34" charset="-122"/>
                <a:cs typeface="Arial" pitchFamily="34" charset="-120"/>
              </a:rPr>
              <a:t>2010.03.22</a:t>
            </a:r>
            <a:endParaRPr lang="en-US" sz="1500" dirty="0"/>
          </a:p>
        </p:txBody>
      </p:sp>
      <p:sp>
        <p:nvSpPr>
          <p:cNvPr id="23" name="Text 20"/>
          <p:cNvSpPr txBox="1"/>
          <p:nvPr/>
        </p:nvSpPr>
        <p:spPr>
          <a:xfrm>
            <a:off x="7726680" y="1984248"/>
            <a:ext cx="4023360" cy="36576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FDA, Rotarix 사용 일시 중단 권고</a:t>
            </a:r>
            <a:endParaRPr lang="en-US" sz="1200" dirty="0"/>
          </a:p>
        </p:txBody>
      </p:sp>
      <p:sp>
        <p:nvSpPr>
          <p:cNvPr id="24" name="Shape 21"/>
          <p:cNvSpPr/>
          <p:nvPr/>
        </p:nvSpPr>
        <p:spPr>
          <a:xfrm>
            <a:off x="7315200" y="30632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25" name="Text 22"/>
          <p:cNvSpPr txBox="1"/>
          <p:nvPr/>
        </p:nvSpPr>
        <p:spPr>
          <a:xfrm>
            <a:off x="7726680" y="2953512"/>
            <a:ext cx="3840480" cy="320040"/>
          </a:xfrm>
          <a:prstGeom prst="rect">
            <a:avLst/>
          </a:prstGeom>
          <a:noFill/>
          <a:ln/>
        </p:spPr>
        <p:txBody>
          <a:bodyPr wrap="square" lIns="0" tIns="0" rIns="0" bIns="0" rtlCol="0" anchor="t"/>
          <a:lstStyle/>
          <a:p>
            <a:pPr marL="0" indent="0">
              <a:buNone/>
            </a:pPr>
            <a:r>
              <a:rPr lang="en-US" sz="1500" b="1" dirty="0">
                <a:solidFill>
                  <a:srgbClr val="000080"/>
                </a:solidFill>
                <a:latin typeface="Arial" pitchFamily="34" charset="0"/>
                <a:ea typeface="Arial" pitchFamily="34" charset="-122"/>
                <a:cs typeface="Arial" pitchFamily="34" charset="-120"/>
              </a:rPr>
              <a:t>05.06</a:t>
            </a:r>
            <a:endParaRPr lang="en-US" sz="1500" dirty="0"/>
          </a:p>
        </p:txBody>
      </p:sp>
      <p:sp>
        <p:nvSpPr>
          <p:cNvPr id="26" name="Text 23"/>
          <p:cNvSpPr txBox="1"/>
          <p:nvPr/>
        </p:nvSpPr>
        <p:spPr>
          <a:xfrm>
            <a:off x="7726680" y="3264408"/>
            <a:ext cx="4023360" cy="36576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RotaTeq에서도 PCV1·PCV2 DNA 단편</a:t>
            </a:r>
            <a:endParaRPr lang="en-US" sz="1200" dirty="0"/>
          </a:p>
        </p:txBody>
      </p:sp>
      <p:sp>
        <p:nvSpPr>
          <p:cNvPr id="27" name="Shape 24"/>
          <p:cNvSpPr/>
          <p:nvPr/>
        </p:nvSpPr>
        <p:spPr>
          <a:xfrm>
            <a:off x="7315200" y="434340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28" name="Text 25"/>
          <p:cNvSpPr txBox="1"/>
          <p:nvPr/>
        </p:nvSpPr>
        <p:spPr>
          <a:xfrm>
            <a:off x="7726680" y="4233672"/>
            <a:ext cx="3840480" cy="320040"/>
          </a:xfrm>
          <a:prstGeom prst="rect">
            <a:avLst/>
          </a:prstGeom>
          <a:noFill/>
          <a:ln/>
        </p:spPr>
        <p:txBody>
          <a:bodyPr wrap="square" lIns="0" tIns="0" rIns="0" bIns="0" rtlCol="0" anchor="t"/>
          <a:lstStyle/>
          <a:p>
            <a:pPr marL="0" indent="0">
              <a:buNone/>
            </a:pPr>
            <a:r>
              <a:rPr lang="en-US" sz="1500" b="1" dirty="0">
                <a:solidFill>
                  <a:srgbClr val="000080"/>
                </a:solidFill>
                <a:latin typeface="Arial" pitchFamily="34" charset="0"/>
                <a:ea typeface="Arial" pitchFamily="34" charset="-122"/>
                <a:cs typeface="Arial" pitchFamily="34" charset="-120"/>
              </a:rPr>
              <a:t>05.07</a:t>
            </a:r>
            <a:endParaRPr lang="en-US" sz="1500" dirty="0"/>
          </a:p>
        </p:txBody>
      </p:sp>
      <p:sp>
        <p:nvSpPr>
          <p:cNvPr id="29" name="Text 26"/>
          <p:cNvSpPr txBox="1"/>
          <p:nvPr/>
        </p:nvSpPr>
        <p:spPr>
          <a:xfrm>
            <a:off x="7726680" y="4544568"/>
            <a:ext cx="4023360" cy="36576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FDA 자문위원회(VRBPAC) 심의</a:t>
            </a:r>
            <a:endParaRPr lang="en-US" sz="1200" dirty="0"/>
          </a:p>
        </p:txBody>
      </p:sp>
      <p:sp>
        <p:nvSpPr>
          <p:cNvPr id="30" name="Shape 27"/>
          <p:cNvSpPr/>
          <p:nvPr/>
        </p:nvSpPr>
        <p:spPr>
          <a:xfrm>
            <a:off x="7315200" y="55778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31" name="Text 28"/>
          <p:cNvSpPr txBox="1"/>
          <p:nvPr/>
        </p:nvSpPr>
        <p:spPr>
          <a:xfrm>
            <a:off x="7726680" y="5468112"/>
            <a:ext cx="3840480" cy="320040"/>
          </a:xfrm>
          <a:prstGeom prst="rect">
            <a:avLst/>
          </a:prstGeom>
          <a:noFill/>
          <a:ln/>
        </p:spPr>
        <p:txBody>
          <a:bodyPr wrap="square" lIns="0" tIns="0" rIns="0" bIns="0" rtlCol="0" anchor="t"/>
          <a:lstStyle/>
          <a:p>
            <a:pPr marL="0" indent="0">
              <a:buNone/>
            </a:pPr>
            <a:r>
              <a:rPr lang="en-US" sz="1500" b="1" dirty="0">
                <a:solidFill>
                  <a:srgbClr val="000080"/>
                </a:solidFill>
                <a:latin typeface="Arial" pitchFamily="34" charset="0"/>
                <a:ea typeface="Arial" pitchFamily="34" charset="-122"/>
                <a:cs typeface="Arial" pitchFamily="34" charset="-120"/>
              </a:rPr>
              <a:t>05.14</a:t>
            </a:r>
            <a:endParaRPr lang="en-US" sz="1500" dirty="0"/>
          </a:p>
        </p:txBody>
      </p:sp>
      <p:sp>
        <p:nvSpPr>
          <p:cNvPr id="32" name="Text 29"/>
          <p:cNvSpPr txBox="1"/>
          <p:nvPr/>
        </p:nvSpPr>
        <p:spPr>
          <a:xfrm>
            <a:off x="7726680" y="5779008"/>
            <a:ext cx="4023360" cy="36576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사용 재개 권고</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ICH Q5A(R2)</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Step 4, 2023-11-01, §3.2.5.2 · FDA Federal Register 89 FR 1925 (2024-01-11) · EMA/CHMP/ICH/804363/2022 (2024-06-14) · MHLW 2024-02-14</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5</a:t>
            </a:r>
            <a:endParaRPr lang="en-US" sz="900" dirty="0"/>
          </a:p>
        </p:txBody>
      </p:sp>
      <p:sp>
        <p:nvSpPr>
          <p:cNvPr id="8" name="Text 5"/>
          <p:cNvSpPr txBox="1"/>
          <p:nvPr/>
        </p:nvSpPr>
        <p:spPr>
          <a:xfrm>
            <a:off x="502920" y="1325880"/>
            <a:ext cx="914400" cy="1005840"/>
          </a:xfrm>
          <a:prstGeom prst="rect">
            <a:avLst/>
          </a:prstGeom>
          <a:noFill/>
          <a:ln/>
        </p:spPr>
        <p:txBody>
          <a:bodyPr wrap="square" lIns="0" tIns="0" rIns="0" bIns="0" rtlCol="0" anchor="t"/>
          <a:lstStyle/>
          <a:p>
            <a:pPr marL="0" indent="0">
              <a:buNone/>
            </a:pPr>
            <a:r>
              <a:rPr lang="en-US" sz="9600" b="1" dirty="0">
                <a:solidFill>
                  <a:srgbClr val="FFA500"/>
                </a:solidFill>
                <a:latin typeface="Arial" pitchFamily="34" charset="0"/>
                <a:ea typeface="Arial" pitchFamily="34" charset="-122"/>
                <a:cs typeface="Arial" pitchFamily="34" charset="-120"/>
              </a:rPr>
              <a:t>“</a:t>
            </a:r>
            <a:endParaRPr lang="en-US" sz="9600" dirty="0"/>
          </a:p>
        </p:txBody>
      </p:sp>
      <p:sp>
        <p:nvSpPr>
          <p:cNvPr id="9" name="Text 6"/>
          <p:cNvSpPr txBox="1"/>
          <p:nvPr/>
        </p:nvSpPr>
        <p:spPr>
          <a:xfrm>
            <a:off x="1325880" y="1600200"/>
            <a:ext cx="10149840" cy="2103120"/>
          </a:xfrm>
          <a:prstGeom prst="rect">
            <a:avLst/>
          </a:prstGeom>
          <a:noFill/>
          <a:ln/>
        </p:spPr>
        <p:txBody>
          <a:bodyPr wrap="square" lIns="0" tIns="0" rIns="0" bIns="0" rtlCol="0" anchor="t"/>
          <a:lstStyle/>
          <a:p>
            <a:pPr marL="0" indent="0">
              <a:buNone/>
            </a:pPr>
            <a:r>
              <a:rPr lang="en-US" sz="2600" i="1" dirty="0">
                <a:solidFill>
                  <a:srgbClr val="000080"/>
                </a:solidFill>
                <a:latin typeface="Arial" pitchFamily="34" charset="0"/>
                <a:ea typeface="Arial" pitchFamily="34" charset="-122"/>
                <a:cs typeface="Arial" pitchFamily="34" charset="-120"/>
              </a:rPr>
              <a:t>Non-targeted NGS can be used to replace the in vivo assays and supplement or replace the in vitro cell culture assays, without a head-to-head comparison …</a:t>
            </a:r>
            <a:endParaRPr lang="en-US" sz="2600" dirty="0"/>
          </a:p>
        </p:txBody>
      </p:sp>
      <p:sp>
        <p:nvSpPr>
          <p:cNvPr id="10" name="Text 7"/>
          <p:cNvSpPr txBox="1"/>
          <p:nvPr/>
        </p:nvSpPr>
        <p:spPr>
          <a:xfrm>
            <a:off x="1325880" y="3703320"/>
            <a:ext cx="9144000" cy="32004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ICH Q5A(R2) · 3.2.5.2 Next generation sequencing</a:t>
            </a:r>
            <a:endParaRPr lang="en-US" sz="1200" dirty="0"/>
          </a:p>
        </p:txBody>
      </p:sp>
      <p:sp>
        <p:nvSpPr>
          <p:cNvPr id="11" name="Text 8"/>
          <p:cNvSpPr txBox="1"/>
          <p:nvPr/>
        </p:nvSpPr>
        <p:spPr>
          <a:xfrm>
            <a:off x="1417320" y="4526280"/>
            <a:ext cx="31089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Step 4</a:t>
            </a:r>
            <a:endParaRPr lang="en-US" sz="1150" dirty="0"/>
          </a:p>
        </p:txBody>
      </p:sp>
      <p:sp>
        <p:nvSpPr>
          <p:cNvPr id="12" name="Text 9"/>
          <p:cNvSpPr txBox="1"/>
          <p:nvPr/>
        </p:nvSpPr>
        <p:spPr>
          <a:xfrm>
            <a:off x="1417320" y="4873752"/>
            <a:ext cx="3108960" cy="685800"/>
          </a:xfrm>
          <a:prstGeom prst="rect">
            <a:avLst/>
          </a:prstGeom>
          <a:noFill/>
          <a:ln/>
        </p:spPr>
        <p:txBody>
          <a:bodyPr wrap="square" lIns="0" tIns="0" rIns="0" bIns="0" rtlCol="0" anchor="t"/>
          <a:lstStyle/>
          <a:p>
            <a:pPr marL="0" indent="0">
              <a:buNone/>
            </a:pPr>
            <a:r>
              <a:rPr lang="en-US" sz="2400" b="1" dirty="0">
                <a:solidFill>
                  <a:srgbClr val="000080"/>
                </a:solidFill>
                <a:latin typeface="Arial" pitchFamily="34" charset="0"/>
                <a:ea typeface="Arial" pitchFamily="34" charset="-122"/>
                <a:cs typeface="Arial" pitchFamily="34" charset="-120"/>
              </a:rPr>
              <a:t>2023. 11</a:t>
            </a:r>
            <a:endParaRPr lang="en-US" sz="2400" dirty="0"/>
          </a:p>
        </p:txBody>
      </p:sp>
      <p:sp>
        <p:nvSpPr>
          <p:cNvPr id="13" name="Shape 10"/>
          <p:cNvSpPr/>
          <p:nvPr/>
        </p:nvSpPr>
        <p:spPr>
          <a:xfrm>
            <a:off x="4617720" y="4526280"/>
            <a:ext cx="0" cy="1051560"/>
          </a:xfrm>
          <a:prstGeom prst="line">
            <a:avLst/>
          </a:prstGeom>
          <a:noFill/>
          <a:ln w="9525">
            <a:solidFill>
              <a:srgbClr val="D9D9D9"/>
            </a:solidFill>
            <a:prstDash val="solid"/>
          </a:ln>
        </p:spPr>
        <p:txBody>
          <a:bodyPr/>
          <a:lstStyle/>
          <a:p>
            <a:endParaRPr lang="ko-KR" altLang="en-US"/>
          </a:p>
        </p:txBody>
      </p:sp>
      <p:sp>
        <p:nvSpPr>
          <p:cNvPr id="14" name="Text 11"/>
          <p:cNvSpPr txBox="1"/>
          <p:nvPr/>
        </p:nvSpPr>
        <p:spPr>
          <a:xfrm>
            <a:off x="4800600" y="4526280"/>
            <a:ext cx="31089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미국 · EU · 일본 시행</a:t>
            </a:r>
            <a:endParaRPr lang="en-US" sz="1150" dirty="0"/>
          </a:p>
        </p:txBody>
      </p:sp>
      <p:sp>
        <p:nvSpPr>
          <p:cNvPr id="15" name="Text 12"/>
          <p:cNvSpPr txBox="1"/>
          <p:nvPr/>
        </p:nvSpPr>
        <p:spPr>
          <a:xfrm>
            <a:off x="4800600" y="4873752"/>
            <a:ext cx="3108960" cy="685800"/>
          </a:xfrm>
          <a:prstGeom prst="rect">
            <a:avLst/>
          </a:prstGeom>
          <a:noFill/>
          <a:ln/>
        </p:spPr>
        <p:txBody>
          <a:bodyPr wrap="square" lIns="0" tIns="0" rIns="0" bIns="0" rtlCol="0" anchor="t"/>
          <a:lstStyle/>
          <a:p>
            <a:pPr marL="0" indent="0">
              <a:buNone/>
            </a:pPr>
            <a:r>
              <a:rPr lang="en-US" sz="2400" b="1" dirty="0">
                <a:solidFill>
                  <a:srgbClr val="000080"/>
                </a:solidFill>
                <a:latin typeface="Arial" pitchFamily="34" charset="0"/>
                <a:ea typeface="Arial" pitchFamily="34" charset="-122"/>
                <a:cs typeface="Arial" pitchFamily="34" charset="-120"/>
              </a:rPr>
              <a:t>2024</a:t>
            </a:r>
            <a:endParaRPr lang="en-US" sz="2400" dirty="0"/>
          </a:p>
        </p:txBody>
      </p:sp>
      <p:sp>
        <p:nvSpPr>
          <p:cNvPr id="16" name="Shape 13"/>
          <p:cNvSpPr/>
          <p:nvPr/>
        </p:nvSpPr>
        <p:spPr>
          <a:xfrm>
            <a:off x="8001000" y="4526280"/>
            <a:ext cx="0" cy="1051560"/>
          </a:xfrm>
          <a:prstGeom prst="line">
            <a:avLst/>
          </a:prstGeom>
          <a:noFill/>
          <a:ln w="9525">
            <a:solidFill>
              <a:srgbClr val="D9D9D9"/>
            </a:solidFill>
            <a:prstDash val="solid"/>
          </a:ln>
        </p:spPr>
        <p:txBody>
          <a:bodyPr/>
          <a:lstStyle/>
          <a:p>
            <a:endParaRPr lang="ko-KR" altLang="en-US"/>
          </a:p>
        </p:txBody>
      </p:sp>
      <p:sp>
        <p:nvSpPr>
          <p:cNvPr id="17" name="Text 14"/>
          <p:cNvSpPr txBox="1"/>
          <p:nvPr/>
        </p:nvSpPr>
        <p:spPr>
          <a:xfrm>
            <a:off x="8183880" y="4526280"/>
            <a:ext cx="31089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기존 시험과의 비교</a:t>
            </a:r>
            <a:endParaRPr lang="en-US" sz="1150" dirty="0"/>
          </a:p>
        </p:txBody>
      </p:sp>
      <p:sp>
        <p:nvSpPr>
          <p:cNvPr id="18" name="Text 15"/>
          <p:cNvSpPr txBox="1"/>
          <p:nvPr/>
        </p:nvSpPr>
        <p:spPr>
          <a:xfrm>
            <a:off x="8183880" y="4873752"/>
            <a:ext cx="329184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Head-to-head 비교 불요</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이미 현행 규제</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WHO TRS 978 Annex 3 (2013) · IABS NGS 컨퍼런스 보고 Biologicals 2018;55:1 / 2020;67:94 / 2023;83:101696 / 2025;92:101859 · 식약처 NGS 부정시험법 정보집 (2021) · WHO/BS/2024.2471 · EDQM 2025</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6</a:t>
            </a:r>
            <a:endParaRPr lang="en-US" sz="900" dirty="0"/>
          </a:p>
        </p:txBody>
      </p:sp>
      <p:sp>
        <p:nvSpPr>
          <p:cNvPr id="8" name="Shape 5"/>
          <p:cNvSpPr/>
          <p:nvPr/>
        </p:nvSpPr>
        <p:spPr>
          <a:xfrm>
            <a:off x="822960" y="3611880"/>
            <a:ext cx="10698480" cy="0"/>
          </a:xfrm>
          <a:prstGeom prst="line">
            <a:avLst/>
          </a:prstGeom>
          <a:noFill/>
          <a:ln w="25400">
            <a:solidFill>
              <a:srgbClr val="000080"/>
            </a:solidFill>
            <a:prstDash val="solid"/>
          </a:ln>
        </p:spPr>
        <p:txBody>
          <a:bodyPr/>
          <a:lstStyle/>
          <a:p>
            <a:endParaRPr lang="ko-KR" altLang="en-US"/>
          </a:p>
        </p:txBody>
      </p:sp>
      <p:sp>
        <p:nvSpPr>
          <p:cNvPr id="9" name="Shape 6"/>
          <p:cNvSpPr/>
          <p:nvPr/>
        </p:nvSpPr>
        <p:spPr>
          <a:xfrm>
            <a:off x="1097280"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0" name="Text 7"/>
          <p:cNvSpPr txBox="1"/>
          <p:nvPr/>
        </p:nvSpPr>
        <p:spPr>
          <a:xfrm>
            <a:off x="594360" y="2377440"/>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2010</a:t>
            </a:r>
            <a:endParaRPr lang="en-US" sz="1400" dirty="0"/>
          </a:p>
        </p:txBody>
      </p:sp>
      <p:sp>
        <p:nvSpPr>
          <p:cNvPr id="11" name="Text 8"/>
          <p:cNvSpPr txBox="1"/>
          <p:nvPr/>
        </p:nvSpPr>
        <p:spPr>
          <a:xfrm>
            <a:off x="594360" y="2697480"/>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Rotarix PCV1</a:t>
            </a:r>
            <a:endParaRPr lang="en-US" sz="1100" dirty="0"/>
          </a:p>
        </p:txBody>
      </p:sp>
      <p:sp>
        <p:nvSpPr>
          <p:cNvPr id="12" name="Shape 9"/>
          <p:cNvSpPr/>
          <p:nvPr/>
        </p:nvSpPr>
        <p:spPr>
          <a:xfrm>
            <a:off x="2937334"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3" name="Text 10"/>
          <p:cNvSpPr txBox="1"/>
          <p:nvPr/>
        </p:nvSpPr>
        <p:spPr>
          <a:xfrm>
            <a:off x="2434414" y="3867912"/>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2013</a:t>
            </a:r>
            <a:endParaRPr lang="en-US" sz="1400" dirty="0"/>
          </a:p>
        </p:txBody>
      </p:sp>
      <p:sp>
        <p:nvSpPr>
          <p:cNvPr id="14" name="Text 11"/>
          <p:cNvSpPr txBox="1"/>
          <p:nvPr/>
        </p:nvSpPr>
        <p:spPr>
          <a:xfrm>
            <a:off x="2434414" y="4187952"/>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WHO TRS 978</a:t>
            </a:r>
            <a:endParaRPr lang="en-US" sz="1100" dirty="0"/>
          </a:p>
        </p:txBody>
      </p:sp>
      <p:sp>
        <p:nvSpPr>
          <p:cNvPr id="15" name="Shape 12"/>
          <p:cNvSpPr/>
          <p:nvPr/>
        </p:nvSpPr>
        <p:spPr>
          <a:xfrm>
            <a:off x="5390740"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6" name="Text 13"/>
          <p:cNvSpPr txBox="1"/>
          <p:nvPr/>
        </p:nvSpPr>
        <p:spPr>
          <a:xfrm>
            <a:off x="4887820" y="2377440"/>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2017</a:t>
            </a:r>
            <a:endParaRPr lang="en-US" sz="1400" dirty="0"/>
          </a:p>
        </p:txBody>
      </p:sp>
      <p:sp>
        <p:nvSpPr>
          <p:cNvPr id="17" name="Text 14"/>
          <p:cNvSpPr txBox="1"/>
          <p:nvPr/>
        </p:nvSpPr>
        <p:spPr>
          <a:xfrm>
            <a:off x="4887820" y="2697480"/>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1차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Ph. Eur. 5.2.3 개정</a:t>
            </a:r>
            <a:endParaRPr lang="en-US" sz="1100" dirty="0"/>
          </a:p>
        </p:txBody>
      </p:sp>
      <p:sp>
        <p:nvSpPr>
          <p:cNvPr id="18" name="Shape 15"/>
          <p:cNvSpPr/>
          <p:nvPr/>
        </p:nvSpPr>
        <p:spPr>
          <a:xfrm>
            <a:off x="6617442"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9" name="Text 16"/>
          <p:cNvSpPr txBox="1"/>
          <p:nvPr/>
        </p:nvSpPr>
        <p:spPr>
          <a:xfrm>
            <a:off x="6114522" y="3867912"/>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2019</a:t>
            </a:r>
            <a:endParaRPr lang="en-US" sz="1400" dirty="0"/>
          </a:p>
        </p:txBody>
      </p:sp>
      <p:sp>
        <p:nvSpPr>
          <p:cNvPr id="20" name="Text 17"/>
          <p:cNvSpPr txBox="1"/>
          <p:nvPr/>
        </p:nvSpPr>
        <p:spPr>
          <a:xfrm>
            <a:off x="6114522" y="4187952"/>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2차</a:t>
            </a:r>
            <a:endParaRPr lang="en-US" sz="1100" dirty="0"/>
          </a:p>
        </p:txBody>
      </p:sp>
      <p:sp>
        <p:nvSpPr>
          <p:cNvPr id="21" name="Shape 18"/>
          <p:cNvSpPr/>
          <p:nvPr/>
        </p:nvSpPr>
        <p:spPr>
          <a:xfrm>
            <a:off x="7844145"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22" name="Text 19"/>
          <p:cNvSpPr txBox="1"/>
          <p:nvPr/>
        </p:nvSpPr>
        <p:spPr>
          <a:xfrm>
            <a:off x="7341225" y="2377440"/>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2021</a:t>
            </a:r>
            <a:endParaRPr lang="en-US" sz="1400" dirty="0"/>
          </a:p>
        </p:txBody>
      </p:sp>
      <p:sp>
        <p:nvSpPr>
          <p:cNvPr id="23" name="Text 20"/>
          <p:cNvSpPr txBox="1"/>
          <p:nvPr/>
        </p:nvSpPr>
        <p:spPr>
          <a:xfrm>
            <a:off x="7341225" y="2697480"/>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식약처</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NGS 정보집</a:t>
            </a:r>
            <a:endParaRPr lang="en-US" sz="1100" dirty="0"/>
          </a:p>
        </p:txBody>
      </p:sp>
      <p:sp>
        <p:nvSpPr>
          <p:cNvPr id="24" name="Shape 21"/>
          <p:cNvSpPr/>
          <p:nvPr/>
        </p:nvSpPr>
        <p:spPr>
          <a:xfrm>
            <a:off x="8457497"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25" name="Text 22"/>
          <p:cNvSpPr txBox="1"/>
          <p:nvPr/>
        </p:nvSpPr>
        <p:spPr>
          <a:xfrm>
            <a:off x="7954577" y="3867912"/>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2022</a:t>
            </a:r>
            <a:endParaRPr lang="en-US" sz="1400" dirty="0"/>
          </a:p>
        </p:txBody>
      </p:sp>
      <p:sp>
        <p:nvSpPr>
          <p:cNvPr id="26" name="Text 23"/>
          <p:cNvSpPr txBox="1"/>
          <p:nvPr/>
        </p:nvSpPr>
        <p:spPr>
          <a:xfrm>
            <a:off x="7954577" y="4187952"/>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3차</a:t>
            </a:r>
            <a:endParaRPr lang="en-US" sz="1100" dirty="0"/>
          </a:p>
        </p:txBody>
      </p:sp>
      <p:sp>
        <p:nvSpPr>
          <p:cNvPr id="27" name="Shape 24"/>
          <p:cNvSpPr/>
          <p:nvPr/>
        </p:nvSpPr>
        <p:spPr>
          <a:xfrm>
            <a:off x="9070848"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28" name="Text 25"/>
          <p:cNvSpPr txBox="1"/>
          <p:nvPr/>
        </p:nvSpPr>
        <p:spPr>
          <a:xfrm>
            <a:off x="8567928" y="2377440"/>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2023</a:t>
            </a:r>
            <a:endParaRPr lang="en-US" sz="1400" dirty="0"/>
          </a:p>
        </p:txBody>
      </p:sp>
      <p:sp>
        <p:nvSpPr>
          <p:cNvPr id="29" name="Text 26"/>
          <p:cNvSpPr txBox="1"/>
          <p:nvPr/>
        </p:nvSpPr>
        <p:spPr>
          <a:xfrm>
            <a:off x="8567928" y="2697480"/>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ICH</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Q5A(R2)</a:t>
            </a:r>
            <a:endParaRPr lang="en-US" sz="1100" dirty="0"/>
          </a:p>
        </p:txBody>
      </p:sp>
      <p:sp>
        <p:nvSpPr>
          <p:cNvPr id="30" name="Shape 27"/>
          <p:cNvSpPr/>
          <p:nvPr/>
        </p:nvSpPr>
        <p:spPr>
          <a:xfrm>
            <a:off x="9684199"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31" name="Text 28"/>
          <p:cNvSpPr txBox="1"/>
          <p:nvPr/>
        </p:nvSpPr>
        <p:spPr>
          <a:xfrm>
            <a:off x="9181279" y="3867912"/>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2024</a:t>
            </a:r>
            <a:endParaRPr lang="en-US" sz="1400" dirty="0"/>
          </a:p>
        </p:txBody>
      </p:sp>
      <p:sp>
        <p:nvSpPr>
          <p:cNvPr id="32" name="Text 29"/>
          <p:cNvSpPr txBox="1"/>
          <p:nvPr/>
        </p:nvSpPr>
        <p:spPr>
          <a:xfrm>
            <a:off x="9181279" y="4187952"/>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4차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WHO 표준패널</a:t>
            </a:r>
            <a:endParaRPr lang="en-US" sz="1100" dirty="0"/>
          </a:p>
        </p:txBody>
      </p:sp>
      <p:sp>
        <p:nvSpPr>
          <p:cNvPr id="33" name="Shape 30"/>
          <p:cNvSpPr/>
          <p:nvPr/>
        </p:nvSpPr>
        <p:spPr>
          <a:xfrm>
            <a:off x="10297551"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34" name="Text 31"/>
          <p:cNvSpPr txBox="1"/>
          <p:nvPr/>
        </p:nvSpPr>
        <p:spPr>
          <a:xfrm>
            <a:off x="9794631" y="2377440"/>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2025</a:t>
            </a:r>
            <a:endParaRPr lang="en-US" sz="1400" dirty="0"/>
          </a:p>
        </p:txBody>
      </p:sp>
      <p:sp>
        <p:nvSpPr>
          <p:cNvPr id="35" name="Text 32"/>
          <p:cNvSpPr txBox="1"/>
          <p:nvPr/>
        </p:nvSpPr>
        <p:spPr>
          <a:xfrm>
            <a:off x="9794631" y="2697480"/>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2.6.41</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채택</a:t>
            </a:r>
            <a:endParaRPr lang="en-US" sz="1100" dirty="0"/>
          </a:p>
        </p:txBody>
      </p:sp>
      <p:sp>
        <p:nvSpPr>
          <p:cNvPr id="36" name="Shape 33"/>
          <p:cNvSpPr/>
          <p:nvPr/>
        </p:nvSpPr>
        <p:spPr>
          <a:xfrm>
            <a:off x="11036808" y="3493008"/>
            <a:ext cx="237744" cy="237744"/>
          </a:xfrm>
          <a:prstGeom prst="ellipse">
            <a:avLst/>
          </a:prstGeom>
          <a:solidFill>
            <a:srgbClr val="FFA500"/>
          </a:solidFill>
          <a:ln w="12700">
            <a:solidFill>
              <a:srgbClr val="FFA500"/>
            </a:solidFill>
            <a:prstDash val="solid"/>
          </a:ln>
        </p:spPr>
        <p:txBody>
          <a:bodyPr/>
          <a:lstStyle/>
          <a:p>
            <a:endParaRPr lang="ko-KR" altLang="en-US"/>
          </a:p>
        </p:txBody>
      </p:sp>
      <p:sp>
        <p:nvSpPr>
          <p:cNvPr id="37" name="Text 34"/>
          <p:cNvSpPr txBox="1"/>
          <p:nvPr/>
        </p:nvSpPr>
        <p:spPr>
          <a:xfrm>
            <a:off x="10561320" y="3867912"/>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2026.04</a:t>
            </a:r>
            <a:endParaRPr lang="en-US" sz="1400" dirty="0"/>
          </a:p>
        </p:txBody>
      </p:sp>
      <p:sp>
        <p:nvSpPr>
          <p:cNvPr id="38" name="Text 35"/>
          <p:cNvSpPr txBox="1"/>
          <p:nvPr/>
        </p:nvSpPr>
        <p:spPr>
          <a:xfrm>
            <a:off x="10561320" y="4187952"/>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2.6.41</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시행</a:t>
            </a:r>
            <a:endParaRPr lang="en-US" sz="1100" dirty="0"/>
          </a:p>
        </p:txBody>
      </p:sp>
      <p:sp>
        <p:nvSpPr>
          <p:cNvPr id="39" name="Shape 36"/>
          <p:cNvSpPr/>
          <p:nvPr/>
        </p:nvSpPr>
        <p:spPr>
          <a:xfrm>
            <a:off x="822960" y="5532120"/>
            <a:ext cx="3352800" cy="502920"/>
          </a:xfrm>
          <a:prstGeom prst="roundRect">
            <a:avLst>
              <a:gd name="adj" fmla="val 14545"/>
            </a:avLst>
          </a:prstGeom>
          <a:solidFill>
            <a:srgbClr val="FFA500"/>
          </a:solidFill>
          <a:ln w="12700">
            <a:solidFill>
              <a:srgbClr val="FFA500"/>
            </a:solidFill>
            <a:prstDash val="solid"/>
          </a:ln>
        </p:spPr>
        <p:txBody>
          <a:bodyPr/>
          <a:lstStyle/>
          <a:p>
            <a:endParaRPr lang="ko-KR" altLang="en-US"/>
          </a:p>
        </p:txBody>
      </p:sp>
      <p:sp>
        <p:nvSpPr>
          <p:cNvPr id="40" name="Text 37"/>
          <p:cNvSpPr txBox="1"/>
          <p:nvPr/>
        </p:nvSpPr>
        <p:spPr>
          <a:xfrm>
            <a:off x="822960" y="5532120"/>
            <a:ext cx="335280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Ph. Eur. 2.6.41 시행</a:t>
            </a:r>
            <a:endParaRPr lang="en-US" sz="1400" dirty="0"/>
          </a:p>
        </p:txBody>
      </p:sp>
      <p:sp>
        <p:nvSpPr>
          <p:cNvPr id="41" name="Shape 38"/>
          <p:cNvSpPr/>
          <p:nvPr/>
        </p:nvSpPr>
        <p:spPr>
          <a:xfrm>
            <a:off x="4404360" y="5532120"/>
            <a:ext cx="335280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42" name="Text 39"/>
          <p:cNvSpPr txBox="1"/>
          <p:nvPr/>
        </p:nvSpPr>
        <p:spPr>
          <a:xfrm>
            <a:off x="4404360" y="5532120"/>
            <a:ext cx="335280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WHO 국제 표준 패널</a:t>
            </a:r>
            <a:endParaRPr lang="en-US" sz="1400" dirty="0"/>
          </a:p>
        </p:txBody>
      </p:sp>
      <p:sp>
        <p:nvSpPr>
          <p:cNvPr id="43" name="Shape 40"/>
          <p:cNvSpPr/>
          <p:nvPr/>
        </p:nvSpPr>
        <p:spPr>
          <a:xfrm>
            <a:off x="7985760" y="5532120"/>
            <a:ext cx="335280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44" name="Text 41"/>
          <p:cNvSpPr txBox="1"/>
          <p:nvPr/>
        </p:nvSpPr>
        <p:spPr>
          <a:xfrm>
            <a:off x="7985760" y="5532120"/>
            <a:ext cx="335280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IABS 4차 합의</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무엇이 대체되나</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§3.2.5.2 · Ph. Eur. 2.6.41 (EDQM 2025) · Khan AS et al. Biologicals 2025;92:101859 (4차 IABS 컨퍼런스 보고)</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680960" cy="3566160"/>
        </p:xfrm>
        <a:graphic>
          <a:graphicData uri="http://schemas.openxmlformats.org/drawingml/2006/table">
            <a:tbl>
              <a:tblPr/>
              <a:tblGrid>
                <a:gridCol w="21945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713232">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기존 시험</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ICH Q5A(R2)</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Ph. Eur. 2.6.41</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IABS 4차 합의</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71323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In vivo 시험</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1"/>
                  </a:ext>
                </a:extLst>
              </a:tr>
              <a:tr h="71323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항체생산시험</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종특이 PCR</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3"/>
                  </a:ext>
                </a:extLst>
              </a:tr>
              <a:tr h="71323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In vitro 지시세포</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보완 · 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보완 · 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보완 · 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9" name="Text 5"/>
          <p:cNvSpPr txBox="1"/>
          <p:nvPr/>
        </p:nvSpPr>
        <p:spPr>
          <a:xfrm>
            <a:off x="548640" y="5349240"/>
            <a:ext cx="5486400" cy="274320"/>
          </a:xfrm>
          <a:prstGeom prst="rect">
            <a:avLst/>
          </a:prstGeom>
          <a:noFill/>
          <a:ln/>
        </p:spPr>
        <p:txBody>
          <a:bodyPr wrap="square" lIns="0" tIns="0" rIns="0" bIns="0" rtlCol="0" anchor="t"/>
          <a:lstStyle/>
          <a:p>
            <a:pPr marL="0" indent="0">
              <a:buNone/>
            </a:pPr>
            <a:r>
              <a:rPr lang="en-US" sz="1000" dirty="0">
                <a:solidFill>
                  <a:srgbClr val="7F7F7F"/>
                </a:solidFill>
                <a:latin typeface="Malgun Gothic" pitchFamily="34" charset="0"/>
                <a:ea typeface="Malgun Gothic" pitchFamily="34" charset="-122"/>
                <a:cs typeface="Malgun Gothic" pitchFamily="34" charset="-120"/>
              </a:rPr>
              <a:t>— 해당 문서에서 명시 확인 전</a:t>
            </a:r>
            <a:endParaRPr lang="en-US" sz="1000" dirty="0"/>
          </a:p>
        </p:txBody>
      </p:sp>
      <p:sp>
        <p:nvSpPr>
          <p:cNvPr id="10" name="Text 6"/>
          <p:cNvSpPr txBox="1"/>
          <p:nvPr/>
        </p:nvSpPr>
        <p:spPr>
          <a:xfrm>
            <a:off x="8778240" y="1783080"/>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01</a:t>
            </a:r>
            <a:endParaRPr lang="en-US" sz="1200" dirty="0"/>
          </a:p>
        </p:txBody>
      </p:sp>
      <p:sp>
        <p:nvSpPr>
          <p:cNvPr id="11" name="Text 7"/>
          <p:cNvSpPr txBox="1"/>
          <p:nvPr/>
        </p:nvSpPr>
        <p:spPr>
          <a:xfrm>
            <a:off x="9281160" y="1746504"/>
            <a:ext cx="2331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동물시험 대체</a:t>
            </a:r>
            <a:endParaRPr lang="en-US" sz="1800" dirty="0"/>
          </a:p>
        </p:txBody>
      </p:sp>
      <p:sp>
        <p:nvSpPr>
          <p:cNvPr id="12" name="Text 8"/>
          <p:cNvSpPr txBox="1"/>
          <p:nvPr/>
        </p:nvSpPr>
        <p:spPr>
          <a:xfrm>
            <a:off x="9281160" y="2130552"/>
            <a:ext cx="2331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in vivo · 항체생산시험</a:t>
            </a:r>
            <a:endParaRPr lang="en-US" sz="1150" dirty="0"/>
          </a:p>
        </p:txBody>
      </p:sp>
      <p:sp>
        <p:nvSpPr>
          <p:cNvPr id="13" name="Shape 9"/>
          <p:cNvSpPr/>
          <p:nvPr/>
        </p:nvSpPr>
        <p:spPr>
          <a:xfrm>
            <a:off x="8778240" y="2798064"/>
            <a:ext cx="2834640" cy="0"/>
          </a:xfrm>
          <a:prstGeom prst="line">
            <a:avLst/>
          </a:prstGeom>
          <a:noFill/>
          <a:ln w="9525">
            <a:solidFill>
              <a:srgbClr val="D9D9D9"/>
            </a:solidFill>
            <a:prstDash val="solid"/>
          </a:ln>
        </p:spPr>
        <p:txBody>
          <a:bodyPr/>
          <a:lstStyle/>
          <a:p>
            <a:endParaRPr lang="ko-KR" altLang="en-US"/>
          </a:p>
        </p:txBody>
      </p:sp>
      <p:sp>
        <p:nvSpPr>
          <p:cNvPr id="14" name="Text 10"/>
          <p:cNvSpPr txBox="1"/>
          <p:nvPr/>
        </p:nvSpPr>
        <p:spPr>
          <a:xfrm>
            <a:off x="8778240" y="2926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5" name="Text 11"/>
          <p:cNvSpPr txBox="1"/>
          <p:nvPr/>
        </p:nvSpPr>
        <p:spPr>
          <a:xfrm>
            <a:off x="9281160" y="2889504"/>
            <a:ext cx="2331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표적 PCR 대체</a:t>
            </a:r>
            <a:endParaRPr lang="en-US" sz="1800" dirty="0"/>
          </a:p>
        </p:txBody>
      </p:sp>
      <p:sp>
        <p:nvSpPr>
          <p:cNvPr id="16" name="Text 12"/>
          <p:cNvSpPr txBox="1"/>
          <p:nvPr/>
        </p:nvSpPr>
        <p:spPr>
          <a:xfrm>
            <a:off x="9281160" y="3273552"/>
            <a:ext cx="2331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종특이 NAT</a:t>
            </a:r>
            <a:endParaRPr lang="en-US" sz="1150" dirty="0"/>
          </a:p>
        </p:txBody>
      </p:sp>
      <p:sp>
        <p:nvSpPr>
          <p:cNvPr id="17" name="Shape 13"/>
          <p:cNvSpPr/>
          <p:nvPr/>
        </p:nvSpPr>
        <p:spPr>
          <a:xfrm>
            <a:off x="8778240" y="3941064"/>
            <a:ext cx="2834640" cy="0"/>
          </a:xfrm>
          <a:prstGeom prst="line">
            <a:avLst/>
          </a:prstGeom>
          <a:noFill/>
          <a:ln w="9525">
            <a:solidFill>
              <a:srgbClr val="D9D9D9"/>
            </a:solidFill>
            <a:prstDash val="solid"/>
          </a:ln>
        </p:spPr>
        <p:txBody>
          <a:bodyPr/>
          <a:lstStyle/>
          <a:p>
            <a:endParaRPr lang="ko-KR" altLang="en-US"/>
          </a:p>
        </p:txBody>
      </p:sp>
      <p:sp>
        <p:nvSpPr>
          <p:cNvPr id="18" name="Text 14"/>
          <p:cNvSpPr txBox="1"/>
          <p:nvPr/>
        </p:nvSpPr>
        <p:spPr>
          <a:xfrm>
            <a:off x="8778240" y="4069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19" name="Text 15"/>
          <p:cNvSpPr txBox="1"/>
          <p:nvPr/>
        </p:nvSpPr>
        <p:spPr>
          <a:xfrm>
            <a:off x="9281160" y="4032504"/>
            <a:ext cx="2331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세포배양 보완</a:t>
            </a:r>
            <a:endParaRPr lang="en-US" sz="1800" dirty="0"/>
          </a:p>
        </p:txBody>
      </p:sp>
      <p:sp>
        <p:nvSpPr>
          <p:cNvPr id="20" name="Text 16"/>
          <p:cNvSpPr txBox="1"/>
          <p:nvPr/>
        </p:nvSpPr>
        <p:spPr>
          <a:xfrm>
            <a:off x="9281160" y="4416552"/>
            <a:ext cx="2331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in vitro 지시세포 시험</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외래성의 기준점</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Q5A(R1) Glossary (R2에 승계) · ICH Q5A(R2) 2023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8</a:t>
            </a:r>
            <a:endParaRPr lang="en-US" sz="900" dirty="0"/>
          </a:p>
        </p:txBody>
      </p:sp>
      <p:sp>
        <p:nvSpPr>
          <p:cNvPr id="8" name="Text 5"/>
          <p:cNvSpPr txBox="1"/>
          <p:nvPr/>
        </p:nvSpPr>
        <p:spPr>
          <a:xfrm>
            <a:off x="548640" y="1508760"/>
            <a:ext cx="10972800" cy="685800"/>
          </a:xfrm>
          <a:prstGeom prst="rect">
            <a:avLst/>
          </a:prstGeom>
          <a:noFill/>
          <a:ln/>
        </p:spPr>
        <p:txBody>
          <a:bodyPr wrap="square" lIns="0" tIns="0" rIns="0" bIns="0" rtlCol="0" anchor="t"/>
          <a:lstStyle/>
          <a:p>
            <a:pPr marL="0" indent="0">
              <a:buNone/>
            </a:pPr>
            <a:r>
              <a:rPr lang="en-US" sz="3000" b="1" dirty="0">
                <a:solidFill>
                  <a:srgbClr val="000080"/>
                </a:solidFill>
                <a:latin typeface="Malgun Gothic" pitchFamily="34" charset="0"/>
                <a:ea typeface="Malgun Gothic" pitchFamily="34" charset="-122"/>
                <a:cs typeface="Malgun Gothic" pitchFamily="34" charset="-120"/>
              </a:rPr>
              <a:t>기준점 = </a:t>
            </a:r>
            <a:r>
              <a:rPr lang="en-US" sz="3000" b="1" dirty="0">
                <a:solidFill>
                  <a:srgbClr val="000080"/>
                </a:solidFill>
                <a:highlight>
                  <a:srgbClr val="FFA500"/>
                </a:highlight>
                <a:latin typeface="Malgun Gothic" pitchFamily="34" charset="0"/>
                <a:ea typeface="Malgun Gothic" pitchFamily="34" charset="-122"/>
                <a:cs typeface="Malgun Gothic" pitchFamily="34" charset="-120"/>
              </a:rPr>
              <a:t>세포기질 유전체</a:t>
            </a:r>
            <a:endParaRPr lang="en-US" sz="3000" dirty="0"/>
          </a:p>
        </p:txBody>
      </p:sp>
      <p:sp>
        <p:nvSpPr>
          <p:cNvPr id="9" name="Shape 6"/>
          <p:cNvSpPr/>
          <p:nvPr/>
        </p:nvSpPr>
        <p:spPr>
          <a:xfrm>
            <a:off x="548640" y="2468880"/>
            <a:ext cx="5394960" cy="2606040"/>
          </a:xfrm>
          <a:prstGeom prst="rect">
            <a:avLst/>
          </a:prstGeom>
          <a:solidFill>
            <a:srgbClr val="F2F2F2"/>
          </a:solidFill>
          <a:ln w="12700">
            <a:solidFill>
              <a:srgbClr val="F2F2F2"/>
            </a:solidFill>
            <a:prstDash val="solid"/>
          </a:ln>
        </p:spPr>
        <p:txBody>
          <a:bodyPr/>
          <a:lstStyle/>
          <a:p>
            <a:endParaRPr lang="ko-KR" altLang="en-US"/>
          </a:p>
        </p:txBody>
      </p:sp>
      <p:sp>
        <p:nvSpPr>
          <p:cNvPr id="10" name="Text 7"/>
          <p:cNvSpPr txBox="1"/>
          <p:nvPr/>
        </p:nvSpPr>
        <p:spPr>
          <a:xfrm>
            <a:off x="822960" y="2651760"/>
            <a:ext cx="1828800" cy="457200"/>
          </a:xfrm>
          <a:prstGeom prst="rect">
            <a:avLst/>
          </a:prstGeom>
          <a:noFill/>
          <a:ln/>
        </p:spPr>
        <p:txBody>
          <a:bodyPr wrap="square" lIns="0" tIns="0" rIns="0" bIns="0" rtlCol="0" anchor="t"/>
          <a:lstStyle/>
          <a:p>
            <a:pPr marL="0" indent="0">
              <a:buNone/>
            </a:pPr>
            <a:r>
              <a:rPr lang="en-US" sz="2200" b="1" dirty="0">
                <a:solidFill>
                  <a:srgbClr val="000080"/>
                </a:solidFill>
                <a:latin typeface="Malgun Gothic" pitchFamily="34" charset="0"/>
                <a:ea typeface="Malgun Gothic" pitchFamily="34" charset="-122"/>
                <a:cs typeface="Malgun Gothic" pitchFamily="34" charset="-120"/>
              </a:rPr>
              <a:t>외래성  </a:t>
            </a:r>
            <a:endParaRPr lang="en-US" sz="2200" dirty="0"/>
          </a:p>
        </p:txBody>
      </p:sp>
      <p:sp>
        <p:nvSpPr>
          <p:cNvPr id="11" name="Text 8"/>
          <p:cNvSpPr txBox="1"/>
          <p:nvPr/>
        </p:nvSpPr>
        <p:spPr>
          <a:xfrm>
            <a:off x="1965960" y="2724912"/>
            <a:ext cx="2286000" cy="365760"/>
          </a:xfrm>
          <a:prstGeom prst="rect">
            <a:avLst/>
          </a:prstGeom>
          <a:noFill/>
          <a:ln/>
        </p:spPr>
        <p:txBody>
          <a:bodyPr wrap="square" lIns="0" tIns="0" rIns="0" bIns="0" rtlCol="0" anchor="t"/>
          <a:lstStyle/>
          <a:p>
            <a:pPr marL="0" indent="0">
              <a:buNone/>
            </a:pPr>
            <a:r>
              <a:rPr lang="en-US" sz="1300" i="1" dirty="0">
                <a:solidFill>
                  <a:srgbClr val="595959"/>
                </a:solidFill>
                <a:latin typeface="Arial" pitchFamily="34" charset="0"/>
                <a:ea typeface="Arial" pitchFamily="34" charset="-122"/>
                <a:cs typeface="Arial" pitchFamily="34" charset="-120"/>
              </a:rPr>
              <a:t>Adventitious</a:t>
            </a:r>
            <a:endParaRPr lang="en-US" sz="1300" dirty="0"/>
          </a:p>
        </p:txBody>
      </p:sp>
      <p:sp>
        <p:nvSpPr>
          <p:cNvPr id="12" name="Text 9"/>
          <p:cNvSpPr txBox="1"/>
          <p:nvPr/>
        </p:nvSpPr>
        <p:spPr>
          <a:xfrm>
            <a:off x="822960" y="3200400"/>
            <a:ext cx="48463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비의도적 혼입</a:t>
            </a:r>
            <a:endParaRPr lang="en-US" sz="1800" dirty="0"/>
          </a:p>
        </p:txBody>
      </p:sp>
      <p:sp>
        <p:nvSpPr>
          <p:cNvPr id="13" name="Text 10"/>
          <p:cNvSpPr txBox="1"/>
          <p:nvPr/>
        </p:nvSpPr>
        <p:spPr>
          <a:xfrm>
            <a:off x="822960" y="3657600"/>
            <a:ext cx="4846320" cy="731520"/>
          </a:xfrm>
          <a:prstGeom prst="rect">
            <a:avLst/>
          </a:prstGeom>
          <a:noFill/>
          <a:ln/>
        </p:spPr>
        <p:txBody>
          <a:bodyPr wrap="square" lIns="0" tIns="0" rIns="0" bIns="0" rtlCol="0" anchor="t"/>
          <a:lstStyle/>
          <a:p>
            <a:pPr marL="0" indent="0">
              <a:buNone/>
            </a:pPr>
            <a:r>
              <a:rPr lang="en-US" sz="1200" i="1" dirty="0">
                <a:solidFill>
                  <a:srgbClr val="595959"/>
                </a:solidFill>
                <a:latin typeface="Arial" pitchFamily="34" charset="0"/>
                <a:ea typeface="Arial" pitchFamily="34" charset="-122"/>
                <a:cs typeface="Arial" pitchFamily="34" charset="-120"/>
              </a:rPr>
              <a:t>“Unintentionally introduced contaminant viruses.”</a:t>
            </a:r>
            <a:endParaRPr lang="en-US" sz="1200" dirty="0"/>
          </a:p>
        </p:txBody>
      </p:sp>
      <p:sp>
        <p:nvSpPr>
          <p:cNvPr id="14" name="Text 11"/>
          <p:cNvSpPr txBox="1"/>
          <p:nvPr/>
        </p:nvSpPr>
        <p:spPr>
          <a:xfrm>
            <a:off x="822960" y="4480560"/>
            <a:ext cx="4846320" cy="365760"/>
          </a:xfrm>
          <a:prstGeom prst="rect">
            <a:avLst/>
          </a:prstGeom>
          <a:noFill/>
          <a:ln/>
        </p:spPr>
        <p:txBody>
          <a:bodyPr wrap="square" lIns="0" tIns="0" rIns="0" bIns="0" rtlCol="0" anchor="t"/>
          <a:lstStyle/>
          <a:p>
            <a:pPr marL="0" indent="0">
              <a:buNone/>
            </a:pPr>
            <a:r>
              <a:rPr lang="en-US" sz="1250" dirty="0">
                <a:solidFill>
                  <a:srgbClr val="000080"/>
                </a:solidFill>
                <a:latin typeface="Malgun Gothic" pitchFamily="34" charset="0"/>
                <a:ea typeface="Malgun Gothic" pitchFamily="34" charset="-122"/>
                <a:cs typeface="Malgun Gothic" pitchFamily="34" charset="-120"/>
              </a:rPr>
              <a:t>예  FBS 유래 BVDV · trypsin 유래 PCV</a:t>
            </a:r>
            <a:endParaRPr lang="en-US" sz="1250" dirty="0"/>
          </a:p>
        </p:txBody>
      </p:sp>
      <p:sp>
        <p:nvSpPr>
          <p:cNvPr id="15" name="Shape 12"/>
          <p:cNvSpPr/>
          <p:nvPr/>
        </p:nvSpPr>
        <p:spPr>
          <a:xfrm>
            <a:off x="6263640" y="2468880"/>
            <a:ext cx="5394960" cy="2606040"/>
          </a:xfrm>
          <a:prstGeom prst="rect">
            <a:avLst/>
          </a:prstGeom>
          <a:solidFill>
            <a:srgbClr val="F2F2F2"/>
          </a:solidFill>
          <a:ln w="12700">
            <a:solidFill>
              <a:srgbClr val="F2F2F2"/>
            </a:solidFill>
            <a:prstDash val="solid"/>
          </a:ln>
        </p:spPr>
        <p:txBody>
          <a:bodyPr/>
          <a:lstStyle/>
          <a:p>
            <a:endParaRPr lang="ko-KR" altLang="en-US"/>
          </a:p>
        </p:txBody>
      </p:sp>
      <p:sp>
        <p:nvSpPr>
          <p:cNvPr id="16" name="Text 13"/>
          <p:cNvSpPr txBox="1"/>
          <p:nvPr/>
        </p:nvSpPr>
        <p:spPr>
          <a:xfrm>
            <a:off x="6537960" y="2651760"/>
            <a:ext cx="1828800" cy="457200"/>
          </a:xfrm>
          <a:prstGeom prst="rect">
            <a:avLst/>
          </a:prstGeom>
          <a:noFill/>
          <a:ln/>
        </p:spPr>
        <p:txBody>
          <a:bodyPr wrap="square" lIns="0" tIns="0" rIns="0" bIns="0" rtlCol="0" anchor="t"/>
          <a:lstStyle/>
          <a:p>
            <a:pPr marL="0" indent="0">
              <a:buNone/>
            </a:pPr>
            <a:r>
              <a:rPr lang="en-US" sz="2200" b="1" dirty="0">
                <a:solidFill>
                  <a:srgbClr val="000080"/>
                </a:solidFill>
                <a:latin typeface="Malgun Gothic" pitchFamily="34" charset="0"/>
                <a:ea typeface="Malgun Gothic" pitchFamily="34" charset="-122"/>
                <a:cs typeface="Malgun Gothic" pitchFamily="34" charset="-120"/>
              </a:rPr>
              <a:t>내인성  </a:t>
            </a:r>
            <a:endParaRPr lang="en-US" sz="2200" dirty="0"/>
          </a:p>
        </p:txBody>
      </p:sp>
      <p:sp>
        <p:nvSpPr>
          <p:cNvPr id="17" name="Text 14"/>
          <p:cNvSpPr txBox="1"/>
          <p:nvPr/>
        </p:nvSpPr>
        <p:spPr>
          <a:xfrm>
            <a:off x="7680960" y="2724912"/>
            <a:ext cx="2286000" cy="365760"/>
          </a:xfrm>
          <a:prstGeom prst="rect">
            <a:avLst/>
          </a:prstGeom>
          <a:noFill/>
          <a:ln/>
        </p:spPr>
        <p:txBody>
          <a:bodyPr wrap="square" lIns="0" tIns="0" rIns="0" bIns="0" rtlCol="0" anchor="t"/>
          <a:lstStyle/>
          <a:p>
            <a:pPr marL="0" indent="0">
              <a:buNone/>
            </a:pPr>
            <a:r>
              <a:rPr lang="en-US" sz="1300" i="1" dirty="0">
                <a:solidFill>
                  <a:srgbClr val="595959"/>
                </a:solidFill>
                <a:latin typeface="Arial" pitchFamily="34" charset="0"/>
                <a:ea typeface="Arial" pitchFamily="34" charset="-122"/>
                <a:cs typeface="Arial" pitchFamily="34" charset="-120"/>
              </a:rPr>
              <a:t>Endogenous</a:t>
            </a:r>
            <a:endParaRPr lang="en-US" sz="1300" dirty="0"/>
          </a:p>
        </p:txBody>
      </p:sp>
      <p:sp>
        <p:nvSpPr>
          <p:cNvPr id="18" name="Text 15"/>
          <p:cNvSpPr txBox="1"/>
          <p:nvPr/>
        </p:nvSpPr>
        <p:spPr>
          <a:xfrm>
            <a:off x="6537960" y="3200400"/>
            <a:ext cx="48463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생식계열 통합</a:t>
            </a:r>
            <a:endParaRPr lang="en-US" sz="1800" dirty="0"/>
          </a:p>
        </p:txBody>
      </p:sp>
      <p:sp>
        <p:nvSpPr>
          <p:cNvPr id="19" name="Text 16"/>
          <p:cNvSpPr txBox="1"/>
          <p:nvPr/>
        </p:nvSpPr>
        <p:spPr>
          <a:xfrm>
            <a:off x="6537960" y="3657600"/>
            <a:ext cx="4846320" cy="731520"/>
          </a:xfrm>
          <a:prstGeom prst="rect">
            <a:avLst/>
          </a:prstGeom>
          <a:noFill/>
          <a:ln/>
        </p:spPr>
        <p:txBody>
          <a:bodyPr wrap="square" lIns="0" tIns="0" rIns="0" bIns="0" rtlCol="0" anchor="t"/>
          <a:lstStyle/>
          <a:p>
            <a:pPr marL="0" indent="0">
              <a:buNone/>
            </a:pPr>
            <a:r>
              <a:rPr lang="en-US" sz="1200" i="1" dirty="0">
                <a:solidFill>
                  <a:srgbClr val="595959"/>
                </a:solidFill>
                <a:latin typeface="Arial" pitchFamily="34" charset="0"/>
                <a:ea typeface="Arial" pitchFamily="34" charset="-122"/>
                <a:cs typeface="Arial" pitchFamily="34" charset="-120"/>
              </a:rPr>
              <a:t>“…genome is part of the germ line of the species of origin of the cell line …”</a:t>
            </a:r>
            <a:endParaRPr lang="en-US" sz="1200" dirty="0"/>
          </a:p>
        </p:txBody>
      </p:sp>
      <p:sp>
        <p:nvSpPr>
          <p:cNvPr id="20" name="Text 17"/>
          <p:cNvSpPr txBox="1"/>
          <p:nvPr/>
        </p:nvSpPr>
        <p:spPr>
          <a:xfrm>
            <a:off x="6537960" y="4480560"/>
            <a:ext cx="4846320" cy="365760"/>
          </a:xfrm>
          <a:prstGeom prst="rect">
            <a:avLst/>
          </a:prstGeom>
          <a:noFill/>
          <a:ln/>
        </p:spPr>
        <p:txBody>
          <a:bodyPr wrap="square" lIns="0" tIns="0" rIns="0" bIns="0" rtlCol="0" anchor="t"/>
          <a:lstStyle/>
          <a:p>
            <a:pPr marL="0" indent="0">
              <a:buNone/>
            </a:pPr>
            <a:r>
              <a:rPr lang="en-US" sz="1250" dirty="0">
                <a:solidFill>
                  <a:srgbClr val="000080"/>
                </a:solidFill>
                <a:latin typeface="Malgun Gothic" pitchFamily="34" charset="0"/>
                <a:ea typeface="Malgun Gothic" pitchFamily="34" charset="-122"/>
                <a:cs typeface="Malgun Gothic" pitchFamily="34" charset="-120"/>
              </a:rPr>
              <a:t>예  CHO 레트로바이러스 유사입자 (RVLP)</a:t>
            </a:r>
            <a:endParaRPr lang="en-US" sz="1250" dirty="0"/>
          </a:p>
        </p:txBody>
      </p:sp>
      <p:sp>
        <p:nvSpPr>
          <p:cNvPr id="21" name="Text 18"/>
          <p:cNvSpPr txBox="1"/>
          <p:nvPr/>
        </p:nvSpPr>
        <p:spPr>
          <a:xfrm>
            <a:off x="548640" y="5349240"/>
            <a:ext cx="11064240" cy="457200"/>
          </a:xfrm>
          <a:prstGeom prst="rect">
            <a:avLst/>
          </a:prstGeom>
          <a:noFill/>
          <a:ln/>
        </p:spPr>
        <p:txBody>
          <a:bodyPr wrap="square" lIns="0" tIns="0" rIns="0" bIns="0" rtlCol="0" anchor="ctr"/>
          <a:lstStyle/>
          <a:p>
            <a:pPr marL="0" indent="0" algn="ctr">
              <a:buNone/>
            </a:pPr>
            <a:r>
              <a:rPr lang="en-US" sz="1600" b="1" dirty="0">
                <a:solidFill>
                  <a:srgbClr val="000080"/>
                </a:solidFill>
                <a:latin typeface="Malgun Gothic" pitchFamily="34" charset="0"/>
                <a:ea typeface="Malgun Gothic" pitchFamily="34" charset="-122"/>
                <a:cs typeface="Malgun Gothic" pitchFamily="34" charset="-120"/>
              </a:rPr>
              <a:t>부정시험</a:t>
            </a:r>
            <a:r>
              <a:rPr lang="en-US" sz="1600" dirty="0">
                <a:solidFill>
                  <a:srgbClr val="595959"/>
                </a:solidFill>
                <a:latin typeface="Malgun Gothic" pitchFamily="34" charset="0"/>
                <a:ea typeface="Malgun Gothic" pitchFamily="34" charset="-122"/>
                <a:cs typeface="Malgun Gothic" pitchFamily="34" charset="-120"/>
              </a:rPr>
              <a:t>  없음을 확인          </a:t>
            </a:r>
            <a:r>
              <a:rPr lang="en-US" sz="1600" dirty="0">
                <a:solidFill>
                  <a:srgbClr val="7F7F7F"/>
                </a:solidFill>
                <a:latin typeface="Malgun Gothic" pitchFamily="34" charset="0"/>
                <a:ea typeface="Malgun Gothic" pitchFamily="34" charset="-122"/>
                <a:cs typeface="Malgun Gothic" pitchFamily="34" charset="-120"/>
              </a:rPr>
              <a:t>vs</a:t>
            </a:r>
            <a:r>
              <a:rPr lang="en-US" sz="1600" b="1" dirty="0">
                <a:solidFill>
                  <a:srgbClr val="000080"/>
                </a:solidFill>
                <a:latin typeface="Malgun Gothic" pitchFamily="34" charset="0"/>
                <a:ea typeface="Malgun Gothic" pitchFamily="34" charset="-122"/>
                <a:cs typeface="Malgun Gothic" pitchFamily="34" charset="-120"/>
              </a:rPr>
              <a:t>          정량 · 제거 검증</a:t>
            </a:r>
            <a:r>
              <a:rPr lang="en-US" sz="1600" dirty="0">
                <a:solidFill>
                  <a:srgbClr val="595959"/>
                </a:solidFill>
                <a:latin typeface="Malgun Gothic" pitchFamily="34" charset="0"/>
                <a:ea typeface="Malgun Gothic" pitchFamily="34" charset="-122"/>
                <a:cs typeface="Malgun Gothic" pitchFamily="34" charset="-120"/>
              </a:rPr>
              <a:t>  존재를 전제</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9</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5" name="Text 2"/>
          <p:cNvSpPr txBox="1"/>
          <p:nvPr/>
        </p:nvSpPr>
        <p:spPr>
          <a:xfrm>
            <a:off x="822960" y="2148840"/>
            <a:ext cx="2743200" cy="1188720"/>
          </a:xfrm>
          <a:prstGeom prst="rect">
            <a:avLst/>
          </a:prstGeom>
          <a:noFill/>
          <a:ln/>
        </p:spPr>
        <p:txBody>
          <a:bodyPr wrap="square" lIns="0" tIns="0" rIns="0" bIns="0" rtlCol="0" anchor="t"/>
          <a:lstStyle/>
          <a:p>
            <a:pPr marL="0" indent="0">
              <a:buNone/>
            </a:pPr>
            <a:r>
              <a:rPr lang="en-US" sz="8000" b="1" dirty="0">
                <a:solidFill>
                  <a:srgbClr val="000080"/>
                </a:solidFill>
                <a:latin typeface="Arial" pitchFamily="34" charset="0"/>
                <a:ea typeface="Arial" pitchFamily="34" charset="-122"/>
                <a:cs typeface="Arial" pitchFamily="34" charset="-120"/>
              </a:rPr>
              <a:t>02</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부정시험</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marL="0" indent="0">
              <a:buNone/>
            </a:pPr>
            <a:r>
              <a:rPr lang="en-US" sz="1800" dirty="0">
                <a:solidFill>
                  <a:srgbClr val="595959"/>
                </a:solidFill>
                <a:latin typeface="Malgun Gothic" pitchFamily="34" charset="0"/>
                <a:ea typeface="Malgun Gothic" pitchFamily="34" charset="-122"/>
                <a:cs typeface="Malgun Gothic" pitchFamily="34" charset="-120"/>
              </a:rPr>
              <a:t>In vitro   ·   In vivo   ·   분자적 방법</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marL="0" indent="0">
              <a:buNone/>
            </a:pPr>
            <a:r>
              <a:rPr lang="en-US" sz="1200" dirty="0">
                <a:solidFill>
                  <a:srgbClr val="7F7F7F"/>
                </a:solidFill>
                <a:latin typeface="Malgun Gothic" pitchFamily="34" charset="0"/>
                <a:ea typeface="Malgun Gothic" pitchFamily="34" charset="-122"/>
                <a:cs typeface="Malgun Gothic" pitchFamily="34" charset="-120"/>
              </a:rPr>
              <a:t>7분</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단계별 시험</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Table 1 “Examples of virus tests to be performed once at various cell levels” · 미가공 벌크 시험 조항</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10</a:t>
            </a:r>
            <a:endParaRPr lang="en-US" sz="900" dirty="0"/>
          </a:p>
        </p:txBody>
      </p:sp>
      <p:sp>
        <p:nvSpPr>
          <p:cNvPr id="8" name="Shape 5"/>
          <p:cNvSpPr/>
          <p:nvPr/>
        </p:nvSpPr>
        <p:spPr>
          <a:xfrm>
            <a:off x="548640" y="1600200"/>
            <a:ext cx="3383280" cy="1417320"/>
          </a:xfrm>
          <a:prstGeom prst="rect">
            <a:avLst/>
          </a:prstGeom>
          <a:solidFill>
            <a:srgbClr val="F2F2F2"/>
          </a:solidFill>
          <a:ln w="12700">
            <a:solidFill>
              <a:srgbClr val="F2F2F2"/>
            </a:solidFill>
            <a:prstDash val="solid"/>
          </a:ln>
        </p:spPr>
        <p:txBody>
          <a:bodyPr/>
          <a:lstStyle/>
          <a:p>
            <a:endParaRPr lang="ko-KR" altLang="en-US"/>
          </a:p>
        </p:txBody>
      </p:sp>
      <p:sp>
        <p:nvSpPr>
          <p:cNvPr id="9" name="Text 6"/>
          <p:cNvSpPr txBox="1"/>
          <p:nvPr/>
        </p:nvSpPr>
        <p:spPr>
          <a:xfrm>
            <a:off x="777240" y="1737360"/>
            <a:ext cx="2103120" cy="41148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세포은행</a:t>
            </a:r>
            <a:endParaRPr lang="en-US" sz="2000" dirty="0"/>
          </a:p>
        </p:txBody>
      </p:sp>
      <p:sp>
        <p:nvSpPr>
          <p:cNvPr id="10" name="Text 7"/>
          <p:cNvSpPr txBox="1"/>
          <p:nvPr/>
        </p:nvSpPr>
        <p:spPr>
          <a:xfrm>
            <a:off x="2651760" y="1755648"/>
            <a:ext cx="1097280" cy="411480"/>
          </a:xfrm>
          <a:prstGeom prst="rect">
            <a:avLst/>
          </a:prstGeom>
          <a:noFill/>
          <a:ln/>
        </p:spPr>
        <p:txBody>
          <a:bodyPr wrap="square" lIns="0" tIns="0" rIns="0" bIns="0" rtlCol="0" anchor="t"/>
          <a:lstStyle/>
          <a:p>
            <a:pPr marL="0" indent="0" algn="r">
              <a:buNone/>
            </a:pPr>
            <a:r>
              <a:rPr lang="en-US" sz="1600" b="1" dirty="0">
                <a:solidFill>
                  <a:srgbClr val="000080"/>
                </a:solidFill>
                <a:latin typeface="Malgun Gothic" pitchFamily="34" charset="0"/>
                <a:ea typeface="Malgun Gothic" pitchFamily="34" charset="-122"/>
                <a:cs typeface="Malgun Gothic" pitchFamily="34" charset="-120"/>
              </a:rPr>
              <a:t>1회</a:t>
            </a:r>
            <a:endParaRPr lang="en-US" sz="1600" dirty="0"/>
          </a:p>
        </p:txBody>
      </p:sp>
      <p:sp>
        <p:nvSpPr>
          <p:cNvPr id="11" name="Text 8"/>
          <p:cNvSpPr txBox="1"/>
          <p:nvPr/>
        </p:nvSpPr>
        <p:spPr>
          <a:xfrm>
            <a:off x="777240" y="2286000"/>
            <a:ext cx="3017520" cy="36576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MCB · WCB</a:t>
            </a:r>
            <a:endParaRPr lang="en-US" sz="1250" dirty="0"/>
          </a:p>
        </p:txBody>
      </p:sp>
      <p:sp>
        <p:nvSpPr>
          <p:cNvPr id="12" name="Shape 9"/>
          <p:cNvSpPr/>
          <p:nvPr/>
        </p:nvSpPr>
        <p:spPr>
          <a:xfrm>
            <a:off x="3977640" y="2304288"/>
            <a:ext cx="320040" cy="0"/>
          </a:xfrm>
          <a:prstGeom prst="line">
            <a:avLst/>
          </a:prstGeom>
          <a:noFill/>
          <a:ln w="19050">
            <a:solidFill>
              <a:srgbClr val="000080"/>
            </a:solidFill>
            <a:prstDash val="solid"/>
            <a:tailEnd type="triangle"/>
          </a:ln>
        </p:spPr>
        <p:txBody>
          <a:bodyPr/>
          <a:lstStyle/>
          <a:p>
            <a:endParaRPr lang="ko-KR" altLang="en-US"/>
          </a:p>
        </p:txBody>
      </p:sp>
      <p:sp>
        <p:nvSpPr>
          <p:cNvPr id="13" name="Shape 10"/>
          <p:cNvSpPr/>
          <p:nvPr/>
        </p:nvSpPr>
        <p:spPr>
          <a:xfrm>
            <a:off x="4343400" y="1600200"/>
            <a:ext cx="3383280" cy="1417320"/>
          </a:xfrm>
          <a:prstGeom prst="rect">
            <a:avLst/>
          </a:prstGeom>
          <a:solidFill>
            <a:srgbClr val="F2F2F2"/>
          </a:solidFill>
          <a:ln w="12700">
            <a:solidFill>
              <a:srgbClr val="F2F2F2"/>
            </a:solidFill>
            <a:prstDash val="solid"/>
          </a:ln>
        </p:spPr>
        <p:txBody>
          <a:bodyPr/>
          <a:lstStyle/>
          <a:p>
            <a:endParaRPr lang="ko-KR" altLang="en-US"/>
          </a:p>
        </p:txBody>
      </p:sp>
      <p:sp>
        <p:nvSpPr>
          <p:cNvPr id="14" name="Text 11"/>
          <p:cNvSpPr txBox="1"/>
          <p:nvPr/>
        </p:nvSpPr>
        <p:spPr>
          <a:xfrm>
            <a:off x="4572000" y="1737360"/>
            <a:ext cx="2103120" cy="41148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LIVCA</a:t>
            </a:r>
            <a:endParaRPr lang="en-US" sz="2000" dirty="0"/>
          </a:p>
        </p:txBody>
      </p:sp>
      <p:sp>
        <p:nvSpPr>
          <p:cNvPr id="15" name="Text 12"/>
          <p:cNvSpPr txBox="1"/>
          <p:nvPr/>
        </p:nvSpPr>
        <p:spPr>
          <a:xfrm>
            <a:off x="6446520" y="1755648"/>
            <a:ext cx="1097280" cy="411480"/>
          </a:xfrm>
          <a:prstGeom prst="rect">
            <a:avLst/>
          </a:prstGeom>
          <a:noFill/>
          <a:ln/>
        </p:spPr>
        <p:txBody>
          <a:bodyPr wrap="square" lIns="0" tIns="0" rIns="0" bIns="0" rtlCol="0" anchor="t"/>
          <a:lstStyle/>
          <a:p>
            <a:pPr marL="0" indent="0" algn="r">
              <a:buNone/>
            </a:pPr>
            <a:r>
              <a:rPr lang="en-US" sz="1600" b="1" dirty="0">
                <a:solidFill>
                  <a:srgbClr val="000080"/>
                </a:solidFill>
                <a:latin typeface="Malgun Gothic" pitchFamily="34" charset="0"/>
                <a:ea typeface="Malgun Gothic" pitchFamily="34" charset="-122"/>
                <a:cs typeface="Malgun Gothic" pitchFamily="34" charset="-120"/>
              </a:rPr>
              <a:t>1회</a:t>
            </a:r>
            <a:endParaRPr lang="en-US" sz="1600" dirty="0"/>
          </a:p>
        </p:txBody>
      </p:sp>
      <p:sp>
        <p:nvSpPr>
          <p:cNvPr id="16" name="Text 13"/>
          <p:cNvSpPr txBox="1"/>
          <p:nvPr/>
        </p:nvSpPr>
        <p:spPr>
          <a:xfrm>
            <a:off x="4572000" y="2286000"/>
            <a:ext cx="3017520" cy="36576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시험관내 세포 연령 한계</a:t>
            </a:r>
            <a:endParaRPr lang="en-US" sz="1250" dirty="0"/>
          </a:p>
        </p:txBody>
      </p:sp>
      <p:sp>
        <p:nvSpPr>
          <p:cNvPr id="17" name="Shape 14"/>
          <p:cNvSpPr/>
          <p:nvPr/>
        </p:nvSpPr>
        <p:spPr>
          <a:xfrm>
            <a:off x="7772400" y="2304288"/>
            <a:ext cx="320040" cy="0"/>
          </a:xfrm>
          <a:prstGeom prst="line">
            <a:avLst/>
          </a:prstGeom>
          <a:noFill/>
          <a:ln w="19050">
            <a:solidFill>
              <a:srgbClr val="000080"/>
            </a:solidFill>
            <a:prstDash val="solid"/>
            <a:tailEnd type="triangle"/>
          </a:ln>
        </p:spPr>
        <p:txBody>
          <a:bodyPr/>
          <a:lstStyle/>
          <a:p>
            <a:endParaRPr lang="ko-KR" altLang="en-US"/>
          </a:p>
        </p:txBody>
      </p:sp>
      <p:sp>
        <p:nvSpPr>
          <p:cNvPr id="18" name="Shape 15"/>
          <p:cNvSpPr/>
          <p:nvPr/>
        </p:nvSpPr>
        <p:spPr>
          <a:xfrm>
            <a:off x="8138160" y="1600200"/>
            <a:ext cx="3383280" cy="1417320"/>
          </a:xfrm>
          <a:prstGeom prst="rect">
            <a:avLst/>
          </a:prstGeom>
          <a:solidFill>
            <a:srgbClr val="FFA500"/>
          </a:solidFill>
          <a:ln w="12700">
            <a:solidFill>
              <a:srgbClr val="FFA500"/>
            </a:solidFill>
            <a:prstDash val="solid"/>
          </a:ln>
        </p:spPr>
        <p:txBody>
          <a:bodyPr/>
          <a:lstStyle/>
          <a:p>
            <a:endParaRPr lang="ko-KR" altLang="en-US"/>
          </a:p>
        </p:txBody>
      </p:sp>
      <p:sp>
        <p:nvSpPr>
          <p:cNvPr id="19" name="Text 16"/>
          <p:cNvSpPr txBox="1"/>
          <p:nvPr/>
        </p:nvSpPr>
        <p:spPr>
          <a:xfrm>
            <a:off x="8366760" y="1737360"/>
            <a:ext cx="2103120" cy="41148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미가공 벌크</a:t>
            </a:r>
            <a:endParaRPr lang="en-US" sz="2000" dirty="0"/>
          </a:p>
        </p:txBody>
      </p:sp>
      <p:sp>
        <p:nvSpPr>
          <p:cNvPr id="20" name="Text 17"/>
          <p:cNvSpPr txBox="1"/>
          <p:nvPr/>
        </p:nvSpPr>
        <p:spPr>
          <a:xfrm>
            <a:off x="10241280" y="1755648"/>
            <a:ext cx="1097280" cy="411480"/>
          </a:xfrm>
          <a:prstGeom prst="rect">
            <a:avLst/>
          </a:prstGeom>
          <a:noFill/>
          <a:ln/>
        </p:spPr>
        <p:txBody>
          <a:bodyPr wrap="square" lIns="0" tIns="0" rIns="0" bIns="0" rtlCol="0" anchor="t"/>
          <a:lstStyle/>
          <a:p>
            <a:pPr marL="0" indent="0" algn="r">
              <a:buNone/>
            </a:pPr>
            <a:r>
              <a:rPr lang="en-US" sz="1600" b="1" dirty="0">
                <a:solidFill>
                  <a:srgbClr val="000080"/>
                </a:solidFill>
                <a:latin typeface="Malgun Gothic" pitchFamily="34" charset="0"/>
                <a:ea typeface="Malgun Gothic" pitchFamily="34" charset="-122"/>
                <a:cs typeface="Malgun Gothic" pitchFamily="34" charset="-120"/>
              </a:rPr>
              <a:t>배치마다</a:t>
            </a:r>
            <a:endParaRPr lang="en-US" sz="1600" dirty="0"/>
          </a:p>
        </p:txBody>
      </p:sp>
      <p:sp>
        <p:nvSpPr>
          <p:cNvPr id="21" name="Text 18"/>
          <p:cNvSpPr txBox="1"/>
          <p:nvPr/>
        </p:nvSpPr>
        <p:spPr>
          <a:xfrm>
            <a:off x="8366760" y="2286000"/>
            <a:ext cx="3017520" cy="365760"/>
          </a:xfrm>
          <a:prstGeom prst="rect">
            <a:avLst/>
          </a:prstGeom>
          <a:noFill/>
          <a:ln/>
        </p:spPr>
        <p:txBody>
          <a:bodyPr wrap="square" lIns="0" tIns="0" rIns="0" bIns="0" rtlCol="0" anchor="t"/>
          <a:lstStyle/>
          <a:p>
            <a:pPr marL="0" indent="0">
              <a:buNone/>
            </a:pPr>
            <a:r>
              <a:rPr lang="en-US" sz="1250" dirty="0">
                <a:solidFill>
                  <a:srgbClr val="000080"/>
                </a:solidFill>
                <a:latin typeface="Malgun Gothic" pitchFamily="34" charset="0"/>
                <a:ea typeface="Malgun Gothic" pitchFamily="34" charset="-122"/>
                <a:cs typeface="Malgun Gothic" pitchFamily="34" charset="-120"/>
              </a:rPr>
              <a:t>in vitro 또는 NGS</a:t>
            </a:r>
            <a:endParaRPr lang="en-US" sz="1250" dirty="0"/>
          </a:p>
        </p:txBody>
      </p:sp>
      <p:sp>
        <p:nvSpPr>
          <p:cNvPr id="22" name="Shape 19"/>
          <p:cNvSpPr/>
          <p:nvPr/>
        </p:nvSpPr>
        <p:spPr>
          <a:xfrm>
            <a:off x="548640" y="3291840"/>
            <a:ext cx="11064240" cy="2834640"/>
          </a:xfrm>
          <a:prstGeom prst="rect">
            <a:avLst/>
          </a:prstGeom>
          <a:solidFill>
            <a:srgbClr val="FFFFFF"/>
          </a:solidFill>
          <a:ln w="12700">
            <a:solidFill>
              <a:srgbClr val="A6A6A6"/>
            </a:solidFill>
            <a:prstDash val="dash"/>
          </a:ln>
        </p:spPr>
        <p:txBody>
          <a:bodyPr/>
          <a:lstStyle/>
          <a:p>
            <a:endParaRPr lang="ko-KR" altLang="en-US"/>
          </a:p>
        </p:txBody>
      </p:sp>
      <p:sp>
        <p:nvSpPr>
          <p:cNvPr id="23" name="Text 20"/>
          <p:cNvSpPr txBox="1"/>
          <p:nvPr/>
        </p:nvSpPr>
        <p:spPr>
          <a:xfrm>
            <a:off x="548640" y="3291840"/>
            <a:ext cx="11064240" cy="2834640"/>
          </a:xfrm>
          <a:prstGeom prst="rect">
            <a:avLst/>
          </a:prstGeom>
          <a:noFill/>
          <a:ln/>
        </p:spPr>
        <p:txBody>
          <a:bodyPr wrap="square" lIns="0" tIns="0" rIns="0" bIns="0" rtlCol="0" anchor="ctr"/>
          <a:lstStyle/>
          <a:p>
            <a:pPr marL="0" indent="0" algn="ctr">
              <a:buNone/>
            </a:pPr>
            <a:r>
              <a:rPr lang="en-US" sz="1300" dirty="0">
                <a:solidFill>
                  <a:srgbClr val="7F7F7F"/>
                </a:solidFill>
                <a:latin typeface="Malgun Gothic" pitchFamily="34" charset="0"/>
                <a:ea typeface="Malgun Gothic" pitchFamily="34" charset="-122"/>
                <a:cs typeface="Malgun Gothic" pitchFamily="34" charset="-120"/>
              </a:rPr>
              <a:t>ICH Q5A(R2) Table 1 원문 캡처 삽입</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In vitro: 감염성의 직접 증거</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FDA. Characterization and Qualification of Cell Substrates … for Viral Vaccines (2010) · ICH Q5A(R2) · WHO TRS 978 Annex 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11</a:t>
            </a:r>
            <a:endParaRPr lang="en-US" sz="900" dirty="0"/>
          </a:p>
        </p:txBody>
      </p:sp>
      <p:sp>
        <p:nvSpPr>
          <p:cNvPr id="8" name="Text 5"/>
          <p:cNvSpPr txBox="1"/>
          <p:nvPr/>
        </p:nvSpPr>
        <p:spPr>
          <a:xfrm>
            <a:off x="548640" y="1828800"/>
            <a:ext cx="914400" cy="457200"/>
          </a:xfrm>
          <a:prstGeom prst="rect">
            <a:avLst/>
          </a:prstGeom>
          <a:noFill/>
          <a:ln/>
        </p:spPr>
        <p:txBody>
          <a:bodyPr wrap="square" lIns="0" tIns="0" rIns="0" bIns="0" rtlCol="0" anchor="t"/>
          <a:lstStyle/>
          <a:p>
            <a:pPr marL="0" indent="0">
              <a:buNone/>
            </a:pPr>
            <a:r>
              <a:rPr lang="en-US" sz="2800" b="1" dirty="0">
                <a:solidFill>
                  <a:srgbClr val="FFA500"/>
                </a:solidFill>
                <a:latin typeface="Arial" pitchFamily="34" charset="0"/>
                <a:ea typeface="Arial" pitchFamily="34" charset="-122"/>
                <a:cs typeface="Arial" pitchFamily="34" charset="-120"/>
              </a:rPr>
              <a:t>01</a:t>
            </a:r>
            <a:endParaRPr lang="en-US" sz="2800" dirty="0"/>
          </a:p>
        </p:txBody>
      </p:sp>
      <p:sp>
        <p:nvSpPr>
          <p:cNvPr id="9" name="Text 6"/>
          <p:cNvSpPr txBox="1"/>
          <p:nvPr/>
        </p:nvSpPr>
        <p:spPr>
          <a:xfrm>
            <a:off x="548640" y="2423160"/>
            <a:ext cx="3383280" cy="502920"/>
          </a:xfrm>
          <a:prstGeom prst="rect">
            <a:avLst/>
          </a:prstGeom>
          <a:noFill/>
          <a:ln/>
        </p:spPr>
        <p:txBody>
          <a:bodyPr wrap="square" lIns="0" tIns="0" rIns="0" bIns="0" rtlCol="0" anchor="t"/>
          <a:lstStyle/>
          <a:p>
            <a:pPr marL="0" indent="0">
              <a:buNone/>
            </a:pPr>
            <a:r>
              <a:rPr lang="en-US" sz="2100" b="1" dirty="0">
                <a:solidFill>
                  <a:srgbClr val="000080"/>
                </a:solidFill>
                <a:latin typeface="Malgun Gothic" pitchFamily="34" charset="0"/>
                <a:ea typeface="Malgun Gothic" pitchFamily="34" charset="-122"/>
                <a:cs typeface="Malgun Gothic" pitchFamily="34" charset="-120"/>
              </a:rPr>
              <a:t>지시세포 3종</a:t>
            </a:r>
            <a:endParaRPr lang="en-US" sz="2100" dirty="0"/>
          </a:p>
        </p:txBody>
      </p:sp>
      <p:sp>
        <p:nvSpPr>
          <p:cNvPr id="10" name="Shape 7"/>
          <p:cNvSpPr/>
          <p:nvPr/>
        </p:nvSpPr>
        <p:spPr>
          <a:xfrm>
            <a:off x="548640" y="3063240"/>
            <a:ext cx="3291840" cy="0"/>
          </a:xfrm>
          <a:prstGeom prst="line">
            <a:avLst/>
          </a:prstGeom>
          <a:noFill/>
          <a:ln w="9525">
            <a:solidFill>
              <a:srgbClr val="D9D9D9"/>
            </a:solidFill>
            <a:prstDash val="solid"/>
          </a:ln>
        </p:spPr>
        <p:txBody>
          <a:bodyPr/>
          <a:lstStyle/>
          <a:p>
            <a:endParaRPr lang="ko-KR" altLang="en-US"/>
          </a:p>
        </p:txBody>
      </p:sp>
      <p:sp>
        <p:nvSpPr>
          <p:cNvPr id="11" name="Text 8"/>
          <p:cNvSpPr txBox="1"/>
          <p:nvPr/>
        </p:nvSpPr>
        <p:spPr>
          <a:xfrm>
            <a:off x="548640" y="3246120"/>
            <a:ext cx="3383280" cy="1463040"/>
          </a:xfrm>
          <a:prstGeom prst="rect">
            <a:avLst/>
          </a:prstGeom>
          <a:noFill/>
          <a:ln/>
        </p:spPr>
        <p:txBody>
          <a:bodyPr wrap="square" lIns="0" tIns="0" rIns="0" bIns="0" rtlCol="0" anchor="t"/>
          <a:lstStyle/>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인간 이배체 (MRC-5)</a:t>
            </a:r>
            <a:endParaRPr lang="en-US" sz="1400" dirty="0"/>
          </a:p>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원숭이 신장 (Vero)</a:t>
            </a:r>
            <a:endParaRPr lang="en-US" sz="1400" dirty="0"/>
          </a:p>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생산세포와 동일 종 · 조직</a:t>
            </a:r>
            <a:endParaRPr lang="en-US" sz="1400" dirty="0"/>
          </a:p>
        </p:txBody>
      </p:sp>
      <p:sp>
        <p:nvSpPr>
          <p:cNvPr id="12" name="Shape 9"/>
          <p:cNvSpPr/>
          <p:nvPr/>
        </p:nvSpPr>
        <p:spPr>
          <a:xfrm>
            <a:off x="3931920" y="2670048"/>
            <a:ext cx="320040" cy="0"/>
          </a:xfrm>
          <a:prstGeom prst="line">
            <a:avLst/>
          </a:prstGeom>
          <a:noFill/>
          <a:ln w="19050">
            <a:solidFill>
              <a:srgbClr val="7F7F7F"/>
            </a:solidFill>
            <a:prstDash val="solid"/>
            <a:tailEnd type="triangle"/>
          </a:ln>
        </p:spPr>
        <p:txBody>
          <a:bodyPr/>
          <a:lstStyle/>
          <a:p>
            <a:endParaRPr lang="ko-KR" altLang="en-US"/>
          </a:p>
        </p:txBody>
      </p:sp>
      <p:sp>
        <p:nvSpPr>
          <p:cNvPr id="13" name="Text 10"/>
          <p:cNvSpPr txBox="1"/>
          <p:nvPr/>
        </p:nvSpPr>
        <p:spPr>
          <a:xfrm>
            <a:off x="4343400" y="1828800"/>
            <a:ext cx="914400" cy="457200"/>
          </a:xfrm>
          <a:prstGeom prst="rect">
            <a:avLst/>
          </a:prstGeom>
          <a:noFill/>
          <a:ln/>
        </p:spPr>
        <p:txBody>
          <a:bodyPr wrap="square" lIns="0" tIns="0" rIns="0" bIns="0" rtlCol="0" anchor="t"/>
          <a:lstStyle/>
          <a:p>
            <a:pPr marL="0" indent="0">
              <a:buNone/>
            </a:pPr>
            <a:r>
              <a:rPr lang="en-US" sz="2800" b="1" dirty="0">
                <a:solidFill>
                  <a:srgbClr val="7F7F7F"/>
                </a:solidFill>
                <a:latin typeface="Arial" pitchFamily="34" charset="0"/>
                <a:ea typeface="Arial" pitchFamily="34" charset="-122"/>
                <a:cs typeface="Arial" pitchFamily="34" charset="-120"/>
              </a:rPr>
              <a:t>02</a:t>
            </a:r>
            <a:endParaRPr lang="en-US" sz="2800" dirty="0"/>
          </a:p>
        </p:txBody>
      </p:sp>
      <p:sp>
        <p:nvSpPr>
          <p:cNvPr id="14" name="Text 11"/>
          <p:cNvSpPr txBox="1"/>
          <p:nvPr/>
        </p:nvSpPr>
        <p:spPr>
          <a:xfrm>
            <a:off x="4343400" y="2423160"/>
            <a:ext cx="3383280" cy="502920"/>
          </a:xfrm>
          <a:prstGeom prst="rect">
            <a:avLst/>
          </a:prstGeom>
          <a:noFill/>
          <a:ln/>
        </p:spPr>
        <p:txBody>
          <a:bodyPr wrap="square" lIns="0" tIns="0" rIns="0" bIns="0" rtlCol="0" anchor="t"/>
          <a:lstStyle/>
          <a:p>
            <a:pPr marL="0" indent="0">
              <a:buNone/>
            </a:pPr>
            <a:r>
              <a:rPr lang="en-US" sz="2100" b="1" dirty="0">
                <a:solidFill>
                  <a:srgbClr val="000080"/>
                </a:solidFill>
                <a:latin typeface="Malgun Gothic" pitchFamily="34" charset="0"/>
                <a:ea typeface="Malgun Gothic" pitchFamily="34" charset="-122"/>
                <a:cs typeface="Malgun Gothic" pitchFamily="34" charset="-120"/>
              </a:rPr>
              <a:t>CPE 관찰</a:t>
            </a:r>
            <a:endParaRPr lang="en-US" sz="2100" dirty="0"/>
          </a:p>
        </p:txBody>
      </p:sp>
      <p:sp>
        <p:nvSpPr>
          <p:cNvPr id="15" name="Shape 12"/>
          <p:cNvSpPr/>
          <p:nvPr/>
        </p:nvSpPr>
        <p:spPr>
          <a:xfrm>
            <a:off x="4343400" y="3063240"/>
            <a:ext cx="3291840" cy="0"/>
          </a:xfrm>
          <a:prstGeom prst="line">
            <a:avLst/>
          </a:prstGeom>
          <a:noFill/>
          <a:ln w="9525">
            <a:solidFill>
              <a:srgbClr val="D9D9D9"/>
            </a:solidFill>
            <a:prstDash val="solid"/>
          </a:ln>
        </p:spPr>
        <p:txBody>
          <a:bodyPr/>
          <a:lstStyle/>
          <a:p>
            <a:endParaRPr lang="ko-KR" altLang="en-US"/>
          </a:p>
        </p:txBody>
      </p:sp>
      <p:sp>
        <p:nvSpPr>
          <p:cNvPr id="16" name="Text 13"/>
          <p:cNvSpPr txBox="1"/>
          <p:nvPr/>
        </p:nvSpPr>
        <p:spPr>
          <a:xfrm>
            <a:off x="4343400" y="3246120"/>
            <a:ext cx="3383280" cy="1463040"/>
          </a:xfrm>
          <a:prstGeom prst="rect">
            <a:avLst/>
          </a:prstGeom>
          <a:noFill/>
          <a:ln/>
        </p:spPr>
        <p:txBody>
          <a:bodyPr wrap="square" lIns="0" tIns="0" rIns="0" bIns="0" rtlCol="0" anchor="t"/>
          <a:lstStyle/>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배양 기간 중</a:t>
            </a:r>
            <a:endParaRPr lang="en-US" sz="1400" dirty="0"/>
          </a:p>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세포변성효과 판독</a:t>
            </a:r>
            <a:endParaRPr lang="en-US" sz="1400" dirty="0"/>
          </a:p>
        </p:txBody>
      </p:sp>
      <p:sp>
        <p:nvSpPr>
          <p:cNvPr id="17" name="Shape 14"/>
          <p:cNvSpPr/>
          <p:nvPr/>
        </p:nvSpPr>
        <p:spPr>
          <a:xfrm>
            <a:off x="7726680" y="2670048"/>
            <a:ext cx="320040" cy="0"/>
          </a:xfrm>
          <a:prstGeom prst="line">
            <a:avLst/>
          </a:prstGeom>
          <a:noFill/>
          <a:ln w="19050">
            <a:solidFill>
              <a:srgbClr val="7F7F7F"/>
            </a:solidFill>
            <a:prstDash val="solid"/>
            <a:tailEnd type="triangle"/>
          </a:ln>
        </p:spPr>
        <p:txBody>
          <a:bodyPr/>
          <a:lstStyle/>
          <a:p>
            <a:endParaRPr lang="ko-KR" altLang="en-US"/>
          </a:p>
        </p:txBody>
      </p:sp>
      <p:sp>
        <p:nvSpPr>
          <p:cNvPr id="18" name="Text 15"/>
          <p:cNvSpPr txBox="1"/>
          <p:nvPr/>
        </p:nvSpPr>
        <p:spPr>
          <a:xfrm>
            <a:off x="8138160" y="1828800"/>
            <a:ext cx="914400" cy="457200"/>
          </a:xfrm>
          <a:prstGeom prst="rect">
            <a:avLst/>
          </a:prstGeom>
          <a:noFill/>
          <a:ln/>
        </p:spPr>
        <p:txBody>
          <a:bodyPr wrap="square" lIns="0" tIns="0" rIns="0" bIns="0" rtlCol="0" anchor="t"/>
          <a:lstStyle/>
          <a:p>
            <a:pPr marL="0" indent="0">
              <a:buNone/>
            </a:pPr>
            <a:r>
              <a:rPr lang="en-US" sz="2800" b="1" dirty="0">
                <a:solidFill>
                  <a:srgbClr val="7F7F7F"/>
                </a:solidFill>
                <a:latin typeface="Arial" pitchFamily="34" charset="0"/>
                <a:ea typeface="Arial" pitchFamily="34" charset="-122"/>
                <a:cs typeface="Arial" pitchFamily="34" charset="-120"/>
              </a:rPr>
              <a:t>03</a:t>
            </a:r>
            <a:endParaRPr lang="en-US" sz="2800" dirty="0"/>
          </a:p>
        </p:txBody>
      </p:sp>
      <p:sp>
        <p:nvSpPr>
          <p:cNvPr id="19" name="Text 16"/>
          <p:cNvSpPr txBox="1"/>
          <p:nvPr/>
        </p:nvSpPr>
        <p:spPr>
          <a:xfrm>
            <a:off x="8138160" y="2423160"/>
            <a:ext cx="3383280" cy="502920"/>
          </a:xfrm>
          <a:prstGeom prst="rect">
            <a:avLst/>
          </a:prstGeom>
          <a:noFill/>
          <a:ln/>
        </p:spPr>
        <p:txBody>
          <a:bodyPr wrap="square" lIns="0" tIns="0" rIns="0" bIns="0" rtlCol="0" anchor="t"/>
          <a:lstStyle/>
          <a:p>
            <a:pPr marL="0" indent="0">
              <a:buNone/>
            </a:pPr>
            <a:r>
              <a:rPr lang="en-US" sz="2100" b="1" dirty="0">
                <a:solidFill>
                  <a:srgbClr val="000080"/>
                </a:solidFill>
                <a:latin typeface="Malgun Gothic" pitchFamily="34" charset="0"/>
                <a:ea typeface="Malgun Gothic" pitchFamily="34" charset="-122"/>
                <a:cs typeface="Malgun Gothic" pitchFamily="34" charset="-120"/>
              </a:rPr>
              <a:t>혈구흡착 · 혈구응집</a:t>
            </a:r>
            <a:endParaRPr lang="en-US" sz="2100" dirty="0"/>
          </a:p>
        </p:txBody>
      </p:sp>
      <p:sp>
        <p:nvSpPr>
          <p:cNvPr id="20" name="Shape 17"/>
          <p:cNvSpPr/>
          <p:nvPr/>
        </p:nvSpPr>
        <p:spPr>
          <a:xfrm>
            <a:off x="8138160" y="3063240"/>
            <a:ext cx="3291840" cy="0"/>
          </a:xfrm>
          <a:prstGeom prst="line">
            <a:avLst/>
          </a:prstGeom>
          <a:noFill/>
          <a:ln w="9525">
            <a:solidFill>
              <a:srgbClr val="D9D9D9"/>
            </a:solidFill>
            <a:prstDash val="solid"/>
          </a:ln>
        </p:spPr>
        <p:txBody>
          <a:bodyPr/>
          <a:lstStyle/>
          <a:p>
            <a:endParaRPr lang="ko-KR" altLang="en-US"/>
          </a:p>
        </p:txBody>
      </p:sp>
      <p:sp>
        <p:nvSpPr>
          <p:cNvPr id="21" name="Text 18"/>
          <p:cNvSpPr txBox="1"/>
          <p:nvPr/>
        </p:nvSpPr>
        <p:spPr>
          <a:xfrm>
            <a:off x="8138160" y="3246120"/>
            <a:ext cx="3383280" cy="1463040"/>
          </a:xfrm>
          <a:prstGeom prst="rect">
            <a:avLst/>
          </a:prstGeom>
          <a:noFill/>
          <a:ln/>
        </p:spPr>
        <p:txBody>
          <a:bodyPr wrap="square" lIns="0" tIns="0" rIns="0" bIns="0" rtlCol="0" anchor="t"/>
          <a:lstStyle/>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종료 시점 판독</a:t>
            </a:r>
            <a:endParaRPr lang="en-US" sz="1400" dirty="0"/>
          </a:p>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비세포변성 바이러스 포착</a:t>
            </a:r>
            <a:endParaRPr lang="en-US" sz="1400" dirty="0"/>
          </a:p>
        </p:txBody>
      </p:sp>
      <p:sp>
        <p:nvSpPr>
          <p:cNvPr id="22" name="Text 19"/>
          <p:cNvSpPr txBox="1"/>
          <p:nvPr/>
        </p:nvSpPr>
        <p:spPr>
          <a:xfrm>
            <a:off x="548640" y="5120640"/>
            <a:ext cx="11064240" cy="54864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복제 가능한 바이러스만 신호를 낸다</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In vivo: 문서마다 다르다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§3.2.3 · FDA. Characterization and Qualification of Cell Substrates … for Viral Vaccines (2010)</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3730752"/>
        </p:xfrm>
        <a:graphic>
          <a:graphicData uri="http://schemas.openxmlformats.org/drawingml/2006/table">
            <a:tbl>
              <a:tblPr/>
              <a:tblGrid>
                <a:gridCol w="21945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621792">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시험</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ICH Q5A(R2)</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FDA 2010 (백신)</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62179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유약 마우스</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성숙 마우스</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발육란</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62179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기니피그</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4"/>
                  </a:ext>
                </a:extLst>
              </a:tr>
              <a:tr h="62179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면제 세포주</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CHO · NS0 · SP2/0</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5"/>
          <p:cNvSpPr txBox="1"/>
          <p:nvPr/>
        </p:nvSpPr>
        <p:spPr>
          <a:xfrm>
            <a:off x="8138160" y="1783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0" name="Text 6"/>
          <p:cNvSpPr txBox="1"/>
          <p:nvPr/>
        </p:nvSpPr>
        <p:spPr>
          <a:xfrm>
            <a:off x="8641080" y="1746504"/>
            <a:ext cx="297180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마우스 · 발육란</a:t>
            </a:r>
            <a:endParaRPr lang="en-US" sz="1800" dirty="0"/>
          </a:p>
        </p:txBody>
      </p:sp>
      <p:sp>
        <p:nvSpPr>
          <p:cNvPr id="11" name="Text 7"/>
          <p:cNvSpPr txBox="1"/>
          <p:nvPr/>
        </p:nvSpPr>
        <p:spPr>
          <a:xfrm>
            <a:off x="8641080" y="2130552"/>
            <a:ext cx="297180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ICH · FDA 공통</a:t>
            </a:r>
            <a:endParaRPr lang="en-US" sz="1150" dirty="0"/>
          </a:p>
        </p:txBody>
      </p:sp>
      <p:sp>
        <p:nvSpPr>
          <p:cNvPr id="12" name="Shape 8"/>
          <p:cNvSpPr/>
          <p:nvPr/>
        </p:nvSpPr>
        <p:spPr>
          <a:xfrm>
            <a:off x="8138160" y="2843784"/>
            <a:ext cx="3474720" cy="0"/>
          </a:xfrm>
          <a:prstGeom prst="line">
            <a:avLst/>
          </a:prstGeom>
          <a:noFill/>
          <a:ln w="9525">
            <a:solidFill>
              <a:srgbClr val="D9D9D9"/>
            </a:solidFill>
            <a:prstDash val="solid"/>
          </a:ln>
        </p:spPr>
        <p:txBody>
          <a:bodyPr/>
          <a:lstStyle/>
          <a:p>
            <a:endParaRPr lang="ko-KR" altLang="en-US"/>
          </a:p>
        </p:txBody>
      </p:sp>
      <p:sp>
        <p:nvSpPr>
          <p:cNvPr id="7" name="Text 9"/>
          <p:cNvSpPr txBox="1"/>
          <p:nvPr/>
        </p:nvSpPr>
        <p:spPr>
          <a:xfrm>
            <a:off x="8138160" y="2971800"/>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02</a:t>
            </a:r>
            <a:endParaRPr lang="en-US" sz="1200" dirty="0"/>
          </a:p>
        </p:txBody>
      </p:sp>
      <p:sp>
        <p:nvSpPr>
          <p:cNvPr id="14" name="Text 10"/>
          <p:cNvSpPr txBox="1"/>
          <p:nvPr/>
        </p:nvSpPr>
        <p:spPr>
          <a:xfrm>
            <a:off x="8641080" y="2935224"/>
            <a:ext cx="297180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기니피그</a:t>
            </a:r>
            <a:endParaRPr lang="en-US" sz="1800" dirty="0"/>
          </a:p>
        </p:txBody>
      </p:sp>
      <p:sp>
        <p:nvSpPr>
          <p:cNvPr id="15" name="Text 11"/>
          <p:cNvSpPr txBox="1"/>
          <p:nvPr/>
        </p:nvSpPr>
        <p:spPr>
          <a:xfrm>
            <a:off x="8641080" y="3319272"/>
            <a:ext cx="297180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FDA 2010 백신 세포기질</a:t>
            </a:r>
            <a:endParaRPr lang="en-US" sz="1150" dirty="0"/>
          </a:p>
        </p:txBody>
      </p:sp>
      <p:sp>
        <p:nvSpPr>
          <p:cNvPr id="16" name="Shape 12"/>
          <p:cNvSpPr/>
          <p:nvPr/>
        </p:nvSpPr>
        <p:spPr>
          <a:xfrm>
            <a:off x="8138160" y="4032504"/>
            <a:ext cx="3474720" cy="0"/>
          </a:xfrm>
          <a:prstGeom prst="line">
            <a:avLst/>
          </a:prstGeom>
          <a:noFill/>
          <a:ln w="9525">
            <a:solidFill>
              <a:srgbClr val="D9D9D9"/>
            </a:solidFill>
            <a:prstDash val="solid"/>
          </a:ln>
        </p:spPr>
        <p:txBody>
          <a:bodyPr/>
          <a:lstStyle/>
          <a:p>
            <a:endParaRPr lang="ko-KR" altLang="en-US"/>
          </a:p>
        </p:txBody>
      </p:sp>
      <p:sp>
        <p:nvSpPr>
          <p:cNvPr id="17" name="Text 13"/>
          <p:cNvSpPr txBox="1"/>
          <p:nvPr/>
        </p:nvSpPr>
        <p:spPr>
          <a:xfrm>
            <a:off x="8138160" y="416052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18" name="Text 14"/>
          <p:cNvSpPr txBox="1"/>
          <p:nvPr/>
        </p:nvSpPr>
        <p:spPr>
          <a:xfrm>
            <a:off x="8641080" y="4123944"/>
            <a:ext cx="297180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위해성 평가 기반</a:t>
            </a:r>
            <a:endParaRPr lang="en-US" sz="1800" dirty="0"/>
          </a:p>
        </p:txBody>
      </p:sp>
      <p:sp>
        <p:nvSpPr>
          <p:cNvPr id="19" name="Text 15"/>
          <p:cNvSpPr txBox="1"/>
          <p:nvPr/>
        </p:nvSpPr>
        <p:spPr>
          <a:xfrm>
            <a:off x="8641080" y="4507992"/>
            <a:ext cx="297180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특성 분석된 세포주 면제</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항체생산시험 · PCR</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Table 3 · §3.2.5</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13</a:t>
            </a:r>
            <a:endParaRPr lang="en-US" sz="900" dirty="0"/>
          </a:p>
        </p:txBody>
      </p:sp>
      <p:sp>
        <p:nvSpPr>
          <p:cNvPr id="8" name="Text 5"/>
          <p:cNvSpPr txBox="1"/>
          <p:nvPr/>
        </p:nvSpPr>
        <p:spPr>
          <a:xfrm>
            <a:off x="548640" y="1920240"/>
            <a:ext cx="11064240" cy="1188720"/>
          </a:xfrm>
          <a:prstGeom prst="rect">
            <a:avLst/>
          </a:prstGeom>
          <a:noFill/>
          <a:ln/>
        </p:spPr>
        <p:txBody>
          <a:bodyPr wrap="square" lIns="0" tIns="0" rIns="0" bIns="0" rtlCol="0" anchor="ctr"/>
          <a:lstStyle/>
          <a:p>
            <a:pPr marL="0" indent="0">
              <a:buNone/>
            </a:pPr>
            <a:r>
              <a:rPr lang="en-US" sz="4800" b="1" dirty="0">
                <a:solidFill>
                  <a:srgbClr val="000080"/>
                </a:solidFill>
                <a:latin typeface="Malgun Gothic" pitchFamily="34" charset="0"/>
                <a:ea typeface="Malgun Gothic" pitchFamily="34" charset="-122"/>
                <a:cs typeface="Malgun Gothic" pitchFamily="34" charset="-120"/>
              </a:rPr>
              <a:t>표적 목록 = </a:t>
            </a:r>
            <a:r>
              <a:rPr lang="en-US" sz="4800" b="1" dirty="0">
                <a:solidFill>
                  <a:srgbClr val="000080"/>
                </a:solidFill>
                <a:highlight>
                  <a:srgbClr val="FFA500"/>
                </a:highlight>
                <a:latin typeface="Malgun Gothic" pitchFamily="34" charset="0"/>
                <a:ea typeface="Malgun Gothic" pitchFamily="34" charset="-122"/>
                <a:cs typeface="Malgun Gothic" pitchFamily="34" charset="-120"/>
              </a:rPr>
              <a:t>검출 범위</a:t>
            </a:r>
            <a:endParaRPr lang="en-US" sz="4800" dirty="0"/>
          </a:p>
        </p:txBody>
      </p:sp>
      <p:sp>
        <p:nvSpPr>
          <p:cNvPr id="9" name="Text 6"/>
          <p:cNvSpPr txBox="1"/>
          <p:nvPr/>
        </p:nvSpPr>
        <p:spPr>
          <a:xfrm>
            <a:off x="640080" y="39776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설치류 세포 · 원료 노출 시</a:t>
            </a:r>
            <a:endParaRPr lang="en-US" sz="1150" dirty="0"/>
          </a:p>
        </p:txBody>
      </p:sp>
      <p:sp>
        <p:nvSpPr>
          <p:cNvPr id="10" name="Text 7"/>
          <p:cNvSpPr txBox="1"/>
          <p:nvPr/>
        </p:nvSpPr>
        <p:spPr>
          <a:xfrm>
            <a:off x="640080" y="43251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Arial" pitchFamily="34" charset="0"/>
                <a:ea typeface="Arial" pitchFamily="34" charset="-122"/>
                <a:cs typeface="Arial" pitchFamily="34" charset="-120"/>
              </a:rPr>
              <a:t>MAP · HAP · RAP</a:t>
            </a:r>
            <a:endParaRPr lang="en-US" sz="2400" dirty="0"/>
          </a:p>
        </p:txBody>
      </p:sp>
      <p:sp>
        <p:nvSpPr>
          <p:cNvPr id="11" name="Shape 8"/>
          <p:cNvSpPr/>
          <p:nvPr/>
        </p:nvSpPr>
        <p:spPr>
          <a:xfrm>
            <a:off x="4145280" y="3977640"/>
            <a:ext cx="0" cy="1051560"/>
          </a:xfrm>
          <a:prstGeom prst="line">
            <a:avLst/>
          </a:prstGeom>
          <a:noFill/>
          <a:ln w="9525">
            <a:solidFill>
              <a:srgbClr val="D9D9D9"/>
            </a:solidFill>
            <a:prstDash val="solid"/>
          </a:ln>
        </p:spPr>
        <p:txBody>
          <a:bodyPr/>
          <a:lstStyle/>
          <a:p>
            <a:endParaRPr lang="ko-KR" altLang="en-US"/>
          </a:p>
        </p:txBody>
      </p:sp>
      <p:sp>
        <p:nvSpPr>
          <p:cNvPr id="12" name="Text 9"/>
          <p:cNvSpPr txBox="1"/>
          <p:nvPr/>
        </p:nvSpPr>
        <p:spPr>
          <a:xfrm>
            <a:off x="4328160" y="39776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대상 바이러스 목록</a:t>
            </a:r>
            <a:endParaRPr lang="en-US" sz="1150" dirty="0"/>
          </a:p>
        </p:txBody>
      </p:sp>
      <p:sp>
        <p:nvSpPr>
          <p:cNvPr id="13" name="Text 10"/>
          <p:cNvSpPr txBox="1"/>
          <p:nvPr/>
        </p:nvSpPr>
        <p:spPr>
          <a:xfrm>
            <a:off x="4328160" y="43251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Arial" pitchFamily="34" charset="0"/>
                <a:ea typeface="Arial" pitchFamily="34" charset="-122"/>
                <a:cs typeface="Arial" pitchFamily="34" charset="-120"/>
              </a:rPr>
              <a:t>Q5A(R2) Table 3</a:t>
            </a:r>
            <a:endParaRPr lang="en-US" sz="2400" dirty="0"/>
          </a:p>
        </p:txBody>
      </p:sp>
      <p:sp>
        <p:nvSpPr>
          <p:cNvPr id="14" name="Shape 11"/>
          <p:cNvSpPr/>
          <p:nvPr/>
        </p:nvSpPr>
        <p:spPr>
          <a:xfrm>
            <a:off x="7833360" y="3977640"/>
            <a:ext cx="0" cy="1051560"/>
          </a:xfrm>
          <a:prstGeom prst="line">
            <a:avLst/>
          </a:prstGeom>
          <a:noFill/>
          <a:ln w="9525">
            <a:solidFill>
              <a:srgbClr val="D9D9D9"/>
            </a:solidFill>
            <a:prstDash val="solid"/>
          </a:ln>
        </p:spPr>
        <p:txBody>
          <a:bodyPr/>
          <a:lstStyle/>
          <a:p>
            <a:endParaRPr lang="ko-KR" altLang="en-US"/>
          </a:p>
        </p:txBody>
      </p:sp>
      <p:sp>
        <p:nvSpPr>
          <p:cNvPr id="15" name="Text 12"/>
          <p:cNvSpPr txBox="1"/>
          <p:nvPr/>
        </p:nvSpPr>
        <p:spPr>
          <a:xfrm>
            <a:off x="8016240" y="39776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알려진 표적 전용</a:t>
            </a:r>
            <a:endParaRPr lang="en-US" sz="1150" dirty="0"/>
          </a:p>
        </p:txBody>
      </p:sp>
      <p:sp>
        <p:nvSpPr>
          <p:cNvPr id="16" name="Text 13"/>
          <p:cNvSpPr txBox="1"/>
          <p:nvPr/>
        </p:nvSpPr>
        <p:spPr>
          <a:xfrm>
            <a:off x="8016240" y="43251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종특이 PCR</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내인성: 정량의 대상</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Table 1 (Tests for retroviruses and other endogenous viruses) · FDA 2010 Cell Substrates Guidance</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14</a:t>
            </a:r>
            <a:endParaRPr lang="en-US" sz="900" dirty="0"/>
          </a:p>
        </p:txBody>
      </p:sp>
      <p:sp>
        <p:nvSpPr>
          <p:cNvPr id="8" name="Text 5"/>
          <p:cNvSpPr txBox="1"/>
          <p:nvPr/>
        </p:nvSpPr>
        <p:spPr>
          <a:xfrm>
            <a:off x="548640" y="1828800"/>
            <a:ext cx="4572000" cy="182880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존재를</a:t>
            </a:r>
            <a:endParaRPr lang="en-US" sz="4000" dirty="0"/>
          </a:p>
          <a:p>
            <a:pPr marL="0" indent="0">
              <a:buNone/>
            </a:pPr>
            <a:r>
              <a:rPr lang="en-US" sz="4000" b="1" dirty="0">
                <a:solidFill>
                  <a:srgbClr val="000080"/>
                </a:solidFill>
                <a:latin typeface="Malgun Gothic" pitchFamily="34" charset="0"/>
                <a:ea typeface="Malgun Gothic" pitchFamily="34" charset="-122"/>
                <a:cs typeface="Malgun Gothic" pitchFamily="34" charset="-120"/>
              </a:rPr>
              <a:t>전제로 한다</a:t>
            </a:r>
            <a:endParaRPr lang="en-US" sz="4000" dirty="0"/>
          </a:p>
        </p:txBody>
      </p:sp>
      <p:sp>
        <p:nvSpPr>
          <p:cNvPr id="9" name="Text 6"/>
          <p:cNvSpPr txBox="1"/>
          <p:nvPr/>
        </p:nvSpPr>
        <p:spPr>
          <a:xfrm>
            <a:off x="548640" y="4023360"/>
            <a:ext cx="4754880" cy="8229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예  CHO 레트로바이러스 유사입자 → 정량 + 공정 제거 · 불활화</a:t>
            </a:r>
            <a:endParaRPr lang="en-US" sz="1300" dirty="0"/>
          </a:p>
        </p:txBody>
      </p:sp>
      <p:sp>
        <p:nvSpPr>
          <p:cNvPr id="10" name="Shape 7"/>
          <p:cNvSpPr/>
          <p:nvPr/>
        </p:nvSpPr>
        <p:spPr>
          <a:xfrm>
            <a:off x="5852160" y="1691640"/>
            <a:ext cx="5760720" cy="1143000"/>
          </a:xfrm>
          <a:prstGeom prst="rect">
            <a:avLst/>
          </a:prstGeom>
          <a:solidFill>
            <a:srgbClr val="F2F2F2"/>
          </a:solidFill>
          <a:ln w="12700">
            <a:solidFill>
              <a:srgbClr val="F2F2F2"/>
            </a:solidFill>
            <a:prstDash val="solid"/>
          </a:ln>
        </p:spPr>
        <p:txBody>
          <a:bodyPr/>
          <a:lstStyle/>
          <a:p>
            <a:endParaRPr lang="ko-KR" altLang="en-US"/>
          </a:p>
        </p:txBody>
      </p:sp>
      <p:sp>
        <p:nvSpPr>
          <p:cNvPr id="11" name="Text 8"/>
          <p:cNvSpPr txBox="1"/>
          <p:nvPr/>
        </p:nvSpPr>
        <p:spPr>
          <a:xfrm>
            <a:off x="6126480" y="1691640"/>
            <a:ext cx="2743200" cy="1143000"/>
          </a:xfrm>
          <a:prstGeom prst="rect">
            <a:avLst/>
          </a:prstGeom>
          <a:noFill/>
          <a:ln/>
        </p:spPr>
        <p:txBody>
          <a:bodyPr wrap="square" lIns="0" tIns="0" rIns="0" bIns="0" rtlCol="0" anchor="ctr"/>
          <a:lstStyle/>
          <a:p>
            <a:pPr marL="0" indent="0">
              <a:buNone/>
            </a:pPr>
            <a:r>
              <a:rPr lang="en-US" sz="2600" b="1" dirty="0">
                <a:solidFill>
                  <a:srgbClr val="000080"/>
                </a:solidFill>
                <a:latin typeface="Arial" pitchFamily="34" charset="0"/>
                <a:ea typeface="Arial" pitchFamily="34" charset="-122"/>
                <a:cs typeface="Arial" pitchFamily="34" charset="-120"/>
              </a:rPr>
              <a:t>PERT</a:t>
            </a:r>
            <a:endParaRPr lang="en-US" sz="2600" dirty="0"/>
          </a:p>
        </p:txBody>
      </p:sp>
      <p:sp>
        <p:nvSpPr>
          <p:cNvPr id="12" name="Text 9"/>
          <p:cNvSpPr txBox="1"/>
          <p:nvPr/>
        </p:nvSpPr>
        <p:spPr>
          <a:xfrm>
            <a:off x="8778240" y="1691640"/>
            <a:ext cx="2743200" cy="1143000"/>
          </a:xfrm>
          <a:prstGeom prst="rect">
            <a:avLst/>
          </a:prstGeom>
          <a:noFill/>
          <a:ln/>
        </p:spPr>
        <p:txBody>
          <a:bodyPr wrap="square" lIns="0" tIns="0" rIns="0" bIns="0" rtlCol="0" anchor="ct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역전사효소 활성</a:t>
            </a:r>
            <a:endParaRPr lang="en-US" sz="1500" dirty="0"/>
          </a:p>
        </p:txBody>
      </p:sp>
      <p:sp>
        <p:nvSpPr>
          <p:cNvPr id="13" name="Shape 10"/>
          <p:cNvSpPr/>
          <p:nvPr/>
        </p:nvSpPr>
        <p:spPr>
          <a:xfrm>
            <a:off x="5852160" y="3063240"/>
            <a:ext cx="5760720" cy="1143000"/>
          </a:xfrm>
          <a:prstGeom prst="rect">
            <a:avLst/>
          </a:prstGeom>
          <a:solidFill>
            <a:srgbClr val="FFA500"/>
          </a:solidFill>
          <a:ln w="12700">
            <a:solidFill>
              <a:srgbClr val="FFA500"/>
            </a:solidFill>
            <a:prstDash val="solid"/>
          </a:ln>
        </p:spPr>
        <p:txBody>
          <a:bodyPr/>
          <a:lstStyle/>
          <a:p>
            <a:endParaRPr lang="ko-KR" altLang="en-US"/>
          </a:p>
        </p:txBody>
      </p:sp>
      <p:sp>
        <p:nvSpPr>
          <p:cNvPr id="14" name="Text 11"/>
          <p:cNvSpPr txBox="1"/>
          <p:nvPr/>
        </p:nvSpPr>
        <p:spPr>
          <a:xfrm>
            <a:off x="6126480" y="3063240"/>
            <a:ext cx="2743200" cy="1143000"/>
          </a:xfrm>
          <a:prstGeom prst="rect">
            <a:avLst/>
          </a:prstGeom>
          <a:noFill/>
          <a:ln/>
        </p:spPr>
        <p:txBody>
          <a:bodyPr wrap="square" lIns="0" tIns="0" rIns="0" bIns="0" rtlCol="0" anchor="ctr"/>
          <a:lstStyle/>
          <a:p>
            <a:pPr marL="0" indent="0">
              <a:buNone/>
            </a:pPr>
            <a:r>
              <a:rPr lang="en-US" sz="2600" b="1" dirty="0">
                <a:solidFill>
                  <a:srgbClr val="000080"/>
                </a:solidFill>
                <a:latin typeface="Arial" pitchFamily="34" charset="0"/>
                <a:ea typeface="Arial" pitchFamily="34" charset="-122"/>
                <a:cs typeface="Arial" pitchFamily="34" charset="-120"/>
              </a:rPr>
              <a:t>TEM</a:t>
            </a:r>
            <a:endParaRPr lang="en-US" sz="2600" dirty="0"/>
          </a:p>
        </p:txBody>
      </p:sp>
      <p:sp>
        <p:nvSpPr>
          <p:cNvPr id="15" name="Text 12"/>
          <p:cNvSpPr txBox="1"/>
          <p:nvPr/>
        </p:nvSpPr>
        <p:spPr>
          <a:xfrm>
            <a:off x="8778240" y="3063240"/>
            <a:ext cx="2743200" cy="1143000"/>
          </a:xfrm>
          <a:prstGeom prst="rect">
            <a:avLst/>
          </a:prstGeom>
          <a:noFill/>
          <a:ln/>
        </p:spPr>
        <p:txBody>
          <a:bodyPr wrap="square" lIns="0" tIns="0" rIns="0" bIns="0" rtlCol="0" anchor="ct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입자 형태 · 정량</a:t>
            </a:r>
            <a:endParaRPr lang="en-US" sz="1500" dirty="0"/>
          </a:p>
        </p:txBody>
      </p:sp>
      <p:sp>
        <p:nvSpPr>
          <p:cNvPr id="16" name="Shape 13"/>
          <p:cNvSpPr/>
          <p:nvPr/>
        </p:nvSpPr>
        <p:spPr>
          <a:xfrm>
            <a:off x="5852160" y="4434840"/>
            <a:ext cx="5760720" cy="1143000"/>
          </a:xfrm>
          <a:prstGeom prst="rect">
            <a:avLst/>
          </a:prstGeom>
          <a:solidFill>
            <a:srgbClr val="F2F2F2"/>
          </a:solidFill>
          <a:ln w="12700">
            <a:solidFill>
              <a:srgbClr val="F2F2F2"/>
            </a:solidFill>
            <a:prstDash val="solid"/>
          </a:ln>
        </p:spPr>
        <p:txBody>
          <a:bodyPr/>
          <a:lstStyle/>
          <a:p>
            <a:endParaRPr lang="ko-KR" altLang="en-US"/>
          </a:p>
        </p:txBody>
      </p:sp>
      <p:sp>
        <p:nvSpPr>
          <p:cNvPr id="17" name="Text 14"/>
          <p:cNvSpPr txBox="1"/>
          <p:nvPr/>
        </p:nvSpPr>
        <p:spPr>
          <a:xfrm>
            <a:off x="6126480" y="4434840"/>
            <a:ext cx="2743200" cy="1143000"/>
          </a:xfrm>
          <a:prstGeom prst="rect">
            <a:avLst/>
          </a:prstGeom>
          <a:noFill/>
          <a:ln/>
        </p:spPr>
        <p:txBody>
          <a:bodyPr wrap="square" lIns="0" tIns="0" rIns="0" bIns="0" rtlCol="0" anchor="ctr"/>
          <a:lstStyle/>
          <a:p>
            <a:pPr marL="0" indent="0">
              <a:buNone/>
            </a:pPr>
            <a:r>
              <a:rPr lang="en-US" sz="2600" b="1" dirty="0">
                <a:solidFill>
                  <a:srgbClr val="000080"/>
                </a:solidFill>
                <a:latin typeface="Malgun Gothic" pitchFamily="34" charset="0"/>
                <a:ea typeface="Malgun Gothic" pitchFamily="34" charset="-122"/>
                <a:cs typeface="Malgun Gothic" pitchFamily="34" charset="-120"/>
              </a:rPr>
              <a:t>감염성 시험</a:t>
            </a:r>
            <a:endParaRPr lang="en-US" sz="2600" dirty="0"/>
          </a:p>
        </p:txBody>
      </p:sp>
      <p:sp>
        <p:nvSpPr>
          <p:cNvPr id="18" name="Text 15"/>
          <p:cNvSpPr txBox="1"/>
          <p:nvPr/>
        </p:nvSpPr>
        <p:spPr>
          <a:xfrm>
            <a:off x="8778240" y="4434840"/>
            <a:ext cx="2743200" cy="1143000"/>
          </a:xfrm>
          <a:prstGeom prst="rect">
            <a:avLst/>
          </a:prstGeom>
          <a:noFill/>
          <a:ln/>
        </p:spPr>
        <p:txBody>
          <a:bodyPr wrap="square" lIns="0" tIns="0" rIns="0" bIns="0" rtlCol="0" anchor="ct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복제능 확인</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전통법의 세 가지 한계</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§3.2.5.2 (in vitro·in vivo의 검출 폭 한계 언급) · 사례는 파트 4 참조</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474720"/>
        </p:xfrm>
        <a:graphic>
          <a:graphicData uri="http://schemas.openxmlformats.org/drawingml/2006/table">
            <a:tbl>
              <a:tblPr/>
              <a:tblGrid>
                <a:gridCol w="25603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868680">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한계</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원리</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관련 사례</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868680">
                <a:tc>
                  <a:txBody>
                    <a:bodyPr/>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표적 기반</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목록 · 프라이머 밖은 음성</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FBS · trypsin / Rotarix</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증식 기반</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비증식 · 잠복 상태는 음성</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Vero · High Five 전사체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검출 폭</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동물 반응 바이러스군 제한</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In vivo 9종 중 5종</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5"/>
          <p:cNvSpPr txBox="1"/>
          <p:nvPr/>
        </p:nvSpPr>
        <p:spPr>
          <a:xfrm>
            <a:off x="548640" y="5440680"/>
            <a:ext cx="11064240" cy="36576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전통법의 실제 검출 기록도 함께 다룬다 — 10년간 bulk harvest 시험 (파트 4)</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16</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5" name="Text 2"/>
          <p:cNvSpPr txBox="1"/>
          <p:nvPr/>
        </p:nvSpPr>
        <p:spPr>
          <a:xfrm>
            <a:off x="822960" y="2148840"/>
            <a:ext cx="2743200" cy="1188720"/>
          </a:xfrm>
          <a:prstGeom prst="rect">
            <a:avLst/>
          </a:prstGeom>
          <a:noFill/>
          <a:ln/>
        </p:spPr>
        <p:txBody>
          <a:bodyPr wrap="square" lIns="0" tIns="0" rIns="0" bIns="0" rtlCol="0" anchor="t"/>
          <a:lstStyle/>
          <a:p>
            <a:pPr marL="0" indent="0">
              <a:buNone/>
            </a:pPr>
            <a:r>
              <a:rPr lang="en-US" sz="8000" b="1" dirty="0">
                <a:solidFill>
                  <a:srgbClr val="000080"/>
                </a:solidFill>
                <a:latin typeface="Arial" pitchFamily="34" charset="0"/>
                <a:ea typeface="Arial" pitchFamily="34" charset="-122"/>
                <a:cs typeface="Arial" pitchFamily="34" charset="-120"/>
              </a:rPr>
              <a:t>03</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NGS 원리와 분석</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marL="0" indent="0">
              <a:buNone/>
            </a:pPr>
            <a:r>
              <a:rPr lang="en-US" sz="1800" dirty="0">
                <a:solidFill>
                  <a:srgbClr val="595959"/>
                </a:solidFill>
                <a:latin typeface="Malgun Gothic" pitchFamily="34" charset="0"/>
                <a:ea typeface="Malgun Gothic" pitchFamily="34" charset="-122"/>
                <a:cs typeface="Malgun Gothic" pitchFamily="34" charset="-120"/>
              </a:rPr>
              <a:t>Chemistry   ·   전처리   ·   In-silico</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marL="0" indent="0">
              <a:buNone/>
            </a:pPr>
            <a:r>
              <a:rPr lang="en-US" sz="1200" dirty="0">
                <a:solidFill>
                  <a:srgbClr val="7F7F7F"/>
                </a:solidFill>
                <a:latin typeface="Malgun Gothic" pitchFamily="34" charset="0"/>
                <a:ea typeface="Malgun Gothic" pitchFamily="34" charset="-122"/>
                <a:cs typeface="Malgun Gothic" pitchFamily="34" charset="-120"/>
              </a:rPr>
              <a:t>11분</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질문이 다르다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Chiu CY, Miller SA. Nat Rev Genet 2019;20:341 · Ph. Eur. 2.6.41 (EDQM 2025)</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17</a:t>
            </a:r>
            <a:endParaRPr lang="en-US" sz="900" dirty="0"/>
          </a:p>
        </p:txBody>
      </p:sp>
      <p:sp>
        <p:nvSpPr>
          <p:cNvPr id="8" name="Text 5"/>
          <p:cNvSpPr txBox="1"/>
          <p:nvPr/>
        </p:nvSpPr>
        <p:spPr>
          <a:xfrm>
            <a:off x="548640" y="1645920"/>
            <a:ext cx="1828800" cy="822960"/>
          </a:xfrm>
          <a:prstGeom prst="rect">
            <a:avLst/>
          </a:prstGeom>
          <a:noFill/>
          <a:ln/>
        </p:spPr>
        <p:txBody>
          <a:bodyPr wrap="square" lIns="0" tIns="0" rIns="0" bIns="0" rtlCol="0" anchor="ctr"/>
          <a:lstStyle/>
          <a:p>
            <a:pPr marL="0" indent="0">
              <a:buNone/>
            </a:pPr>
            <a:r>
              <a:rPr lang="en-US" sz="3000" b="1" dirty="0">
                <a:solidFill>
                  <a:srgbClr val="7F7F7F"/>
                </a:solidFill>
                <a:latin typeface="Arial" pitchFamily="34" charset="0"/>
                <a:ea typeface="Arial" pitchFamily="34" charset="-122"/>
                <a:cs typeface="Arial" pitchFamily="34" charset="-120"/>
              </a:rPr>
              <a:t>PCR</a:t>
            </a:r>
            <a:endParaRPr lang="en-US" sz="3000" dirty="0"/>
          </a:p>
        </p:txBody>
      </p:sp>
      <p:sp>
        <p:nvSpPr>
          <p:cNvPr id="9" name="Text 6"/>
          <p:cNvSpPr txBox="1"/>
          <p:nvPr/>
        </p:nvSpPr>
        <p:spPr>
          <a:xfrm>
            <a:off x="2377440" y="1645920"/>
            <a:ext cx="8229600" cy="822960"/>
          </a:xfrm>
          <a:prstGeom prst="rect">
            <a:avLst/>
          </a:prstGeom>
          <a:noFill/>
          <a:ln/>
        </p:spPr>
        <p:txBody>
          <a:bodyPr wrap="square" lIns="0" tIns="0" rIns="0" bIns="0" rtlCol="0" anchor="ctr"/>
          <a:lstStyle/>
          <a:p>
            <a:pPr marL="0" indent="0">
              <a:buNone/>
            </a:pPr>
            <a:r>
              <a:rPr lang="en-US" sz="3400" b="1" dirty="0">
                <a:solidFill>
                  <a:srgbClr val="7F7F7F"/>
                </a:solidFill>
                <a:latin typeface="Malgun Gothic" pitchFamily="34" charset="0"/>
                <a:ea typeface="Malgun Gothic" pitchFamily="34" charset="-122"/>
                <a:cs typeface="Malgun Gothic" pitchFamily="34" charset="-120"/>
              </a:rPr>
              <a:t>이것이 있는가?</a:t>
            </a:r>
            <a:endParaRPr lang="en-US" sz="3400" dirty="0"/>
          </a:p>
        </p:txBody>
      </p:sp>
      <p:sp>
        <p:nvSpPr>
          <p:cNvPr id="10" name="Text 7"/>
          <p:cNvSpPr txBox="1"/>
          <p:nvPr/>
        </p:nvSpPr>
        <p:spPr>
          <a:xfrm>
            <a:off x="548640" y="2606040"/>
            <a:ext cx="1828800" cy="822960"/>
          </a:xfrm>
          <a:prstGeom prst="rect">
            <a:avLst/>
          </a:prstGeom>
          <a:noFill/>
          <a:ln/>
        </p:spPr>
        <p:txBody>
          <a:bodyPr wrap="square" lIns="0" tIns="0" rIns="0" bIns="0" rtlCol="0" anchor="ctr"/>
          <a:lstStyle/>
          <a:p>
            <a:pPr marL="0" indent="0">
              <a:buNone/>
            </a:pPr>
            <a:r>
              <a:rPr lang="en-US" sz="3000" b="1" dirty="0">
                <a:solidFill>
                  <a:srgbClr val="000080"/>
                </a:solidFill>
                <a:latin typeface="Arial" pitchFamily="34" charset="0"/>
                <a:ea typeface="Arial" pitchFamily="34" charset="-122"/>
                <a:cs typeface="Arial" pitchFamily="34" charset="-120"/>
              </a:rPr>
              <a:t>NGS</a:t>
            </a:r>
            <a:endParaRPr lang="en-US" sz="3000" dirty="0"/>
          </a:p>
        </p:txBody>
      </p:sp>
      <p:sp>
        <p:nvSpPr>
          <p:cNvPr id="11" name="Text 8"/>
          <p:cNvSpPr txBox="1"/>
          <p:nvPr/>
        </p:nvSpPr>
        <p:spPr>
          <a:xfrm>
            <a:off x="2377440" y="2606040"/>
            <a:ext cx="8229600" cy="822960"/>
          </a:xfrm>
          <a:prstGeom prst="rect">
            <a:avLst/>
          </a:prstGeom>
          <a:noFill/>
          <a:ln/>
        </p:spPr>
        <p:txBody>
          <a:bodyPr wrap="square" lIns="0" tIns="0" rIns="0" bIns="0" rtlCol="0" anchor="ctr"/>
          <a:lstStyle/>
          <a:p>
            <a:pPr marL="0" indent="0">
              <a:buNone/>
            </a:pPr>
            <a:r>
              <a:rPr lang="en-US" sz="3400" b="1" dirty="0">
                <a:solidFill>
                  <a:srgbClr val="000080"/>
                </a:solidFill>
                <a:highlight>
                  <a:srgbClr val="FFA500"/>
                </a:highlight>
                <a:latin typeface="Malgun Gothic" pitchFamily="34" charset="0"/>
                <a:ea typeface="Malgun Gothic" pitchFamily="34" charset="-122"/>
                <a:cs typeface="Malgun Gothic" pitchFamily="34" charset="-120"/>
              </a:rPr>
              <a:t>무엇이</a:t>
            </a:r>
            <a:r>
              <a:rPr lang="en-US" sz="3400" b="1" dirty="0">
                <a:solidFill>
                  <a:srgbClr val="000080"/>
                </a:solidFill>
                <a:latin typeface="Malgun Gothic" pitchFamily="34" charset="0"/>
                <a:ea typeface="Malgun Gothic" pitchFamily="34" charset="-122"/>
                <a:cs typeface="Malgun Gothic" pitchFamily="34" charset="-120"/>
              </a:rPr>
              <a:t> 있는가?</a:t>
            </a:r>
            <a:endParaRPr lang="en-US" sz="3400" dirty="0"/>
          </a:p>
        </p:txBody>
      </p:sp>
      <p:sp>
        <p:nvSpPr>
          <p:cNvPr id="12" name="Shape 9"/>
          <p:cNvSpPr/>
          <p:nvPr/>
        </p:nvSpPr>
        <p:spPr>
          <a:xfrm>
            <a:off x="548640" y="4526280"/>
            <a:ext cx="1645920" cy="685800"/>
          </a:xfrm>
          <a:prstGeom prst="rect">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548640"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검체</a:t>
            </a:r>
            <a:endParaRPr lang="en-US" sz="1500" dirty="0"/>
          </a:p>
        </p:txBody>
      </p:sp>
      <p:sp>
        <p:nvSpPr>
          <p:cNvPr id="14" name="Shape 11"/>
          <p:cNvSpPr/>
          <p:nvPr/>
        </p:nvSpPr>
        <p:spPr>
          <a:xfrm>
            <a:off x="2212848" y="4869180"/>
            <a:ext cx="201168" cy="0"/>
          </a:xfrm>
          <a:prstGeom prst="line">
            <a:avLst/>
          </a:prstGeom>
          <a:noFill/>
          <a:ln w="19050">
            <a:solidFill>
              <a:srgbClr val="7F7F7F"/>
            </a:solidFill>
            <a:prstDash val="solid"/>
            <a:tailEnd type="triangle"/>
          </a:ln>
        </p:spPr>
        <p:txBody>
          <a:bodyPr/>
          <a:lstStyle/>
          <a:p>
            <a:endParaRPr lang="ko-KR" altLang="en-US"/>
          </a:p>
        </p:txBody>
      </p:sp>
      <p:sp>
        <p:nvSpPr>
          <p:cNvPr id="15" name="Shape 12"/>
          <p:cNvSpPr/>
          <p:nvPr/>
        </p:nvSpPr>
        <p:spPr>
          <a:xfrm>
            <a:off x="2432304" y="4526280"/>
            <a:ext cx="1645920" cy="685800"/>
          </a:xfrm>
          <a:prstGeom prst="rect">
            <a:avLst/>
          </a:prstGeom>
          <a:solidFill>
            <a:srgbClr val="F2F2F2"/>
          </a:solidFill>
          <a:ln w="12700">
            <a:solidFill>
              <a:srgbClr val="F2F2F2"/>
            </a:solidFill>
            <a:prstDash val="solid"/>
          </a:ln>
        </p:spPr>
        <p:txBody>
          <a:bodyPr/>
          <a:lstStyle/>
          <a:p>
            <a:endParaRPr lang="ko-KR" altLang="en-US"/>
          </a:p>
        </p:txBody>
      </p:sp>
      <p:sp>
        <p:nvSpPr>
          <p:cNvPr id="16" name="Text 13"/>
          <p:cNvSpPr txBox="1"/>
          <p:nvPr/>
        </p:nvSpPr>
        <p:spPr>
          <a:xfrm>
            <a:off x="2432304"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전처리</a:t>
            </a:r>
            <a:endParaRPr lang="en-US" sz="1500" dirty="0"/>
          </a:p>
        </p:txBody>
      </p:sp>
      <p:sp>
        <p:nvSpPr>
          <p:cNvPr id="17" name="Shape 14"/>
          <p:cNvSpPr/>
          <p:nvPr/>
        </p:nvSpPr>
        <p:spPr>
          <a:xfrm>
            <a:off x="4096512" y="4869180"/>
            <a:ext cx="201168" cy="0"/>
          </a:xfrm>
          <a:prstGeom prst="line">
            <a:avLst/>
          </a:prstGeom>
          <a:noFill/>
          <a:ln w="19050">
            <a:solidFill>
              <a:srgbClr val="7F7F7F"/>
            </a:solidFill>
            <a:prstDash val="solid"/>
            <a:tailEnd type="triangle"/>
          </a:ln>
        </p:spPr>
        <p:txBody>
          <a:bodyPr/>
          <a:lstStyle/>
          <a:p>
            <a:endParaRPr lang="ko-KR" altLang="en-US"/>
          </a:p>
        </p:txBody>
      </p:sp>
      <p:sp>
        <p:nvSpPr>
          <p:cNvPr id="18" name="Shape 15"/>
          <p:cNvSpPr/>
          <p:nvPr/>
        </p:nvSpPr>
        <p:spPr>
          <a:xfrm>
            <a:off x="4315968" y="4526280"/>
            <a:ext cx="1645920" cy="685800"/>
          </a:xfrm>
          <a:prstGeom prst="rect">
            <a:avLst/>
          </a:prstGeom>
          <a:solidFill>
            <a:srgbClr val="F2F2F2"/>
          </a:solidFill>
          <a:ln w="12700">
            <a:solidFill>
              <a:srgbClr val="F2F2F2"/>
            </a:solidFill>
            <a:prstDash val="solid"/>
          </a:ln>
        </p:spPr>
        <p:txBody>
          <a:bodyPr/>
          <a:lstStyle/>
          <a:p>
            <a:endParaRPr lang="ko-KR" altLang="en-US"/>
          </a:p>
        </p:txBody>
      </p:sp>
      <p:sp>
        <p:nvSpPr>
          <p:cNvPr id="19" name="Text 16"/>
          <p:cNvSpPr txBox="1"/>
          <p:nvPr/>
        </p:nvSpPr>
        <p:spPr>
          <a:xfrm>
            <a:off x="4315968"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라이브러리</a:t>
            </a:r>
            <a:endParaRPr lang="en-US" sz="1500" dirty="0"/>
          </a:p>
        </p:txBody>
      </p:sp>
      <p:sp>
        <p:nvSpPr>
          <p:cNvPr id="20" name="Shape 17"/>
          <p:cNvSpPr/>
          <p:nvPr/>
        </p:nvSpPr>
        <p:spPr>
          <a:xfrm>
            <a:off x="5980176" y="4869180"/>
            <a:ext cx="201168" cy="0"/>
          </a:xfrm>
          <a:prstGeom prst="line">
            <a:avLst/>
          </a:prstGeom>
          <a:noFill/>
          <a:ln w="19050">
            <a:solidFill>
              <a:srgbClr val="7F7F7F"/>
            </a:solidFill>
            <a:prstDash val="solid"/>
            <a:tailEnd type="triangle"/>
          </a:ln>
        </p:spPr>
        <p:txBody>
          <a:bodyPr/>
          <a:lstStyle/>
          <a:p>
            <a:endParaRPr lang="ko-KR" altLang="en-US"/>
          </a:p>
        </p:txBody>
      </p:sp>
      <p:sp>
        <p:nvSpPr>
          <p:cNvPr id="21" name="Shape 18"/>
          <p:cNvSpPr/>
          <p:nvPr/>
        </p:nvSpPr>
        <p:spPr>
          <a:xfrm>
            <a:off x="6199632" y="4526280"/>
            <a:ext cx="1645920" cy="685800"/>
          </a:xfrm>
          <a:prstGeom prst="rect">
            <a:avLst/>
          </a:prstGeom>
          <a:solidFill>
            <a:srgbClr val="F2F2F2"/>
          </a:solidFill>
          <a:ln w="12700">
            <a:solidFill>
              <a:srgbClr val="F2F2F2"/>
            </a:solidFill>
            <a:prstDash val="solid"/>
          </a:ln>
        </p:spPr>
        <p:txBody>
          <a:bodyPr/>
          <a:lstStyle/>
          <a:p>
            <a:endParaRPr lang="ko-KR" altLang="en-US"/>
          </a:p>
        </p:txBody>
      </p:sp>
      <p:sp>
        <p:nvSpPr>
          <p:cNvPr id="22" name="Text 19"/>
          <p:cNvSpPr txBox="1"/>
          <p:nvPr/>
        </p:nvSpPr>
        <p:spPr>
          <a:xfrm>
            <a:off x="6199632"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시퀀싱</a:t>
            </a:r>
            <a:endParaRPr lang="en-US" sz="1500" dirty="0"/>
          </a:p>
        </p:txBody>
      </p:sp>
      <p:sp>
        <p:nvSpPr>
          <p:cNvPr id="23" name="Shape 20"/>
          <p:cNvSpPr/>
          <p:nvPr/>
        </p:nvSpPr>
        <p:spPr>
          <a:xfrm>
            <a:off x="7863840" y="4869180"/>
            <a:ext cx="201168" cy="0"/>
          </a:xfrm>
          <a:prstGeom prst="line">
            <a:avLst/>
          </a:prstGeom>
          <a:noFill/>
          <a:ln w="19050">
            <a:solidFill>
              <a:srgbClr val="7F7F7F"/>
            </a:solidFill>
            <a:prstDash val="solid"/>
            <a:tailEnd type="triangle"/>
          </a:ln>
        </p:spPr>
        <p:txBody>
          <a:bodyPr/>
          <a:lstStyle/>
          <a:p>
            <a:endParaRPr lang="ko-KR" altLang="en-US"/>
          </a:p>
        </p:txBody>
      </p:sp>
      <p:sp>
        <p:nvSpPr>
          <p:cNvPr id="24" name="Shape 21"/>
          <p:cNvSpPr/>
          <p:nvPr/>
        </p:nvSpPr>
        <p:spPr>
          <a:xfrm>
            <a:off x="8083296" y="4526280"/>
            <a:ext cx="1645920" cy="685800"/>
          </a:xfrm>
          <a:prstGeom prst="rect">
            <a:avLst/>
          </a:prstGeom>
          <a:solidFill>
            <a:srgbClr val="FFA500"/>
          </a:solidFill>
          <a:ln w="12700">
            <a:solidFill>
              <a:srgbClr val="FFA500"/>
            </a:solidFill>
            <a:prstDash val="solid"/>
          </a:ln>
        </p:spPr>
        <p:txBody>
          <a:bodyPr/>
          <a:lstStyle/>
          <a:p>
            <a:endParaRPr lang="ko-KR" altLang="en-US"/>
          </a:p>
        </p:txBody>
      </p:sp>
      <p:sp>
        <p:nvSpPr>
          <p:cNvPr id="25" name="Text 22"/>
          <p:cNvSpPr txBox="1"/>
          <p:nvPr/>
        </p:nvSpPr>
        <p:spPr>
          <a:xfrm>
            <a:off x="8083296"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In-silico</a:t>
            </a:r>
            <a:endParaRPr lang="en-US" sz="1500" dirty="0"/>
          </a:p>
        </p:txBody>
      </p:sp>
      <p:sp>
        <p:nvSpPr>
          <p:cNvPr id="26" name="Shape 23"/>
          <p:cNvSpPr/>
          <p:nvPr/>
        </p:nvSpPr>
        <p:spPr>
          <a:xfrm>
            <a:off x="9747504" y="4869180"/>
            <a:ext cx="201168" cy="0"/>
          </a:xfrm>
          <a:prstGeom prst="line">
            <a:avLst/>
          </a:prstGeom>
          <a:noFill/>
          <a:ln w="19050">
            <a:solidFill>
              <a:srgbClr val="7F7F7F"/>
            </a:solidFill>
            <a:prstDash val="solid"/>
            <a:tailEnd type="triangle"/>
          </a:ln>
        </p:spPr>
        <p:txBody>
          <a:bodyPr/>
          <a:lstStyle/>
          <a:p>
            <a:endParaRPr lang="ko-KR" altLang="en-US"/>
          </a:p>
        </p:txBody>
      </p:sp>
      <p:sp>
        <p:nvSpPr>
          <p:cNvPr id="27" name="Shape 24"/>
          <p:cNvSpPr/>
          <p:nvPr/>
        </p:nvSpPr>
        <p:spPr>
          <a:xfrm>
            <a:off x="9966960" y="4526280"/>
            <a:ext cx="1645920" cy="685800"/>
          </a:xfrm>
          <a:prstGeom prst="rect">
            <a:avLst/>
          </a:prstGeom>
          <a:solidFill>
            <a:srgbClr val="F2F2F2"/>
          </a:solidFill>
          <a:ln w="12700">
            <a:solidFill>
              <a:srgbClr val="F2F2F2"/>
            </a:solidFill>
            <a:prstDash val="solid"/>
          </a:ln>
        </p:spPr>
        <p:txBody>
          <a:bodyPr/>
          <a:lstStyle/>
          <a:p>
            <a:endParaRPr lang="ko-KR" altLang="en-US"/>
          </a:p>
        </p:txBody>
      </p:sp>
      <p:sp>
        <p:nvSpPr>
          <p:cNvPr id="28" name="Text 25"/>
          <p:cNvSpPr txBox="1"/>
          <p:nvPr/>
        </p:nvSpPr>
        <p:spPr>
          <a:xfrm>
            <a:off x="9966960"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확증시험</a:t>
            </a:r>
            <a:endParaRPr lang="en-US" sz="1500" dirty="0"/>
          </a:p>
        </p:txBody>
      </p:sp>
      <p:sp>
        <p:nvSpPr>
          <p:cNvPr id="29" name="Shape 26"/>
          <p:cNvSpPr/>
          <p:nvPr/>
        </p:nvSpPr>
        <p:spPr>
          <a:xfrm>
            <a:off x="548640" y="4224528"/>
            <a:ext cx="7296912" cy="0"/>
          </a:xfrm>
          <a:prstGeom prst="line">
            <a:avLst/>
          </a:prstGeom>
          <a:noFill/>
          <a:ln w="12700">
            <a:solidFill>
              <a:srgbClr val="000080"/>
            </a:solidFill>
            <a:prstDash val="solid"/>
          </a:ln>
        </p:spPr>
        <p:txBody>
          <a:bodyPr/>
          <a:lstStyle/>
          <a:p>
            <a:endParaRPr lang="ko-KR" altLang="en-US"/>
          </a:p>
        </p:txBody>
      </p:sp>
      <p:sp>
        <p:nvSpPr>
          <p:cNvPr id="30" name="Shape 27"/>
          <p:cNvSpPr/>
          <p:nvPr/>
        </p:nvSpPr>
        <p:spPr>
          <a:xfrm>
            <a:off x="548640" y="4224528"/>
            <a:ext cx="0" cy="164592"/>
          </a:xfrm>
          <a:prstGeom prst="line">
            <a:avLst/>
          </a:prstGeom>
          <a:noFill/>
          <a:ln w="12700">
            <a:solidFill>
              <a:srgbClr val="000080"/>
            </a:solidFill>
            <a:prstDash val="solid"/>
          </a:ln>
        </p:spPr>
        <p:txBody>
          <a:bodyPr/>
          <a:lstStyle/>
          <a:p>
            <a:endParaRPr lang="ko-KR" altLang="en-US"/>
          </a:p>
        </p:txBody>
      </p:sp>
      <p:sp>
        <p:nvSpPr>
          <p:cNvPr id="31" name="Shape 28"/>
          <p:cNvSpPr/>
          <p:nvPr/>
        </p:nvSpPr>
        <p:spPr>
          <a:xfrm>
            <a:off x="7845552" y="4224528"/>
            <a:ext cx="0" cy="164592"/>
          </a:xfrm>
          <a:prstGeom prst="line">
            <a:avLst/>
          </a:prstGeom>
          <a:noFill/>
          <a:ln w="12700">
            <a:solidFill>
              <a:srgbClr val="000080"/>
            </a:solidFill>
            <a:prstDash val="solid"/>
          </a:ln>
        </p:spPr>
        <p:txBody>
          <a:bodyPr/>
          <a:lstStyle/>
          <a:p>
            <a:endParaRPr lang="ko-KR" altLang="en-US"/>
          </a:p>
        </p:txBody>
      </p:sp>
      <p:sp>
        <p:nvSpPr>
          <p:cNvPr id="32" name="Text 29"/>
          <p:cNvSpPr txBox="1"/>
          <p:nvPr/>
        </p:nvSpPr>
        <p:spPr>
          <a:xfrm>
            <a:off x="548640" y="3794760"/>
            <a:ext cx="7296912" cy="365760"/>
          </a:xfrm>
          <a:prstGeom prst="rect">
            <a:avLst/>
          </a:prstGeom>
          <a:noFill/>
          <a:ln/>
        </p:spPr>
        <p:txBody>
          <a:bodyPr wrap="square" lIns="0" tIns="0" rIns="0" bIns="0" rtlCol="0" anchor="t"/>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Wet lab</a:t>
            </a:r>
            <a:endParaRPr lang="en-US" sz="1400" dirty="0"/>
          </a:p>
        </p:txBody>
      </p:sp>
      <p:sp>
        <p:nvSpPr>
          <p:cNvPr id="33" name="Shape 30"/>
          <p:cNvSpPr/>
          <p:nvPr/>
        </p:nvSpPr>
        <p:spPr>
          <a:xfrm>
            <a:off x="8083296" y="4224528"/>
            <a:ext cx="1645920" cy="0"/>
          </a:xfrm>
          <a:prstGeom prst="line">
            <a:avLst/>
          </a:prstGeom>
          <a:noFill/>
          <a:ln w="12700">
            <a:solidFill>
              <a:srgbClr val="000080"/>
            </a:solidFill>
            <a:prstDash val="solid"/>
          </a:ln>
        </p:spPr>
        <p:txBody>
          <a:bodyPr/>
          <a:lstStyle/>
          <a:p>
            <a:endParaRPr lang="ko-KR" altLang="en-US"/>
          </a:p>
        </p:txBody>
      </p:sp>
      <p:sp>
        <p:nvSpPr>
          <p:cNvPr id="34" name="Shape 31"/>
          <p:cNvSpPr/>
          <p:nvPr/>
        </p:nvSpPr>
        <p:spPr>
          <a:xfrm>
            <a:off x="8083296" y="4224528"/>
            <a:ext cx="0" cy="164592"/>
          </a:xfrm>
          <a:prstGeom prst="line">
            <a:avLst/>
          </a:prstGeom>
          <a:noFill/>
          <a:ln w="12700">
            <a:solidFill>
              <a:srgbClr val="000080"/>
            </a:solidFill>
            <a:prstDash val="solid"/>
          </a:ln>
        </p:spPr>
        <p:txBody>
          <a:bodyPr/>
          <a:lstStyle/>
          <a:p>
            <a:endParaRPr lang="ko-KR" altLang="en-US"/>
          </a:p>
        </p:txBody>
      </p:sp>
      <p:sp>
        <p:nvSpPr>
          <p:cNvPr id="35" name="Shape 32"/>
          <p:cNvSpPr/>
          <p:nvPr/>
        </p:nvSpPr>
        <p:spPr>
          <a:xfrm>
            <a:off x="9729216" y="4224528"/>
            <a:ext cx="0" cy="164592"/>
          </a:xfrm>
          <a:prstGeom prst="line">
            <a:avLst/>
          </a:prstGeom>
          <a:noFill/>
          <a:ln w="12700">
            <a:solidFill>
              <a:srgbClr val="000080"/>
            </a:solidFill>
            <a:prstDash val="solid"/>
          </a:ln>
        </p:spPr>
        <p:txBody>
          <a:bodyPr/>
          <a:lstStyle/>
          <a:p>
            <a:endParaRPr lang="ko-KR" altLang="en-US"/>
          </a:p>
        </p:txBody>
      </p:sp>
      <p:sp>
        <p:nvSpPr>
          <p:cNvPr id="36" name="Text 33"/>
          <p:cNvSpPr txBox="1"/>
          <p:nvPr/>
        </p:nvSpPr>
        <p:spPr>
          <a:xfrm>
            <a:off x="8083296" y="3794760"/>
            <a:ext cx="1645920" cy="365760"/>
          </a:xfrm>
          <a:prstGeom prst="rect">
            <a:avLst/>
          </a:prstGeom>
          <a:noFill/>
          <a:ln/>
        </p:spPr>
        <p:txBody>
          <a:bodyPr wrap="square" lIns="0" tIns="0" rIns="0" bIns="0" rtlCol="0" anchor="t"/>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Dry lab</a:t>
            </a:r>
            <a:endParaRPr lang="en-US" sz="1400" dirty="0"/>
          </a:p>
        </p:txBody>
      </p:sp>
      <p:sp>
        <p:nvSpPr>
          <p:cNvPr id="37" name="Shape 34"/>
          <p:cNvSpPr/>
          <p:nvPr/>
        </p:nvSpPr>
        <p:spPr>
          <a:xfrm>
            <a:off x="9966960" y="4224528"/>
            <a:ext cx="1645920" cy="0"/>
          </a:xfrm>
          <a:prstGeom prst="line">
            <a:avLst/>
          </a:prstGeom>
          <a:noFill/>
          <a:ln w="12700">
            <a:solidFill>
              <a:srgbClr val="000080"/>
            </a:solidFill>
            <a:prstDash val="solid"/>
          </a:ln>
        </p:spPr>
        <p:txBody>
          <a:bodyPr/>
          <a:lstStyle/>
          <a:p>
            <a:endParaRPr lang="ko-KR" altLang="en-US"/>
          </a:p>
        </p:txBody>
      </p:sp>
      <p:sp>
        <p:nvSpPr>
          <p:cNvPr id="38" name="Shape 35"/>
          <p:cNvSpPr/>
          <p:nvPr/>
        </p:nvSpPr>
        <p:spPr>
          <a:xfrm>
            <a:off x="9966960" y="4224528"/>
            <a:ext cx="0" cy="164592"/>
          </a:xfrm>
          <a:prstGeom prst="line">
            <a:avLst/>
          </a:prstGeom>
          <a:noFill/>
          <a:ln w="12700">
            <a:solidFill>
              <a:srgbClr val="000080"/>
            </a:solidFill>
            <a:prstDash val="solid"/>
          </a:ln>
        </p:spPr>
        <p:txBody>
          <a:bodyPr/>
          <a:lstStyle/>
          <a:p>
            <a:endParaRPr lang="ko-KR" altLang="en-US"/>
          </a:p>
        </p:txBody>
      </p:sp>
      <p:sp>
        <p:nvSpPr>
          <p:cNvPr id="39" name="Shape 36"/>
          <p:cNvSpPr/>
          <p:nvPr/>
        </p:nvSpPr>
        <p:spPr>
          <a:xfrm>
            <a:off x="11612880" y="4224528"/>
            <a:ext cx="0" cy="164592"/>
          </a:xfrm>
          <a:prstGeom prst="line">
            <a:avLst/>
          </a:prstGeom>
          <a:noFill/>
          <a:ln w="12700">
            <a:solidFill>
              <a:srgbClr val="000080"/>
            </a:solidFill>
            <a:prstDash val="solid"/>
          </a:ln>
        </p:spPr>
        <p:txBody>
          <a:bodyPr/>
          <a:lstStyle/>
          <a:p>
            <a:endParaRPr lang="ko-KR" altLang="en-US"/>
          </a:p>
        </p:txBody>
      </p:sp>
      <p:sp>
        <p:nvSpPr>
          <p:cNvPr id="40" name="Text 37"/>
          <p:cNvSpPr txBox="1"/>
          <p:nvPr/>
        </p:nvSpPr>
        <p:spPr>
          <a:xfrm>
            <a:off x="9966960" y="3794760"/>
            <a:ext cx="1645920" cy="365760"/>
          </a:xfrm>
          <a:prstGeom prst="rect">
            <a:avLst/>
          </a:prstGeom>
          <a:noFill/>
          <a:ln/>
        </p:spPr>
        <p:txBody>
          <a:bodyPr wrap="square" lIns="0" tIns="0" rIns="0" bIns="0" rtlCol="0" anchor="t"/>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확증</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라이브러리 제작</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Illumina. An Introduction to Next-Generation Sequencing Technology · Illumina. DNA Library Preparation · Ng SHS et al. Viruses 2018;10:566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18</a:t>
            </a:r>
            <a:endParaRPr lang="en-US" sz="900" dirty="0"/>
          </a:p>
        </p:txBody>
      </p:sp>
      <p:sp>
        <p:nvSpPr>
          <p:cNvPr id="8" name="Shape 5"/>
          <p:cNvSpPr/>
          <p:nvPr/>
        </p:nvSpPr>
        <p:spPr>
          <a:xfrm>
            <a:off x="548640" y="2194560"/>
            <a:ext cx="3017520" cy="201168"/>
          </a:xfrm>
          <a:prstGeom prst="rect">
            <a:avLst/>
          </a:prstGeom>
          <a:solidFill>
            <a:srgbClr val="000080"/>
          </a:solidFill>
          <a:ln w="12700">
            <a:solidFill>
              <a:srgbClr val="000080"/>
            </a:solidFill>
            <a:prstDash val="solid"/>
          </a:ln>
        </p:spPr>
        <p:txBody>
          <a:bodyPr/>
          <a:lstStyle/>
          <a:p>
            <a:endParaRPr lang="ko-KR" altLang="en-US"/>
          </a:p>
        </p:txBody>
      </p:sp>
      <p:sp>
        <p:nvSpPr>
          <p:cNvPr id="9" name="Shape 6"/>
          <p:cNvSpPr/>
          <p:nvPr/>
        </p:nvSpPr>
        <p:spPr>
          <a:xfrm>
            <a:off x="2057400" y="2560320"/>
            <a:ext cx="0" cy="502920"/>
          </a:xfrm>
          <a:prstGeom prst="line">
            <a:avLst/>
          </a:prstGeom>
          <a:noFill/>
          <a:ln w="19050">
            <a:solidFill>
              <a:srgbClr val="7F7F7F"/>
            </a:solidFill>
            <a:prstDash val="solid"/>
            <a:tailEnd type="triangle"/>
          </a:ln>
        </p:spPr>
        <p:txBody>
          <a:bodyPr/>
          <a:lstStyle/>
          <a:p>
            <a:endParaRPr lang="ko-KR" altLang="en-US"/>
          </a:p>
        </p:txBody>
      </p:sp>
      <p:sp>
        <p:nvSpPr>
          <p:cNvPr id="10" name="Shape 7"/>
          <p:cNvSpPr/>
          <p:nvPr/>
        </p:nvSpPr>
        <p:spPr>
          <a:xfrm>
            <a:off x="548640" y="3291840"/>
            <a:ext cx="640080" cy="201168"/>
          </a:xfrm>
          <a:prstGeom prst="rect">
            <a:avLst/>
          </a:prstGeom>
          <a:solidFill>
            <a:srgbClr val="000080"/>
          </a:solidFill>
          <a:ln w="12700">
            <a:solidFill>
              <a:srgbClr val="000080"/>
            </a:solidFill>
            <a:prstDash val="solid"/>
          </a:ln>
        </p:spPr>
        <p:txBody>
          <a:bodyPr/>
          <a:lstStyle/>
          <a:p>
            <a:endParaRPr lang="ko-KR" altLang="en-US"/>
          </a:p>
        </p:txBody>
      </p:sp>
      <p:sp>
        <p:nvSpPr>
          <p:cNvPr id="11" name="Shape 8"/>
          <p:cNvSpPr/>
          <p:nvPr/>
        </p:nvSpPr>
        <p:spPr>
          <a:xfrm>
            <a:off x="1371600" y="3703320"/>
            <a:ext cx="640080" cy="201168"/>
          </a:xfrm>
          <a:prstGeom prst="rect">
            <a:avLst/>
          </a:prstGeom>
          <a:solidFill>
            <a:srgbClr val="000080"/>
          </a:solidFill>
          <a:ln w="12700">
            <a:solidFill>
              <a:srgbClr val="000080"/>
            </a:solidFill>
            <a:prstDash val="solid"/>
          </a:ln>
        </p:spPr>
        <p:txBody>
          <a:bodyPr/>
          <a:lstStyle/>
          <a:p>
            <a:endParaRPr lang="ko-KR" altLang="en-US"/>
          </a:p>
        </p:txBody>
      </p:sp>
      <p:sp>
        <p:nvSpPr>
          <p:cNvPr id="12" name="Shape 9"/>
          <p:cNvSpPr/>
          <p:nvPr/>
        </p:nvSpPr>
        <p:spPr>
          <a:xfrm>
            <a:off x="2148840" y="3291840"/>
            <a:ext cx="640080" cy="201168"/>
          </a:xfrm>
          <a:prstGeom prst="rect">
            <a:avLst/>
          </a:prstGeom>
          <a:solidFill>
            <a:srgbClr val="000080"/>
          </a:solidFill>
          <a:ln w="12700">
            <a:solidFill>
              <a:srgbClr val="000080"/>
            </a:solidFill>
            <a:prstDash val="solid"/>
          </a:ln>
        </p:spPr>
        <p:txBody>
          <a:bodyPr/>
          <a:lstStyle/>
          <a:p>
            <a:endParaRPr lang="ko-KR" altLang="en-US"/>
          </a:p>
        </p:txBody>
      </p:sp>
      <p:sp>
        <p:nvSpPr>
          <p:cNvPr id="13" name="Shape 10"/>
          <p:cNvSpPr/>
          <p:nvPr/>
        </p:nvSpPr>
        <p:spPr>
          <a:xfrm>
            <a:off x="2880360" y="3703320"/>
            <a:ext cx="640080" cy="201168"/>
          </a:xfrm>
          <a:prstGeom prst="rect">
            <a:avLst/>
          </a:prstGeom>
          <a:solidFill>
            <a:srgbClr val="000080"/>
          </a:solidFill>
          <a:ln w="12700">
            <a:solidFill>
              <a:srgbClr val="000080"/>
            </a:solidFill>
            <a:prstDash val="solid"/>
          </a:ln>
        </p:spPr>
        <p:txBody>
          <a:bodyPr/>
          <a:lstStyle/>
          <a:p>
            <a:endParaRPr lang="ko-KR" altLang="en-US"/>
          </a:p>
        </p:txBody>
      </p:sp>
      <p:sp>
        <p:nvSpPr>
          <p:cNvPr id="14" name="Shape 11"/>
          <p:cNvSpPr/>
          <p:nvPr/>
        </p:nvSpPr>
        <p:spPr>
          <a:xfrm>
            <a:off x="3749040" y="3200400"/>
            <a:ext cx="548640" cy="0"/>
          </a:xfrm>
          <a:prstGeom prst="line">
            <a:avLst/>
          </a:prstGeom>
          <a:noFill/>
          <a:ln w="19050">
            <a:solidFill>
              <a:srgbClr val="7F7F7F"/>
            </a:solidFill>
            <a:prstDash val="solid"/>
            <a:tailEnd type="triangle"/>
          </a:ln>
        </p:spPr>
        <p:txBody>
          <a:bodyPr/>
          <a:lstStyle/>
          <a:p>
            <a:endParaRPr lang="ko-KR" altLang="en-US"/>
          </a:p>
        </p:txBody>
      </p:sp>
      <p:sp>
        <p:nvSpPr>
          <p:cNvPr id="15" name="Shape 12"/>
          <p:cNvSpPr/>
          <p:nvPr/>
        </p:nvSpPr>
        <p:spPr>
          <a:xfrm>
            <a:off x="4526280" y="26974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16" name="Shape 13"/>
          <p:cNvSpPr/>
          <p:nvPr/>
        </p:nvSpPr>
        <p:spPr>
          <a:xfrm>
            <a:off x="4800600" y="269748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17" name="Shape 14"/>
          <p:cNvSpPr/>
          <p:nvPr/>
        </p:nvSpPr>
        <p:spPr>
          <a:xfrm>
            <a:off x="6172200" y="26974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18" name="Shape 15"/>
          <p:cNvSpPr/>
          <p:nvPr/>
        </p:nvSpPr>
        <p:spPr>
          <a:xfrm>
            <a:off x="4526280" y="31546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19" name="Shape 16"/>
          <p:cNvSpPr/>
          <p:nvPr/>
        </p:nvSpPr>
        <p:spPr>
          <a:xfrm>
            <a:off x="4800600" y="315468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20" name="Shape 17"/>
          <p:cNvSpPr/>
          <p:nvPr/>
        </p:nvSpPr>
        <p:spPr>
          <a:xfrm>
            <a:off x="6172200" y="31546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21" name="Shape 18"/>
          <p:cNvSpPr/>
          <p:nvPr/>
        </p:nvSpPr>
        <p:spPr>
          <a:xfrm>
            <a:off x="4526280" y="36118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22" name="Shape 19"/>
          <p:cNvSpPr/>
          <p:nvPr/>
        </p:nvSpPr>
        <p:spPr>
          <a:xfrm>
            <a:off x="4800600" y="361188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23" name="Shape 20"/>
          <p:cNvSpPr/>
          <p:nvPr/>
        </p:nvSpPr>
        <p:spPr>
          <a:xfrm>
            <a:off x="6172200" y="36118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24" name="Shape 21"/>
          <p:cNvSpPr/>
          <p:nvPr/>
        </p:nvSpPr>
        <p:spPr>
          <a:xfrm>
            <a:off x="6629400" y="3200400"/>
            <a:ext cx="548640" cy="0"/>
          </a:xfrm>
          <a:prstGeom prst="line">
            <a:avLst/>
          </a:prstGeom>
          <a:noFill/>
          <a:ln w="19050">
            <a:solidFill>
              <a:srgbClr val="7F7F7F"/>
            </a:solidFill>
            <a:prstDash val="solid"/>
            <a:tailEnd type="triangle"/>
          </a:ln>
        </p:spPr>
        <p:txBody>
          <a:bodyPr/>
          <a:lstStyle/>
          <a:p>
            <a:endParaRPr lang="ko-KR" altLang="en-US"/>
          </a:p>
        </p:txBody>
      </p:sp>
      <p:sp>
        <p:nvSpPr>
          <p:cNvPr id="25" name="Shape 22"/>
          <p:cNvSpPr/>
          <p:nvPr/>
        </p:nvSpPr>
        <p:spPr>
          <a:xfrm>
            <a:off x="7406640" y="2423160"/>
            <a:ext cx="201168" cy="201168"/>
          </a:xfrm>
          <a:prstGeom prst="rect">
            <a:avLst/>
          </a:prstGeom>
          <a:solidFill>
            <a:srgbClr val="FFA500"/>
          </a:solidFill>
          <a:ln w="12700">
            <a:solidFill>
              <a:srgbClr val="FFA500"/>
            </a:solidFill>
            <a:prstDash val="solid"/>
          </a:ln>
        </p:spPr>
        <p:txBody>
          <a:bodyPr/>
          <a:lstStyle/>
          <a:p>
            <a:endParaRPr lang="ko-KR" altLang="en-US"/>
          </a:p>
        </p:txBody>
      </p:sp>
      <p:sp>
        <p:nvSpPr>
          <p:cNvPr id="26" name="Shape 23"/>
          <p:cNvSpPr/>
          <p:nvPr/>
        </p:nvSpPr>
        <p:spPr>
          <a:xfrm>
            <a:off x="7607808" y="242316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27" name="Shape 24"/>
          <p:cNvSpPr/>
          <p:nvPr/>
        </p:nvSpPr>
        <p:spPr>
          <a:xfrm>
            <a:off x="7836408" y="242316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28" name="Shape 25"/>
          <p:cNvSpPr/>
          <p:nvPr/>
        </p:nvSpPr>
        <p:spPr>
          <a:xfrm>
            <a:off x="9208008" y="242316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29" name="Shape 26"/>
          <p:cNvSpPr/>
          <p:nvPr/>
        </p:nvSpPr>
        <p:spPr>
          <a:xfrm>
            <a:off x="7726680" y="2788920"/>
            <a:ext cx="201168" cy="201168"/>
          </a:xfrm>
          <a:prstGeom prst="rect">
            <a:avLst/>
          </a:prstGeom>
          <a:solidFill>
            <a:srgbClr val="FFA500"/>
          </a:solidFill>
          <a:ln w="12700">
            <a:solidFill>
              <a:srgbClr val="FFA500"/>
            </a:solidFill>
            <a:prstDash val="solid"/>
          </a:ln>
        </p:spPr>
        <p:txBody>
          <a:bodyPr/>
          <a:lstStyle/>
          <a:p>
            <a:endParaRPr lang="ko-KR" altLang="en-US"/>
          </a:p>
        </p:txBody>
      </p:sp>
      <p:sp>
        <p:nvSpPr>
          <p:cNvPr id="30" name="Shape 27"/>
          <p:cNvSpPr/>
          <p:nvPr/>
        </p:nvSpPr>
        <p:spPr>
          <a:xfrm>
            <a:off x="7927848" y="278892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31" name="Shape 28"/>
          <p:cNvSpPr/>
          <p:nvPr/>
        </p:nvSpPr>
        <p:spPr>
          <a:xfrm>
            <a:off x="8156448" y="278892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32" name="Shape 29"/>
          <p:cNvSpPr/>
          <p:nvPr/>
        </p:nvSpPr>
        <p:spPr>
          <a:xfrm>
            <a:off x="9528048" y="278892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33" name="Shape 30"/>
          <p:cNvSpPr/>
          <p:nvPr/>
        </p:nvSpPr>
        <p:spPr>
          <a:xfrm>
            <a:off x="7406640" y="3154680"/>
            <a:ext cx="201168" cy="201168"/>
          </a:xfrm>
          <a:prstGeom prst="rect">
            <a:avLst/>
          </a:prstGeom>
          <a:solidFill>
            <a:srgbClr val="FFA500"/>
          </a:solidFill>
          <a:ln w="12700">
            <a:solidFill>
              <a:srgbClr val="FFA500"/>
            </a:solidFill>
            <a:prstDash val="solid"/>
          </a:ln>
        </p:spPr>
        <p:txBody>
          <a:bodyPr/>
          <a:lstStyle/>
          <a:p>
            <a:endParaRPr lang="ko-KR" altLang="en-US"/>
          </a:p>
        </p:txBody>
      </p:sp>
      <p:sp>
        <p:nvSpPr>
          <p:cNvPr id="34" name="Shape 31"/>
          <p:cNvSpPr/>
          <p:nvPr/>
        </p:nvSpPr>
        <p:spPr>
          <a:xfrm>
            <a:off x="7607808" y="315468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35" name="Shape 32"/>
          <p:cNvSpPr/>
          <p:nvPr/>
        </p:nvSpPr>
        <p:spPr>
          <a:xfrm>
            <a:off x="7836408" y="315468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36" name="Shape 33"/>
          <p:cNvSpPr/>
          <p:nvPr/>
        </p:nvSpPr>
        <p:spPr>
          <a:xfrm>
            <a:off x="9208008" y="315468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37" name="Shape 34"/>
          <p:cNvSpPr/>
          <p:nvPr/>
        </p:nvSpPr>
        <p:spPr>
          <a:xfrm>
            <a:off x="7726680" y="3520440"/>
            <a:ext cx="201168" cy="201168"/>
          </a:xfrm>
          <a:prstGeom prst="rect">
            <a:avLst/>
          </a:prstGeom>
          <a:solidFill>
            <a:srgbClr val="FFA500"/>
          </a:solidFill>
          <a:ln w="12700">
            <a:solidFill>
              <a:srgbClr val="FFA500"/>
            </a:solidFill>
            <a:prstDash val="solid"/>
          </a:ln>
        </p:spPr>
        <p:txBody>
          <a:bodyPr/>
          <a:lstStyle/>
          <a:p>
            <a:endParaRPr lang="ko-KR" altLang="en-US"/>
          </a:p>
        </p:txBody>
      </p:sp>
      <p:sp>
        <p:nvSpPr>
          <p:cNvPr id="38" name="Shape 35"/>
          <p:cNvSpPr/>
          <p:nvPr/>
        </p:nvSpPr>
        <p:spPr>
          <a:xfrm>
            <a:off x="7927848" y="352044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39" name="Shape 36"/>
          <p:cNvSpPr/>
          <p:nvPr/>
        </p:nvSpPr>
        <p:spPr>
          <a:xfrm>
            <a:off x="8156448" y="352044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40" name="Shape 37"/>
          <p:cNvSpPr/>
          <p:nvPr/>
        </p:nvSpPr>
        <p:spPr>
          <a:xfrm>
            <a:off x="9528048" y="352044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41" name="Shape 38"/>
          <p:cNvSpPr/>
          <p:nvPr/>
        </p:nvSpPr>
        <p:spPr>
          <a:xfrm>
            <a:off x="7406640" y="3886200"/>
            <a:ext cx="201168" cy="201168"/>
          </a:xfrm>
          <a:prstGeom prst="rect">
            <a:avLst/>
          </a:prstGeom>
          <a:solidFill>
            <a:srgbClr val="FFA500"/>
          </a:solidFill>
          <a:ln w="12700">
            <a:solidFill>
              <a:srgbClr val="FFA500"/>
            </a:solidFill>
            <a:prstDash val="solid"/>
          </a:ln>
        </p:spPr>
        <p:txBody>
          <a:bodyPr/>
          <a:lstStyle/>
          <a:p>
            <a:endParaRPr lang="ko-KR" altLang="en-US"/>
          </a:p>
        </p:txBody>
      </p:sp>
      <p:sp>
        <p:nvSpPr>
          <p:cNvPr id="42" name="Shape 39"/>
          <p:cNvSpPr/>
          <p:nvPr/>
        </p:nvSpPr>
        <p:spPr>
          <a:xfrm>
            <a:off x="7607808" y="388620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43" name="Shape 40"/>
          <p:cNvSpPr/>
          <p:nvPr/>
        </p:nvSpPr>
        <p:spPr>
          <a:xfrm>
            <a:off x="7836408" y="388620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44" name="Shape 41"/>
          <p:cNvSpPr/>
          <p:nvPr/>
        </p:nvSpPr>
        <p:spPr>
          <a:xfrm>
            <a:off x="9208008" y="388620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45" name="Text 42"/>
          <p:cNvSpPr txBox="1"/>
          <p:nvPr/>
        </p:nvSpPr>
        <p:spPr>
          <a:xfrm>
            <a:off x="7406640" y="4389120"/>
            <a:ext cx="4206240" cy="274320"/>
          </a:xfrm>
          <a:prstGeom prst="rect">
            <a:avLst/>
          </a:prstGeom>
          <a:noFill/>
          <a:ln/>
        </p:spPr>
        <p:txBody>
          <a:bodyPr wrap="square" lIns="0" tIns="0" rIns="0" bIns="0" rtlCol="0" anchor="t"/>
          <a:lstStyle/>
          <a:p>
            <a:pPr marL="0" indent="0">
              <a:buNone/>
            </a:pPr>
            <a:r>
              <a:rPr lang="en-US" sz="1000" dirty="0">
                <a:solidFill>
                  <a:srgbClr val="7F7F7F"/>
                </a:solidFill>
                <a:latin typeface="Malgun Gothic" pitchFamily="34" charset="0"/>
                <a:ea typeface="Malgun Gothic" pitchFamily="34" charset="-122"/>
                <a:cs typeface="Malgun Gothic" pitchFamily="34" charset="-120"/>
              </a:rPr>
              <a:t>■ 삽입 서열   ■ 어댑터   ■ Index</a:t>
            </a:r>
            <a:endParaRPr lang="en-US" sz="1000" dirty="0"/>
          </a:p>
        </p:txBody>
      </p:sp>
      <p:sp>
        <p:nvSpPr>
          <p:cNvPr id="46" name="Text 43"/>
          <p:cNvSpPr txBox="1"/>
          <p:nvPr/>
        </p:nvSpPr>
        <p:spPr>
          <a:xfrm>
            <a:off x="548640" y="4846320"/>
            <a:ext cx="3566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단편화</a:t>
            </a:r>
            <a:endParaRPr lang="en-US" sz="1800" dirty="0"/>
          </a:p>
        </p:txBody>
      </p:sp>
      <p:sp>
        <p:nvSpPr>
          <p:cNvPr id="47" name="Text 44"/>
          <p:cNvSpPr txBox="1"/>
          <p:nvPr/>
        </p:nvSpPr>
        <p:spPr>
          <a:xfrm>
            <a:off x="548640" y="5303520"/>
            <a:ext cx="3566160" cy="45720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DNA · cDNA (RNA는 random priming)</a:t>
            </a:r>
            <a:endParaRPr lang="en-US" sz="1200" dirty="0"/>
          </a:p>
        </p:txBody>
      </p:sp>
      <p:sp>
        <p:nvSpPr>
          <p:cNvPr id="48" name="Text 45"/>
          <p:cNvSpPr txBox="1"/>
          <p:nvPr/>
        </p:nvSpPr>
        <p:spPr>
          <a:xfrm>
            <a:off x="4206240" y="4846320"/>
            <a:ext cx="3566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어댑터 · Tagmentation</a:t>
            </a:r>
            <a:endParaRPr lang="en-US" sz="1800" dirty="0"/>
          </a:p>
        </p:txBody>
      </p:sp>
      <p:sp>
        <p:nvSpPr>
          <p:cNvPr id="49" name="Text 46"/>
          <p:cNvSpPr txBox="1"/>
          <p:nvPr/>
        </p:nvSpPr>
        <p:spPr>
          <a:xfrm>
            <a:off x="4206240" y="5303520"/>
            <a:ext cx="3566160" cy="45720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결합 또는 트랜스포좀 일괄 부착</a:t>
            </a:r>
            <a:endParaRPr lang="en-US" sz="1200" dirty="0"/>
          </a:p>
        </p:txBody>
      </p:sp>
      <p:sp>
        <p:nvSpPr>
          <p:cNvPr id="50" name="Text 47"/>
          <p:cNvSpPr txBox="1"/>
          <p:nvPr/>
        </p:nvSpPr>
        <p:spPr>
          <a:xfrm>
            <a:off x="7406640" y="4846320"/>
            <a:ext cx="3566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Index 멀티플렉싱</a:t>
            </a:r>
            <a:endParaRPr lang="en-US" sz="1800" dirty="0"/>
          </a:p>
        </p:txBody>
      </p:sp>
      <p:sp>
        <p:nvSpPr>
          <p:cNvPr id="51" name="Text 48"/>
          <p:cNvSpPr txBox="1"/>
          <p:nvPr/>
        </p:nvSpPr>
        <p:spPr>
          <a:xfrm>
            <a:off x="7406640" y="5303520"/>
            <a:ext cx="3566160" cy="45720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검체별 바코드 → 한 run에 다중 검체</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클러스터 생성</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Illumina. Patterned Flow Cell Technology · Illumina. An Introduction to NGS Technology · Bentley DR et al. Nature 2008;456:53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19</a:t>
            </a:r>
            <a:endParaRPr lang="en-US" sz="900" dirty="0"/>
          </a:p>
        </p:txBody>
      </p:sp>
      <p:sp>
        <p:nvSpPr>
          <p:cNvPr id="8" name="Shape 5"/>
          <p:cNvSpPr/>
          <p:nvPr/>
        </p:nvSpPr>
        <p:spPr>
          <a:xfrm>
            <a:off x="731520" y="3931920"/>
            <a:ext cx="1371600" cy="0"/>
          </a:xfrm>
          <a:prstGeom prst="line">
            <a:avLst/>
          </a:prstGeom>
          <a:noFill/>
          <a:ln w="31750">
            <a:solidFill>
              <a:srgbClr val="000080"/>
            </a:solidFill>
            <a:prstDash val="solid"/>
          </a:ln>
        </p:spPr>
        <p:txBody>
          <a:bodyPr/>
          <a:lstStyle/>
          <a:p>
            <a:endParaRPr lang="ko-KR" altLang="en-US"/>
          </a:p>
        </p:txBody>
      </p:sp>
      <p:sp>
        <p:nvSpPr>
          <p:cNvPr id="9" name="Shape 6"/>
          <p:cNvSpPr/>
          <p:nvPr/>
        </p:nvSpPr>
        <p:spPr>
          <a:xfrm>
            <a:off x="1417320" y="2926080"/>
            <a:ext cx="0" cy="1005840"/>
          </a:xfrm>
          <a:prstGeom prst="line">
            <a:avLst/>
          </a:prstGeom>
          <a:noFill/>
          <a:ln w="25400">
            <a:solidFill>
              <a:srgbClr val="000080"/>
            </a:solidFill>
            <a:prstDash val="solid"/>
          </a:ln>
        </p:spPr>
        <p:txBody>
          <a:bodyPr/>
          <a:lstStyle/>
          <a:p>
            <a:endParaRPr lang="ko-KR" altLang="en-US"/>
          </a:p>
        </p:txBody>
      </p:sp>
      <p:sp>
        <p:nvSpPr>
          <p:cNvPr id="10" name="Text 7"/>
          <p:cNvSpPr txBox="1"/>
          <p:nvPr/>
        </p:nvSpPr>
        <p:spPr>
          <a:xfrm>
            <a:off x="731520" y="4069080"/>
            <a:ext cx="1371600" cy="32004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결합</a:t>
            </a:r>
            <a:endParaRPr lang="en-US" sz="1200" dirty="0"/>
          </a:p>
        </p:txBody>
      </p:sp>
      <p:sp>
        <p:nvSpPr>
          <p:cNvPr id="11" name="Shape 8"/>
          <p:cNvSpPr/>
          <p:nvPr/>
        </p:nvSpPr>
        <p:spPr>
          <a:xfrm>
            <a:off x="2468880" y="3931920"/>
            <a:ext cx="1371600" cy="0"/>
          </a:xfrm>
          <a:prstGeom prst="line">
            <a:avLst/>
          </a:prstGeom>
          <a:noFill/>
          <a:ln w="31750">
            <a:solidFill>
              <a:srgbClr val="000080"/>
            </a:solidFill>
            <a:prstDash val="solid"/>
          </a:ln>
        </p:spPr>
        <p:txBody>
          <a:bodyPr/>
          <a:lstStyle/>
          <a:p>
            <a:endParaRPr lang="ko-KR" altLang="en-US"/>
          </a:p>
        </p:txBody>
      </p:sp>
      <p:sp>
        <p:nvSpPr>
          <p:cNvPr id="12" name="Shape 9"/>
          <p:cNvSpPr/>
          <p:nvPr/>
        </p:nvSpPr>
        <p:spPr>
          <a:xfrm>
            <a:off x="2606040" y="2926080"/>
            <a:ext cx="0" cy="1005840"/>
          </a:xfrm>
          <a:prstGeom prst="line">
            <a:avLst/>
          </a:prstGeom>
          <a:noFill/>
          <a:ln w="25400">
            <a:solidFill>
              <a:srgbClr val="000080"/>
            </a:solidFill>
            <a:prstDash val="solid"/>
          </a:ln>
        </p:spPr>
        <p:txBody>
          <a:bodyPr/>
          <a:lstStyle/>
          <a:p>
            <a:endParaRPr lang="ko-KR" altLang="en-US"/>
          </a:p>
        </p:txBody>
      </p:sp>
      <p:sp>
        <p:nvSpPr>
          <p:cNvPr id="13" name="Shape 10"/>
          <p:cNvSpPr/>
          <p:nvPr/>
        </p:nvSpPr>
        <p:spPr>
          <a:xfrm>
            <a:off x="3703320" y="2926080"/>
            <a:ext cx="0" cy="1005840"/>
          </a:xfrm>
          <a:prstGeom prst="line">
            <a:avLst/>
          </a:prstGeom>
          <a:noFill/>
          <a:ln w="25400">
            <a:solidFill>
              <a:srgbClr val="000080"/>
            </a:solidFill>
            <a:prstDash val="solid"/>
          </a:ln>
        </p:spPr>
        <p:txBody>
          <a:bodyPr/>
          <a:lstStyle/>
          <a:p>
            <a:endParaRPr lang="ko-KR" altLang="en-US"/>
          </a:p>
        </p:txBody>
      </p:sp>
      <p:sp>
        <p:nvSpPr>
          <p:cNvPr id="14" name="Text 11"/>
          <p:cNvSpPr txBox="1"/>
          <p:nvPr/>
        </p:nvSpPr>
        <p:spPr>
          <a:xfrm>
            <a:off x="2468880" y="4069080"/>
            <a:ext cx="1371600" cy="32004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브리지</a:t>
            </a:r>
            <a:endParaRPr lang="en-US" sz="1200" dirty="0"/>
          </a:p>
        </p:txBody>
      </p:sp>
      <p:sp>
        <p:nvSpPr>
          <p:cNvPr id="15" name="Shape 12"/>
          <p:cNvSpPr/>
          <p:nvPr/>
        </p:nvSpPr>
        <p:spPr>
          <a:xfrm>
            <a:off x="4206240" y="3931920"/>
            <a:ext cx="1371600" cy="0"/>
          </a:xfrm>
          <a:prstGeom prst="line">
            <a:avLst/>
          </a:prstGeom>
          <a:noFill/>
          <a:ln w="31750">
            <a:solidFill>
              <a:srgbClr val="000080"/>
            </a:solidFill>
            <a:prstDash val="solid"/>
          </a:ln>
        </p:spPr>
        <p:txBody>
          <a:bodyPr/>
          <a:lstStyle/>
          <a:p>
            <a:endParaRPr lang="ko-KR" altLang="en-US"/>
          </a:p>
        </p:txBody>
      </p:sp>
      <p:sp>
        <p:nvSpPr>
          <p:cNvPr id="16" name="Shape 13"/>
          <p:cNvSpPr/>
          <p:nvPr/>
        </p:nvSpPr>
        <p:spPr>
          <a:xfrm>
            <a:off x="4343400" y="2926080"/>
            <a:ext cx="0" cy="1005840"/>
          </a:xfrm>
          <a:prstGeom prst="line">
            <a:avLst/>
          </a:prstGeom>
          <a:noFill/>
          <a:ln w="25400">
            <a:solidFill>
              <a:srgbClr val="FFA500"/>
            </a:solidFill>
            <a:prstDash val="solid"/>
          </a:ln>
        </p:spPr>
        <p:txBody>
          <a:bodyPr/>
          <a:lstStyle/>
          <a:p>
            <a:endParaRPr lang="ko-KR" altLang="en-US"/>
          </a:p>
        </p:txBody>
      </p:sp>
      <p:sp>
        <p:nvSpPr>
          <p:cNvPr id="17" name="Shape 14"/>
          <p:cNvSpPr/>
          <p:nvPr/>
        </p:nvSpPr>
        <p:spPr>
          <a:xfrm>
            <a:off x="4500154" y="2926080"/>
            <a:ext cx="0" cy="1005840"/>
          </a:xfrm>
          <a:prstGeom prst="line">
            <a:avLst/>
          </a:prstGeom>
          <a:noFill/>
          <a:ln w="25400">
            <a:solidFill>
              <a:srgbClr val="000080"/>
            </a:solidFill>
            <a:prstDash val="solid"/>
          </a:ln>
        </p:spPr>
        <p:txBody>
          <a:bodyPr/>
          <a:lstStyle/>
          <a:p>
            <a:endParaRPr lang="ko-KR" altLang="en-US"/>
          </a:p>
        </p:txBody>
      </p:sp>
      <p:sp>
        <p:nvSpPr>
          <p:cNvPr id="18" name="Shape 15"/>
          <p:cNvSpPr/>
          <p:nvPr/>
        </p:nvSpPr>
        <p:spPr>
          <a:xfrm>
            <a:off x="4656909" y="2926080"/>
            <a:ext cx="0" cy="1005840"/>
          </a:xfrm>
          <a:prstGeom prst="line">
            <a:avLst/>
          </a:prstGeom>
          <a:noFill/>
          <a:ln w="25400">
            <a:solidFill>
              <a:srgbClr val="000080"/>
            </a:solidFill>
            <a:prstDash val="solid"/>
          </a:ln>
        </p:spPr>
        <p:txBody>
          <a:bodyPr/>
          <a:lstStyle/>
          <a:p>
            <a:endParaRPr lang="ko-KR" altLang="en-US"/>
          </a:p>
        </p:txBody>
      </p:sp>
      <p:sp>
        <p:nvSpPr>
          <p:cNvPr id="19" name="Shape 16"/>
          <p:cNvSpPr/>
          <p:nvPr/>
        </p:nvSpPr>
        <p:spPr>
          <a:xfrm>
            <a:off x="4813663" y="2926080"/>
            <a:ext cx="0" cy="1005840"/>
          </a:xfrm>
          <a:prstGeom prst="line">
            <a:avLst/>
          </a:prstGeom>
          <a:noFill/>
          <a:ln w="25400">
            <a:solidFill>
              <a:srgbClr val="000080"/>
            </a:solidFill>
            <a:prstDash val="solid"/>
          </a:ln>
        </p:spPr>
        <p:txBody>
          <a:bodyPr/>
          <a:lstStyle/>
          <a:p>
            <a:endParaRPr lang="ko-KR" altLang="en-US"/>
          </a:p>
        </p:txBody>
      </p:sp>
      <p:sp>
        <p:nvSpPr>
          <p:cNvPr id="20" name="Shape 17"/>
          <p:cNvSpPr/>
          <p:nvPr/>
        </p:nvSpPr>
        <p:spPr>
          <a:xfrm>
            <a:off x="4970417" y="2926080"/>
            <a:ext cx="0" cy="1005840"/>
          </a:xfrm>
          <a:prstGeom prst="line">
            <a:avLst/>
          </a:prstGeom>
          <a:noFill/>
          <a:ln w="25400">
            <a:solidFill>
              <a:srgbClr val="000080"/>
            </a:solidFill>
            <a:prstDash val="solid"/>
          </a:ln>
        </p:spPr>
        <p:txBody>
          <a:bodyPr/>
          <a:lstStyle/>
          <a:p>
            <a:endParaRPr lang="ko-KR" altLang="en-US"/>
          </a:p>
        </p:txBody>
      </p:sp>
      <p:sp>
        <p:nvSpPr>
          <p:cNvPr id="21" name="Shape 18"/>
          <p:cNvSpPr/>
          <p:nvPr/>
        </p:nvSpPr>
        <p:spPr>
          <a:xfrm>
            <a:off x="5127171" y="2926080"/>
            <a:ext cx="0" cy="1005840"/>
          </a:xfrm>
          <a:prstGeom prst="line">
            <a:avLst/>
          </a:prstGeom>
          <a:noFill/>
          <a:ln w="25400">
            <a:solidFill>
              <a:srgbClr val="000080"/>
            </a:solidFill>
            <a:prstDash val="solid"/>
          </a:ln>
        </p:spPr>
        <p:txBody>
          <a:bodyPr/>
          <a:lstStyle/>
          <a:p>
            <a:endParaRPr lang="ko-KR" altLang="en-US"/>
          </a:p>
        </p:txBody>
      </p:sp>
      <p:sp>
        <p:nvSpPr>
          <p:cNvPr id="22" name="Shape 19"/>
          <p:cNvSpPr/>
          <p:nvPr/>
        </p:nvSpPr>
        <p:spPr>
          <a:xfrm>
            <a:off x="5283926" y="2926080"/>
            <a:ext cx="0" cy="1005840"/>
          </a:xfrm>
          <a:prstGeom prst="line">
            <a:avLst/>
          </a:prstGeom>
          <a:noFill/>
          <a:ln w="25400">
            <a:solidFill>
              <a:srgbClr val="000080"/>
            </a:solidFill>
            <a:prstDash val="solid"/>
          </a:ln>
        </p:spPr>
        <p:txBody>
          <a:bodyPr/>
          <a:lstStyle/>
          <a:p>
            <a:endParaRPr lang="ko-KR" altLang="en-US"/>
          </a:p>
        </p:txBody>
      </p:sp>
      <p:sp>
        <p:nvSpPr>
          <p:cNvPr id="23" name="Shape 20"/>
          <p:cNvSpPr/>
          <p:nvPr/>
        </p:nvSpPr>
        <p:spPr>
          <a:xfrm>
            <a:off x="5440680" y="2926080"/>
            <a:ext cx="0" cy="1005840"/>
          </a:xfrm>
          <a:prstGeom prst="line">
            <a:avLst/>
          </a:prstGeom>
          <a:noFill/>
          <a:ln w="25400">
            <a:solidFill>
              <a:srgbClr val="000080"/>
            </a:solidFill>
            <a:prstDash val="solid"/>
          </a:ln>
        </p:spPr>
        <p:txBody>
          <a:bodyPr/>
          <a:lstStyle/>
          <a:p>
            <a:endParaRPr lang="ko-KR" altLang="en-US"/>
          </a:p>
        </p:txBody>
      </p:sp>
      <p:sp>
        <p:nvSpPr>
          <p:cNvPr id="24" name="Text 21"/>
          <p:cNvSpPr txBox="1"/>
          <p:nvPr/>
        </p:nvSpPr>
        <p:spPr>
          <a:xfrm>
            <a:off x="4206240" y="4069080"/>
            <a:ext cx="1371600" cy="32004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클러스터</a:t>
            </a:r>
            <a:endParaRPr lang="en-US" sz="1200" dirty="0"/>
          </a:p>
        </p:txBody>
      </p:sp>
      <p:sp>
        <p:nvSpPr>
          <p:cNvPr id="25" name="Shape 22"/>
          <p:cNvSpPr/>
          <p:nvPr/>
        </p:nvSpPr>
        <p:spPr>
          <a:xfrm>
            <a:off x="2148840" y="3429000"/>
            <a:ext cx="274320" cy="0"/>
          </a:xfrm>
          <a:prstGeom prst="line">
            <a:avLst/>
          </a:prstGeom>
          <a:noFill/>
          <a:ln w="19050">
            <a:solidFill>
              <a:srgbClr val="7F7F7F"/>
            </a:solidFill>
            <a:prstDash val="solid"/>
            <a:tailEnd type="triangle"/>
          </a:ln>
        </p:spPr>
        <p:txBody>
          <a:bodyPr/>
          <a:lstStyle/>
          <a:p>
            <a:endParaRPr lang="ko-KR" altLang="en-US"/>
          </a:p>
        </p:txBody>
      </p:sp>
      <p:sp>
        <p:nvSpPr>
          <p:cNvPr id="26" name="Shape 23"/>
          <p:cNvSpPr/>
          <p:nvPr/>
        </p:nvSpPr>
        <p:spPr>
          <a:xfrm>
            <a:off x="3886200" y="3429000"/>
            <a:ext cx="274320" cy="0"/>
          </a:xfrm>
          <a:prstGeom prst="line">
            <a:avLst/>
          </a:prstGeom>
          <a:noFill/>
          <a:ln w="19050">
            <a:solidFill>
              <a:srgbClr val="7F7F7F"/>
            </a:solidFill>
            <a:prstDash val="solid"/>
            <a:tailEnd type="triangle"/>
          </a:ln>
        </p:spPr>
        <p:txBody>
          <a:bodyPr/>
          <a:lstStyle/>
          <a:p>
            <a:endParaRPr lang="ko-KR" altLang="en-US"/>
          </a:p>
        </p:txBody>
      </p:sp>
      <p:sp>
        <p:nvSpPr>
          <p:cNvPr id="27" name="Text 24"/>
          <p:cNvSpPr txBox="1"/>
          <p:nvPr/>
        </p:nvSpPr>
        <p:spPr>
          <a:xfrm>
            <a:off x="731520" y="1828800"/>
            <a:ext cx="5029200" cy="45720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Bridge amplification</a:t>
            </a:r>
            <a:endParaRPr lang="en-US" sz="2000" dirty="0"/>
          </a:p>
        </p:txBody>
      </p:sp>
      <p:sp>
        <p:nvSpPr>
          <p:cNvPr id="28" name="Text 25"/>
          <p:cNvSpPr txBox="1"/>
          <p:nvPr/>
        </p:nvSpPr>
        <p:spPr>
          <a:xfrm>
            <a:off x="6675120" y="1828800"/>
            <a:ext cx="4937760" cy="45720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Patterned flow cell</a:t>
            </a:r>
            <a:endParaRPr lang="en-US" sz="2000" dirty="0"/>
          </a:p>
        </p:txBody>
      </p:sp>
      <p:sp>
        <p:nvSpPr>
          <p:cNvPr id="29" name="Shape 26"/>
          <p:cNvSpPr/>
          <p:nvPr/>
        </p:nvSpPr>
        <p:spPr>
          <a:xfrm>
            <a:off x="676656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0" name="Shape 27"/>
          <p:cNvSpPr/>
          <p:nvPr/>
        </p:nvSpPr>
        <p:spPr>
          <a:xfrm>
            <a:off x="726948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1" name="Shape 28"/>
          <p:cNvSpPr/>
          <p:nvPr/>
        </p:nvSpPr>
        <p:spPr>
          <a:xfrm>
            <a:off x="777240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2" name="Shape 29"/>
          <p:cNvSpPr/>
          <p:nvPr/>
        </p:nvSpPr>
        <p:spPr>
          <a:xfrm>
            <a:off x="8275320" y="256032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33" name="Shape 30"/>
          <p:cNvSpPr/>
          <p:nvPr/>
        </p:nvSpPr>
        <p:spPr>
          <a:xfrm>
            <a:off x="877824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4" name="Shape 31"/>
          <p:cNvSpPr/>
          <p:nvPr/>
        </p:nvSpPr>
        <p:spPr>
          <a:xfrm>
            <a:off x="928116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5" name="Shape 32"/>
          <p:cNvSpPr/>
          <p:nvPr/>
        </p:nvSpPr>
        <p:spPr>
          <a:xfrm>
            <a:off x="978408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6" name="Shape 33"/>
          <p:cNvSpPr/>
          <p:nvPr/>
        </p:nvSpPr>
        <p:spPr>
          <a:xfrm>
            <a:off x="1028700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7" name="Shape 34"/>
          <p:cNvSpPr/>
          <p:nvPr/>
        </p:nvSpPr>
        <p:spPr>
          <a:xfrm>
            <a:off x="1078992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8" name="Shape 35"/>
          <p:cNvSpPr/>
          <p:nvPr/>
        </p:nvSpPr>
        <p:spPr>
          <a:xfrm>
            <a:off x="676656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9" name="Shape 36"/>
          <p:cNvSpPr/>
          <p:nvPr/>
        </p:nvSpPr>
        <p:spPr>
          <a:xfrm>
            <a:off x="7269480" y="297180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40" name="Shape 37"/>
          <p:cNvSpPr/>
          <p:nvPr/>
        </p:nvSpPr>
        <p:spPr>
          <a:xfrm>
            <a:off x="777240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1" name="Shape 38"/>
          <p:cNvSpPr/>
          <p:nvPr/>
        </p:nvSpPr>
        <p:spPr>
          <a:xfrm>
            <a:off x="827532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2" name="Shape 39"/>
          <p:cNvSpPr/>
          <p:nvPr/>
        </p:nvSpPr>
        <p:spPr>
          <a:xfrm>
            <a:off x="877824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3" name="Shape 40"/>
          <p:cNvSpPr/>
          <p:nvPr/>
        </p:nvSpPr>
        <p:spPr>
          <a:xfrm>
            <a:off x="928116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4" name="Shape 41"/>
          <p:cNvSpPr/>
          <p:nvPr/>
        </p:nvSpPr>
        <p:spPr>
          <a:xfrm>
            <a:off x="978408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5" name="Shape 42"/>
          <p:cNvSpPr/>
          <p:nvPr/>
        </p:nvSpPr>
        <p:spPr>
          <a:xfrm>
            <a:off x="1028700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6" name="Shape 43"/>
          <p:cNvSpPr/>
          <p:nvPr/>
        </p:nvSpPr>
        <p:spPr>
          <a:xfrm>
            <a:off x="10789920" y="297180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47" name="Shape 44"/>
          <p:cNvSpPr/>
          <p:nvPr/>
        </p:nvSpPr>
        <p:spPr>
          <a:xfrm>
            <a:off x="676656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8" name="Shape 45"/>
          <p:cNvSpPr/>
          <p:nvPr/>
        </p:nvSpPr>
        <p:spPr>
          <a:xfrm>
            <a:off x="726948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9" name="Shape 46"/>
          <p:cNvSpPr/>
          <p:nvPr/>
        </p:nvSpPr>
        <p:spPr>
          <a:xfrm>
            <a:off x="777240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0" name="Shape 47"/>
          <p:cNvSpPr/>
          <p:nvPr/>
        </p:nvSpPr>
        <p:spPr>
          <a:xfrm>
            <a:off x="827532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1" name="Shape 48"/>
          <p:cNvSpPr/>
          <p:nvPr/>
        </p:nvSpPr>
        <p:spPr>
          <a:xfrm>
            <a:off x="8778240" y="3383280"/>
            <a:ext cx="310896" cy="310896"/>
          </a:xfrm>
          <a:prstGeom prst="ellipse">
            <a:avLst/>
          </a:prstGeom>
          <a:solidFill>
            <a:srgbClr val="FFA500"/>
          </a:solidFill>
          <a:ln w="12700">
            <a:solidFill>
              <a:srgbClr val="FFA500"/>
            </a:solidFill>
            <a:prstDash val="solid"/>
          </a:ln>
        </p:spPr>
        <p:txBody>
          <a:bodyPr/>
          <a:lstStyle/>
          <a:p>
            <a:endParaRPr lang="ko-KR" altLang="en-US"/>
          </a:p>
        </p:txBody>
      </p:sp>
      <p:sp>
        <p:nvSpPr>
          <p:cNvPr id="52" name="Shape 49"/>
          <p:cNvSpPr/>
          <p:nvPr/>
        </p:nvSpPr>
        <p:spPr>
          <a:xfrm>
            <a:off x="928116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3" name="Shape 50"/>
          <p:cNvSpPr/>
          <p:nvPr/>
        </p:nvSpPr>
        <p:spPr>
          <a:xfrm>
            <a:off x="9784080" y="338328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54" name="Shape 51"/>
          <p:cNvSpPr/>
          <p:nvPr/>
        </p:nvSpPr>
        <p:spPr>
          <a:xfrm>
            <a:off x="1028700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5" name="Shape 52"/>
          <p:cNvSpPr/>
          <p:nvPr/>
        </p:nvSpPr>
        <p:spPr>
          <a:xfrm>
            <a:off x="1078992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6" name="Shape 53"/>
          <p:cNvSpPr/>
          <p:nvPr/>
        </p:nvSpPr>
        <p:spPr>
          <a:xfrm>
            <a:off x="676656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7" name="Shape 54"/>
          <p:cNvSpPr/>
          <p:nvPr/>
        </p:nvSpPr>
        <p:spPr>
          <a:xfrm>
            <a:off x="726948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8" name="Shape 55"/>
          <p:cNvSpPr/>
          <p:nvPr/>
        </p:nvSpPr>
        <p:spPr>
          <a:xfrm>
            <a:off x="777240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9" name="Shape 56"/>
          <p:cNvSpPr/>
          <p:nvPr/>
        </p:nvSpPr>
        <p:spPr>
          <a:xfrm>
            <a:off x="827532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0" name="Shape 57"/>
          <p:cNvSpPr/>
          <p:nvPr/>
        </p:nvSpPr>
        <p:spPr>
          <a:xfrm>
            <a:off x="8778240" y="379476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61" name="Shape 58"/>
          <p:cNvSpPr/>
          <p:nvPr/>
        </p:nvSpPr>
        <p:spPr>
          <a:xfrm>
            <a:off x="928116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2" name="Shape 59"/>
          <p:cNvSpPr/>
          <p:nvPr/>
        </p:nvSpPr>
        <p:spPr>
          <a:xfrm>
            <a:off x="978408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3" name="Shape 60"/>
          <p:cNvSpPr/>
          <p:nvPr/>
        </p:nvSpPr>
        <p:spPr>
          <a:xfrm>
            <a:off x="1028700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4" name="Shape 61"/>
          <p:cNvSpPr/>
          <p:nvPr/>
        </p:nvSpPr>
        <p:spPr>
          <a:xfrm>
            <a:off x="1078992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5" name="Shape 62"/>
          <p:cNvSpPr/>
          <p:nvPr/>
        </p:nvSpPr>
        <p:spPr>
          <a:xfrm>
            <a:off x="676656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6" name="Shape 63"/>
          <p:cNvSpPr/>
          <p:nvPr/>
        </p:nvSpPr>
        <p:spPr>
          <a:xfrm>
            <a:off x="726948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7" name="Shape 64"/>
          <p:cNvSpPr/>
          <p:nvPr/>
        </p:nvSpPr>
        <p:spPr>
          <a:xfrm>
            <a:off x="7772400" y="420624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68" name="Shape 65"/>
          <p:cNvSpPr/>
          <p:nvPr/>
        </p:nvSpPr>
        <p:spPr>
          <a:xfrm>
            <a:off x="827532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9" name="Shape 66"/>
          <p:cNvSpPr/>
          <p:nvPr/>
        </p:nvSpPr>
        <p:spPr>
          <a:xfrm>
            <a:off x="877824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70" name="Shape 67"/>
          <p:cNvSpPr/>
          <p:nvPr/>
        </p:nvSpPr>
        <p:spPr>
          <a:xfrm>
            <a:off x="928116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71" name="Shape 68"/>
          <p:cNvSpPr/>
          <p:nvPr/>
        </p:nvSpPr>
        <p:spPr>
          <a:xfrm>
            <a:off x="978408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72" name="Shape 69"/>
          <p:cNvSpPr/>
          <p:nvPr/>
        </p:nvSpPr>
        <p:spPr>
          <a:xfrm>
            <a:off x="1028700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73" name="Shape 70"/>
          <p:cNvSpPr/>
          <p:nvPr/>
        </p:nvSpPr>
        <p:spPr>
          <a:xfrm>
            <a:off x="1078992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74" name="Text 71"/>
          <p:cNvSpPr txBox="1"/>
          <p:nvPr/>
        </p:nvSpPr>
        <p:spPr>
          <a:xfrm>
            <a:off x="6675120" y="4709160"/>
            <a:ext cx="4937760" cy="32004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고정 위치 나노웰 · 웰당 한 클론</a:t>
            </a:r>
            <a:endParaRPr lang="en-US" sz="1200" dirty="0"/>
          </a:p>
        </p:txBody>
      </p:sp>
      <p:sp>
        <p:nvSpPr>
          <p:cNvPr id="75" name="Shape 72"/>
          <p:cNvSpPr/>
          <p:nvPr/>
        </p:nvSpPr>
        <p:spPr>
          <a:xfrm>
            <a:off x="548640" y="544068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76" name="Text 73"/>
          <p:cNvSpPr txBox="1"/>
          <p:nvPr/>
        </p:nvSpPr>
        <p:spPr>
          <a:xfrm>
            <a:off x="54864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Bridge amplification</a:t>
            </a:r>
            <a:endParaRPr lang="en-US" sz="1400" dirty="0"/>
          </a:p>
        </p:txBody>
      </p:sp>
      <p:sp>
        <p:nvSpPr>
          <p:cNvPr id="77" name="Shape 74"/>
          <p:cNvSpPr/>
          <p:nvPr/>
        </p:nvSpPr>
        <p:spPr>
          <a:xfrm>
            <a:off x="4312920" y="544068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78" name="Text 75"/>
          <p:cNvSpPr txBox="1"/>
          <p:nvPr/>
        </p:nvSpPr>
        <p:spPr>
          <a:xfrm>
            <a:off x="431292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Patterned flow cell</a:t>
            </a:r>
            <a:endParaRPr lang="en-US" sz="1400" dirty="0"/>
          </a:p>
        </p:txBody>
      </p:sp>
      <p:sp>
        <p:nvSpPr>
          <p:cNvPr id="79" name="Shape 76"/>
          <p:cNvSpPr/>
          <p:nvPr/>
        </p:nvSpPr>
        <p:spPr>
          <a:xfrm>
            <a:off x="8077200" y="5440680"/>
            <a:ext cx="3535680" cy="502920"/>
          </a:xfrm>
          <a:prstGeom prst="roundRect">
            <a:avLst>
              <a:gd name="adj" fmla="val 14545"/>
            </a:avLst>
          </a:prstGeom>
          <a:solidFill>
            <a:srgbClr val="FFA500"/>
          </a:solidFill>
          <a:ln w="12700">
            <a:solidFill>
              <a:srgbClr val="FFA500"/>
            </a:solidFill>
            <a:prstDash val="solid"/>
          </a:ln>
        </p:spPr>
        <p:txBody>
          <a:bodyPr/>
          <a:lstStyle/>
          <a:p>
            <a:endParaRPr lang="ko-KR" altLang="en-US"/>
          </a:p>
        </p:txBody>
      </p:sp>
      <p:sp>
        <p:nvSpPr>
          <p:cNvPr id="80" name="Text 77"/>
          <p:cNvSpPr txBox="1"/>
          <p:nvPr/>
        </p:nvSpPr>
        <p:spPr>
          <a:xfrm>
            <a:off x="807720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ExAmp</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SBS: 사이클당 한 염기</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Bentley DR et al. Nature 2008;456:53 · Illumina. Sequencing Technology (SBS) · Illumina. 2-Channel SBS · Hirai T et al. Biologicals 2024;85:101739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20</a:t>
            </a:r>
            <a:endParaRPr lang="en-US" sz="900" dirty="0"/>
          </a:p>
        </p:txBody>
      </p:sp>
      <p:sp>
        <p:nvSpPr>
          <p:cNvPr id="8" name="Shape 5"/>
          <p:cNvSpPr/>
          <p:nvPr/>
        </p:nvSpPr>
        <p:spPr>
          <a:xfrm>
            <a:off x="548640" y="1828800"/>
            <a:ext cx="1600200" cy="1600200"/>
          </a:xfrm>
          <a:prstGeom prst="ellipse">
            <a:avLst/>
          </a:prstGeom>
          <a:solidFill>
            <a:srgbClr val="FFA500"/>
          </a:solidFill>
          <a:ln w="12700">
            <a:solidFill>
              <a:srgbClr val="FFA500"/>
            </a:solidFill>
            <a:prstDash val="solid"/>
          </a:ln>
        </p:spPr>
        <p:txBody>
          <a:bodyPr/>
          <a:lstStyle/>
          <a:p>
            <a:endParaRPr lang="ko-KR" altLang="en-US"/>
          </a:p>
        </p:txBody>
      </p:sp>
      <p:sp>
        <p:nvSpPr>
          <p:cNvPr id="9" name="Text 6"/>
          <p:cNvSpPr txBox="1"/>
          <p:nvPr/>
        </p:nvSpPr>
        <p:spPr>
          <a:xfrm>
            <a:off x="548640" y="2148840"/>
            <a:ext cx="1600200" cy="457200"/>
          </a:xfrm>
          <a:prstGeom prst="rect">
            <a:avLst/>
          </a:prstGeom>
          <a:noFill/>
          <a:ln/>
        </p:spPr>
        <p:txBody>
          <a:bodyPr wrap="square" lIns="0" tIns="0" rIns="0" bIns="0" rtlCol="0" anchor="t"/>
          <a:lstStyle/>
          <a:p>
            <a:pPr marL="0" indent="0" algn="ctr">
              <a:buNone/>
            </a:pPr>
            <a:r>
              <a:rPr lang="en-US" sz="2000" b="1" dirty="0">
                <a:solidFill>
                  <a:srgbClr val="000080"/>
                </a:solidFill>
                <a:latin typeface="Malgun Gothic" pitchFamily="34" charset="0"/>
                <a:ea typeface="Malgun Gothic" pitchFamily="34" charset="-122"/>
                <a:cs typeface="Malgun Gothic" pitchFamily="34" charset="-120"/>
              </a:rPr>
              <a:t>결합</a:t>
            </a:r>
            <a:endParaRPr lang="en-US" sz="2000" dirty="0"/>
          </a:p>
        </p:txBody>
      </p:sp>
      <p:sp>
        <p:nvSpPr>
          <p:cNvPr id="10" name="Text 7"/>
          <p:cNvSpPr txBox="1"/>
          <p:nvPr/>
        </p:nvSpPr>
        <p:spPr>
          <a:xfrm>
            <a:off x="640080" y="2606040"/>
            <a:ext cx="1417320" cy="548640"/>
          </a:xfrm>
          <a:prstGeom prst="rect">
            <a:avLst/>
          </a:prstGeom>
          <a:noFill/>
          <a:ln/>
        </p:spPr>
        <p:txBody>
          <a:bodyPr wrap="square" lIns="0" tIns="0" rIns="0" bIns="0" rtlCol="0" anchor="t"/>
          <a:lstStyle/>
          <a:p>
            <a:pPr marL="0" indent="0" algn="ctr">
              <a:buNone/>
            </a:pPr>
            <a:r>
              <a:rPr lang="en-US" sz="1050" dirty="0">
                <a:solidFill>
                  <a:srgbClr val="595959"/>
                </a:solidFill>
                <a:latin typeface="Malgun Gothic" pitchFamily="34" charset="0"/>
                <a:ea typeface="Malgun Gothic" pitchFamily="34" charset="-122"/>
                <a:cs typeface="Malgun Gothic" pitchFamily="34" charset="-120"/>
              </a:rPr>
              <a:t>종결자 dNTP 1개</a:t>
            </a:r>
            <a:endParaRPr lang="en-US" sz="1050" dirty="0"/>
          </a:p>
        </p:txBody>
      </p:sp>
      <p:sp>
        <p:nvSpPr>
          <p:cNvPr id="11" name="Shape 8"/>
          <p:cNvSpPr/>
          <p:nvPr/>
        </p:nvSpPr>
        <p:spPr>
          <a:xfrm>
            <a:off x="2194560" y="2628900"/>
            <a:ext cx="320040" cy="0"/>
          </a:xfrm>
          <a:prstGeom prst="line">
            <a:avLst/>
          </a:prstGeom>
          <a:noFill/>
          <a:ln w="19050">
            <a:solidFill>
              <a:srgbClr val="7F7F7F"/>
            </a:solidFill>
            <a:prstDash val="solid"/>
            <a:tailEnd type="triangle"/>
          </a:ln>
        </p:spPr>
        <p:txBody>
          <a:bodyPr/>
          <a:lstStyle/>
          <a:p>
            <a:endParaRPr lang="ko-KR" altLang="en-US"/>
          </a:p>
        </p:txBody>
      </p:sp>
      <p:sp>
        <p:nvSpPr>
          <p:cNvPr id="12" name="Shape 9"/>
          <p:cNvSpPr/>
          <p:nvPr/>
        </p:nvSpPr>
        <p:spPr>
          <a:xfrm>
            <a:off x="2560320" y="1828800"/>
            <a:ext cx="1600200" cy="1600200"/>
          </a:xfrm>
          <a:prstGeom prst="ellipse">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2560320" y="2148840"/>
            <a:ext cx="1600200" cy="457200"/>
          </a:xfrm>
          <a:prstGeom prst="rect">
            <a:avLst/>
          </a:prstGeom>
          <a:noFill/>
          <a:ln/>
        </p:spPr>
        <p:txBody>
          <a:bodyPr wrap="square" lIns="0" tIns="0" rIns="0" bIns="0" rtlCol="0" anchor="t"/>
          <a:lstStyle/>
          <a:p>
            <a:pPr marL="0" indent="0" algn="ctr">
              <a:buNone/>
            </a:pPr>
            <a:r>
              <a:rPr lang="en-US" sz="2000" b="1" dirty="0">
                <a:solidFill>
                  <a:srgbClr val="000080"/>
                </a:solidFill>
                <a:latin typeface="Malgun Gothic" pitchFamily="34" charset="0"/>
                <a:ea typeface="Malgun Gothic" pitchFamily="34" charset="-122"/>
                <a:cs typeface="Malgun Gothic" pitchFamily="34" charset="-120"/>
              </a:rPr>
              <a:t>촬영</a:t>
            </a:r>
            <a:endParaRPr lang="en-US" sz="2000" dirty="0"/>
          </a:p>
        </p:txBody>
      </p:sp>
      <p:sp>
        <p:nvSpPr>
          <p:cNvPr id="14" name="Text 11"/>
          <p:cNvSpPr txBox="1"/>
          <p:nvPr/>
        </p:nvSpPr>
        <p:spPr>
          <a:xfrm>
            <a:off x="2651760" y="2606040"/>
            <a:ext cx="1417320" cy="548640"/>
          </a:xfrm>
          <a:prstGeom prst="rect">
            <a:avLst/>
          </a:prstGeom>
          <a:noFill/>
          <a:ln/>
        </p:spPr>
        <p:txBody>
          <a:bodyPr wrap="square" lIns="0" tIns="0" rIns="0" bIns="0" rtlCol="0" anchor="t"/>
          <a:lstStyle/>
          <a:p>
            <a:pPr marL="0" indent="0" algn="ctr">
              <a:buNone/>
            </a:pPr>
            <a:r>
              <a:rPr lang="en-US" sz="1050" dirty="0">
                <a:solidFill>
                  <a:srgbClr val="595959"/>
                </a:solidFill>
                <a:latin typeface="Malgun Gothic" pitchFamily="34" charset="0"/>
                <a:ea typeface="Malgun Gothic" pitchFamily="34" charset="-122"/>
                <a:cs typeface="Malgun Gothic" pitchFamily="34" charset="-120"/>
              </a:rPr>
              <a:t>형광 판독</a:t>
            </a:r>
            <a:endParaRPr lang="en-US" sz="1050" dirty="0"/>
          </a:p>
        </p:txBody>
      </p:sp>
      <p:sp>
        <p:nvSpPr>
          <p:cNvPr id="15" name="Shape 12"/>
          <p:cNvSpPr/>
          <p:nvPr/>
        </p:nvSpPr>
        <p:spPr>
          <a:xfrm>
            <a:off x="4206240" y="2628900"/>
            <a:ext cx="320040" cy="0"/>
          </a:xfrm>
          <a:prstGeom prst="line">
            <a:avLst/>
          </a:prstGeom>
          <a:noFill/>
          <a:ln w="19050">
            <a:solidFill>
              <a:srgbClr val="7F7F7F"/>
            </a:solidFill>
            <a:prstDash val="solid"/>
            <a:tailEnd type="triangle"/>
          </a:ln>
        </p:spPr>
        <p:txBody>
          <a:bodyPr/>
          <a:lstStyle/>
          <a:p>
            <a:endParaRPr lang="ko-KR" altLang="en-US"/>
          </a:p>
        </p:txBody>
      </p:sp>
      <p:sp>
        <p:nvSpPr>
          <p:cNvPr id="16" name="Shape 13"/>
          <p:cNvSpPr/>
          <p:nvPr/>
        </p:nvSpPr>
        <p:spPr>
          <a:xfrm>
            <a:off x="4572000" y="1828800"/>
            <a:ext cx="1600200" cy="1600200"/>
          </a:xfrm>
          <a:prstGeom prst="ellipse">
            <a:avLst/>
          </a:prstGeom>
          <a:solidFill>
            <a:srgbClr val="F2F2F2"/>
          </a:solidFill>
          <a:ln w="12700">
            <a:solidFill>
              <a:srgbClr val="F2F2F2"/>
            </a:solidFill>
            <a:prstDash val="solid"/>
          </a:ln>
        </p:spPr>
        <p:txBody>
          <a:bodyPr/>
          <a:lstStyle/>
          <a:p>
            <a:endParaRPr lang="ko-KR" altLang="en-US"/>
          </a:p>
        </p:txBody>
      </p:sp>
      <p:sp>
        <p:nvSpPr>
          <p:cNvPr id="17" name="Text 14"/>
          <p:cNvSpPr txBox="1"/>
          <p:nvPr/>
        </p:nvSpPr>
        <p:spPr>
          <a:xfrm>
            <a:off x="4572000" y="2148840"/>
            <a:ext cx="1600200" cy="457200"/>
          </a:xfrm>
          <a:prstGeom prst="rect">
            <a:avLst/>
          </a:prstGeom>
          <a:noFill/>
          <a:ln/>
        </p:spPr>
        <p:txBody>
          <a:bodyPr wrap="square" lIns="0" tIns="0" rIns="0" bIns="0" rtlCol="0" anchor="t"/>
          <a:lstStyle/>
          <a:p>
            <a:pPr marL="0" indent="0" algn="ctr">
              <a:buNone/>
            </a:pPr>
            <a:r>
              <a:rPr lang="en-US" sz="2000" b="1" dirty="0">
                <a:solidFill>
                  <a:srgbClr val="000080"/>
                </a:solidFill>
                <a:latin typeface="Malgun Gothic" pitchFamily="34" charset="0"/>
                <a:ea typeface="Malgun Gothic" pitchFamily="34" charset="-122"/>
                <a:cs typeface="Malgun Gothic" pitchFamily="34" charset="-120"/>
              </a:rPr>
              <a:t>절단</a:t>
            </a:r>
            <a:endParaRPr lang="en-US" sz="2000" dirty="0"/>
          </a:p>
        </p:txBody>
      </p:sp>
      <p:sp>
        <p:nvSpPr>
          <p:cNvPr id="18" name="Text 15"/>
          <p:cNvSpPr txBox="1"/>
          <p:nvPr/>
        </p:nvSpPr>
        <p:spPr>
          <a:xfrm>
            <a:off x="4663440" y="2606040"/>
            <a:ext cx="1417320" cy="548640"/>
          </a:xfrm>
          <a:prstGeom prst="rect">
            <a:avLst/>
          </a:prstGeom>
          <a:noFill/>
          <a:ln/>
        </p:spPr>
        <p:txBody>
          <a:bodyPr wrap="square" lIns="0" tIns="0" rIns="0" bIns="0" rtlCol="0" anchor="t"/>
          <a:lstStyle/>
          <a:p>
            <a:pPr marL="0" indent="0" algn="ctr">
              <a:buNone/>
            </a:pPr>
            <a:r>
              <a:rPr lang="en-US" sz="1050" dirty="0">
                <a:solidFill>
                  <a:srgbClr val="595959"/>
                </a:solidFill>
                <a:latin typeface="Malgun Gothic" pitchFamily="34" charset="0"/>
                <a:ea typeface="Malgun Gothic" pitchFamily="34" charset="-122"/>
                <a:cs typeface="Malgun Gothic" pitchFamily="34" charset="-120"/>
              </a:rPr>
              <a:t>형광 · 종결기 제거</a:t>
            </a:r>
            <a:endParaRPr lang="en-US" sz="1050" dirty="0"/>
          </a:p>
        </p:txBody>
      </p:sp>
      <p:sp>
        <p:nvSpPr>
          <p:cNvPr id="19" name="Text 16"/>
          <p:cNvSpPr txBox="1"/>
          <p:nvPr/>
        </p:nvSpPr>
        <p:spPr>
          <a:xfrm>
            <a:off x="548640" y="3611880"/>
            <a:ext cx="5852160" cy="3657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 읽기 길이만큼 반복</a:t>
            </a:r>
            <a:endParaRPr lang="en-US" sz="1300" dirty="0"/>
          </a:p>
        </p:txBody>
      </p:sp>
      <p:sp>
        <p:nvSpPr>
          <p:cNvPr id="20" name="Text 17"/>
          <p:cNvSpPr txBox="1"/>
          <p:nvPr/>
        </p:nvSpPr>
        <p:spPr>
          <a:xfrm>
            <a:off x="6949440" y="1600200"/>
            <a:ext cx="4572000" cy="365760"/>
          </a:xfrm>
          <a:prstGeom prst="rect">
            <a:avLst/>
          </a:prstGeom>
          <a:noFill/>
          <a:ln/>
        </p:spPr>
        <p:txBody>
          <a:bodyPr wrap="square" lIns="0" tIns="0" rIns="0" bIns="0" rtlCol="0" anchor="t"/>
          <a:lstStyle/>
          <a:p>
            <a:pPr marL="0" indent="0">
              <a:buNone/>
            </a:pPr>
            <a:r>
              <a:rPr lang="en-US" sz="1400" b="1" dirty="0">
                <a:solidFill>
                  <a:srgbClr val="000080"/>
                </a:solidFill>
                <a:latin typeface="Malgun Gothic" pitchFamily="34" charset="0"/>
                <a:ea typeface="Malgun Gothic" pitchFamily="34" charset="-122"/>
                <a:cs typeface="Malgun Gothic" pitchFamily="34" charset="-120"/>
              </a:rPr>
              <a:t>2-channel 판독</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949440" y="2011680"/>
          <a:ext cx="4663440" cy="2377440"/>
        </p:xfrm>
        <a:graphic>
          <a:graphicData uri="http://schemas.openxmlformats.org/drawingml/2006/table">
            <a:tbl>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75488">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염기</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적색</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녹색</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475488">
                <a:tc>
                  <a:txBody>
                    <a:bodyPr/>
                    <a:lstStyle/>
                    <a:p>
                      <a:pPr marL="0" indent="0" algn="ctr">
                        <a:buNone/>
                      </a:pPr>
                      <a:r>
                        <a:rPr lang="en-US" sz="2000" b="1" dirty="0">
                          <a:solidFill>
                            <a:srgbClr val="000080"/>
                          </a:solidFill>
                          <a:latin typeface="Arial" pitchFamily="34" charset="0"/>
                          <a:ea typeface="Arial" pitchFamily="34" charset="-122"/>
                          <a:cs typeface="Arial" pitchFamily="34" charset="-120"/>
                        </a:rPr>
                        <a:t>A</a:t>
                      </a:r>
                      <a:endParaRPr lang="en-US" sz="20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2000" b="1" dirty="0">
                          <a:solidFill>
                            <a:srgbClr val="000080"/>
                          </a:solidFill>
                          <a:latin typeface="Arial" pitchFamily="34" charset="0"/>
                          <a:ea typeface="Arial" pitchFamily="34" charset="-122"/>
                          <a:cs typeface="Arial" pitchFamily="34" charset="-120"/>
                        </a:rPr>
                        <a:t>C</a:t>
                      </a:r>
                      <a:endParaRPr lang="en-US" sz="20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2000" b="1" dirty="0">
                          <a:solidFill>
                            <a:srgbClr val="000080"/>
                          </a:solidFill>
                          <a:latin typeface="Arial" pitchFamily="34" charset="0"/>
                          <a:ea typeface="Arial" pitchFamily="34" charset="-122"/>
                          <a:cs typeface="Arial" pitchFamily="34" charset="-120"/>
                        </a:rPr>
                        <a:t>T</a:t>
                      </a:r>
                      <a:endParaRPr lang="en-US" sz="20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ctr">
                        <a:buNone/>
                      </a:pPr>
                      <a:r>
                        <a:rPr lang="en-US" sz="2000" b="1" dirty="0">
                          <a:solidFill>
                            <a:srgbClr val="000080"/>
                          </a:solidFill>
                          <a:latin typeface="Arial" pitchFamily="34" charset="0"/>
                          <a:ea typeface="Arial" pitchFamily="34" charset="-122"/>
                          <a:cs typeface="Arial" pitchFamily="34" charset="-120"/>
                        </a:rPr>
                        <a:t>G</a:t>
                      </a:r>
                      <a:endParaRPr lang="en-US" sz="20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2" name="Text 18"/>
          <p:cNvSpPr txBox="1"/>
          <p:nvPr/>
        </p:nvSpPr>
        <p:spPr>
          <a:xfrm>
            <a:off x="6949440" y="4526280"/>
            <a:ext cx="4663440" cy="274320"/>
          </a:xfrm>
          <a:prstGeom prst="rect">
            <a:avLst/>
          </a:prstGeom>
          <a:noFill/>
          <a:ln/>
        </p:spPr>
        <p:txBody>
          <a:bodyPr wrap="square" lIns="0" tIns="0" rIns="0" bIns="0" rtlCol="0" anchor="t"/>
          <a:lstStyle/>
          <a:p>
            <a:pPr marL="0" indent="0">
              <a:buNone/>
            </a:pPr>
            <a:r>
              <a:rPr lang="en-US" sz="1100" dirty="0">
                <a:solidFill>
                  <a:srgbClr val="7F7F7F"/>
                </a:solidFill>
                <a:latin typeface="Malgun Gothic" pitchFamily="34" charset="0"/>
                <a:ea typeface="Malgun Gothic" pitchFamily="34" charset="-122"/>
                <a:cs typeface="Malgun Gothic" pitchFamily="34" charset="-120"/>
              </a:rPr>
              <a:t>G = 신호 없음 (dark G)</a:t>
            </a:r>
            <a:endParaRPr lang="en-US" sz="1100" dirty="0"/>
          </a:p>
        </p:txBody>
      </p:sp>
      <p:sp>
        <p:nvSpPr>
          <p:cNvPr id="23" name="Shape 19"/>
          <p:cNvSpPr/>
          <p:nvPr/>
        </p:nvSpPr>
        <p:spPr>
          <a:xfrm>
            <a:off x="548640" y="5440680"/>
            <a:ext cx="3535680" cy="502920"/>
          </a:xfrm>
          <a:prstGeom prst="roundRect">
            <a:avLst>
              <a:gd name="adj" fmla="val 14545"/>
            </a:avLst>
          </a:prstGeom>
          <a:solidFill>
            <a:srgbClr val="FFA500"/>
          </a:solidFill>
          <a:ln w="12700">
            <a:solidFill>
              <a:srgbClr val="FFA500"/>
            </a:solidFill>
            <a:prstDash val="solid"/>
          </a:ln>
        </p:spPr>
        <p:txBody>
          <a:bodyPr/>
          <a:lstStyle/>
          <a:p>
            <a:endParaRPr lang="ko-KR" altLang="en-US"/>
          </a:p>
        </p:txBody>
      </p:sp>
      <p:sp>
        <p:nvSpPr>
          <p:cNvPr id="24" name="Text 20"/>
          <p:cNvSpPr txBox="1"/>
          <p:nvPr/>
        </p:nvSpPr>
        <p:spPr>
          <a:xfrm>
            <a:off x="54864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가역적 종결자</a:t>
            </a:r>
            <a:endParaRPr lang="en-US" sz="1400" dirty="0"/>
          </a:p>
        </p:txBody>
      </p:sp>
      <p:sp>
        <p:nvSpPr>
          <p:cNvPr id="25" name="Shape 21"/>
          <p:cNvSpPr/>
          <p:nvPr/>
        </p:nvSpPr>
        <p:spPr>
          <a:xfrm>
            <a:off x="4312920" y="544068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6" name="Text 22"/>
          <p:cNvSpPr txBox="1"/>
          <p:nvPr/>
        </p:nvSpPr>
        <p:spPr>
          <a:xfrm>
            <a:off x="431292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2-channel 판독</a:t>
            </a:r>
            <a:endParaRPr lang="en-US" sz="1400" dirty="0"/>
          </a:p>
        </p:txBody>
      </p:sp>
      <p:sp>
        <p:nvSpPr>
          <p:cNvPr id="27" name="Shape 23"/>
          <p:cNvSpPr/>
          <p:nvPr/>
        </p:nvSpPr>
        <p:spPr>
          <a:xfrm>
            <a:off x="8077200" y="544068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8" name="Text 24"/>
          <p:cNvSpPr txBox="1"/>
          <p:nvPr/>
        </p:nvSpPr>
        <p:spPr>
          <a:xfrm>
            <a:off x="807720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Paired-end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무엇을 시퀀싱할 것인가</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Allander T et al. PNAS 2001;98:11609 · Ng SHS et al. Viruses 2018;10:566 · Onions D et al. Vaccine 2011;29:7117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21</a:t>
            </a:r>
            <a:endParaRPr lang="en-US" sz="900" dirty="0"/>
          </a:p>
        </p:txBody>
      </p:sp>
      <p:sp>
        <p:nvSpPr>
          <p:cNvPr id="8" name="Shape 5"/>
          <p:cNvSpPr/>
          <p:nvPr/>
        </p:nvSpPr>
        <p:spPr>
          <a:xfrm>
            <a:off x="548640" y="1600200"/>
            <a:ext cx="5394960" cy="3246120"/>
          </a:xfrm>
          <a:prstGeom prst="rect">
            <a:avLst/>
          </a:prstGeom>
          <a:solidFill>
            <a:srgbClr val="F2F2F2"/>
          </a:solidFill>
          <a:ln w="12700">
            <a:solidFill>
              <a:srgbClr val="F2F2F2"/>
            </a:solidFill>
            <a:prstDash val="solid"/>
          </a:ln>
        </p:spPr>
        <p:txBody>
          <a:bodyPr/>
          <a:lstStyle/>
          <a:p>
            <a:endParaRPr lang="ko-KR" altLang="en-US"/>
          </a:p>
        </p:txBody>
      </p:sp>
      <p:sp>
        <p:nvSpPr>
          <p:cNvPr id="9" name="Text 6"/>
          <p:cNvSpPr txBox="1"/>
          <p:nvPr/>
        </p:nvSpPr>
        <p:spPr>
          <a:xfrm>
            <a:off x="868680" y="1783080"/>
            <a:ext cx="4846320" cy="457200"/>
          </a:xfrm>
          <a:prstGeom prst="rect">
            <a:avLst/>
          </a:prstGeom>
          <a:noFill/>
          <a:ln/>
        </p:spPr>
        <p:txBody>
          <a:bodyPr wrap="square" lIns="0" tIns="0" rIns="0" bIns="0" rtlCol="0" anchor="t"/>
          <a:lstStyle/>
          <a:p>
            <a:pPr marL="0" indent="0">
              <a:buNone/>
            </a:pPr>
            <a:r>
              <a:rPr lang="en-US" sz="2200" b="1" dirty="0">
                <a:solidFill>
                  <a:srgbClr val="000080"/>
                </a:solidFill>
                <a:latin typeface="Malgun Gothic" pitchFamily="34" charset="0"/>
                <a:ea typeface="Malgun Gothic" pitchFamily="34" charset="-122"/>
                <a:cs typeface="Malgun Gothic" pitchFamily="34" charset="-120"/>
              </a:rPr>
              <a:t>뉴클레이스 처리 · 여과</a:t>
            </a:r>
            <a:endParaRPr lang="en-US" sz="2200" dirty="0"/>
          </a:p>
        </p:txBody>
      </p:sp>
      <p:sp>
        <p:nvSpPr>
          <p:cNvPr id="10" name="Text 7"/>
          <p:cNvSpPr txBox="1"/>
          <p:nvPr/>
        </p:nvSpPr>
        <p:spPr>
          <a:xfrm>
            <a:off x="868680" y="2286000"/>
            <a:ext cx="4846320" cy="3657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입자 내 핵산 농축</a:t>
            </a:r>
            <a:endParaRPr lang="en-US" sz="1300" dirty="0"/>
          </a:p>
        </p:txBody>
      </p:sp>
      <p:sp>
        <p:nvSpPr>
          <p:cNvPr id="11" name="Text 8"/>
          <p:cNvSpPr txBox="1"/>
          <p:nvPr/>
        </p:nvSpPr>
        <p:spPr>
          <a:xfrm>
            <a:off x="868680" y="2926080"/>
            <a:ext cx="365760" cy="457200"/>
          </a:xfrm>
          <a:prstGeom prst="rect">
            <a:avLst/>
          </a:prstGeom>
          <a:noFill/>
          <a:ln/>
        </p:spPr>
        <p:txBody>
          <a:bodyPr wrap="square" lIns="0" tIns="0" rIns="0" bIns="0" rtlCol="0" anchor="t"/>
          <a:lstStyle/>
          <a:p>
            <a:pPr marL="0" indent="0">
              <a:buNone/>
            </a:pPr>
            <a:r>
              <a:rPr lang="en-US" sz="2600" b="1" dirty="0">
                <a:solidFill>
                  <a:srgbClr val="000080"/>
                </a:solidFill>
                <a:latin typeface="Arial" pitchFamily="34" charset="0"/>
                <a:ea typeface="Arial" pitchFamily="34" charset="-122"/>
                <a:cs typeface="Arial" pitchFamily="34" charset="-120"/>
              </a:rPr>
              <a:t>+</a:t>
            </a:r>
            <a:endParaRPr lang="en-US" sz="2600" dirty="0"/>
          </a:p>
        </p:txBody>
      </p:sp>
      <p:sp>
        <p:nvSpPr>
          <p:cNvPr id="12" name="Text 9"/>
          <p:cNvSpPr txBox="1"/>
          <p:nvPr/>
        </p:nvSpPr>
        <p:spPr>
          <a:xfrm>
            <a:off x="1325880" y="2971800"/>
            <a:ext cx="4389120" cy="457200"/>
          </a:xfrm>
          <a:prstGeom prst="rect">
            <a:avLst/>
          </a:prstGeom>
          <a:noFill/>
          <a:ln/>
        </p:spPr>
        <p:txBody>
          <a:bodyPr wrap="square" lIns="0" tIns="0" rIns="0" bIns="0" rtlCol="0" anchor="t"/>
          <a:lstStyle/>
          <a:p>
            <a:pPr marL="0" indent="0">
              <a:buNone/>
            </a:pPr>
            <a:r>
              <a:rPr lang="en-US" sz="1700" dirty="0">
                <a:solidFill>
                  <a:srgbClr val="000080"/>
                </a:solidFill>
                <a:latin typeface="Malgun Gothic" pitchFamily="34" charset="0"/>
                <a:ea typeface="Malgun Gothic" pitchFamily="34" charset="-122"/>
                <a:cs typeface="Malgun Gothic" pitchFamily="34" charset="-120"/>
              </a:rPr>
              <a:t>숙주 배경 감소</a:t>
            </a:r>
            <a:endParaRPr lang="en-US" sz="1700" dirty="0"/>
          </a:p>
        </p:txBody>
      </p:sp>
      <p:sp>
        <p:nvSpPr>
          <p:cNvPr id="13" name="Text 10"/>
          <p:cNvSpPr txBox="1"/>
          <p:nvPr/>
        </p:nvSpPr>
        <p:spPr>
          <a:xfrm>
            <a:off x="868680" y="3703320"/>
            <a:ext cx="365760" cy="457200"/>
          </a:xfrm>
          <a:prstGeom prst="rect">
            <a:avLst/>
          </a:prstGeom>
          <a:noFill/>
          <a:ln/>
        </p:spPr>
        <p:txBody>
          <a:bodyPr wrap="square" lIns="0" tIns="0" rIns="0" bIns="0" rtlCol="0" anchor="t"/>
          <a:lstStyle/>
          <a:p>
            <a:pPr marL="0" indent="0">
              <a:buNone/>
            </a:pPr>
            <a:r>
              <a:rPr lang="en-US" sz="2600" b="1" dirty="0">
                <a:solidFill>
                  <a:srgbClr val="7F7F7F"/>
                </a:solidFill>
                <a:latin typeface="Arial" pitchFamily="34" charset="0"/>
                <a:ea typeface="Arial" pitchFamily="34" charset="-122"/>
                <a:cs typeface="Arial" pitchFamily="34" charset="-120"/>
              </a:rPr>
              <a:t>−</a:t>
            </a:r>
            <a:endParaRPr lang="en-US" sz="2600" dirty="0"/>
          </a:p>
        </p:txBody>
      </p:sp>
      <p:sp>
        <p:nvSpPr>
          <p:cNvPr id="14" name="Text 11"/>
          <p:cNvSpPr txBox="1"/>
          <p:nvPr/>
        </p:nvSpPr>
        <p:spPr>
          <a:xfrm>
            <a:off x="1325880" y="3749040"/>
            <a:ext cx="4389120" cy="457200"/>
          </a:xfrm>
          <a:prstGeom prst="rect">
            <a:avLst/>
          </a:prstGeom>
          <a:noFill/>
          <a:ln/>
        </p:spPr>
        <p:txBody>
          <a:bodyPr wrap="square" lIns="0" tIns="0" rIns="0" bIns="0" rtlCol="0" anchor="t"/>
          <a:lstStyle/>
          <a:p>
            <a:pPr marL="0" indent="0">
              <a:buNone/>
            </a:pPr>
            <a:r>
              <a:rPr lang="en-US" sz="1700" dirty="0">
                <a:solidFill>
                  <a:srgbClr val="595959"/>
                </a:solidFill>
                <a:latin typeface="Malgun Gothic" pitchFamily="34" charset="0"/>
                <a:ea typeface="Malgun Gothic" pitchFamily="34" charset="-122"/>
                <a:cs typeface="Malgun Gothic" pitchFamily="34" charset="-120"/>
              </a:rPr>
              <a:t>잠복 · 통합 바이러스 누락</a:t>
            </a:r>
            <a:endParaRPr lang="en-US" sz="1700" dirty="0"/>
          </a:p>
        </p:txBody>
      </p:sp>
      <p:sp>
        <p:nvSpPr>
          <p:cNvPr id="15" name="Shape 12"/>
          <p:cNvSpPr/>
          <p:nvPr/>
        </p:nvSpPr>
        <p:spPr>
          <a:xfrm>
            <a:off x="6263640" y="1600200"/>
            <a:ext cx="5394960" cy="3246120"/>
          </a:xfrm>
          <a:prstGeom prst="rect">
            <a:avLst/>
          </a:prstGeom>
          <a:solidFill>
            <a:srgbClr val="FFFFFF"/>
          </a:solidFill>
          <a:ln w="12700">
            <a:solidFill>
              <a:srgbClr val="FFA500"/>
            </a:solidFill>
            <a:prstDash val="solid"/>
          </a:ln>
        </p:spPr>
        <p:txBody>
          <a:bodyPr/>
          <a:lstStyle/>
          <a:p>
            <a:endParaRPr lang="ko-KR" altLang="en-US"/>
          </a:p>
        </p:txBody>
      </p:sp>
      <p:sp>
        <p:nvSpPr>
          <p:cNvPr id="16" name="Text 13"/>
          <p:cNvSpPr txBox="1"/>
          <p:nvPr/>
        </p:nvSpPr>
        <p:spPr>
          <a:xfrm>
            <a:off x="6583680" y="1783080"/>
            <a:ext cx="4846320" cy="457200"/>
          </a:xfrm>
          <a:prstGeom prst="rect">
            <a:avLst/>
          </a:prstGeom>
          <a:noFill/>
          <a:ln/>
        </p:spPr>
        <p:txBody>
          <a:bodyPr wrap="square" lIns="0" tIns="0" rIns="0" bIns="0" rtlCol="0" anchor="t"/>
          <a:lstStyle/>
          <a:p>
            <a:pPr marL="0" indent="0">
              <a:buNone/>
            </a:pPr>
            <a:r>
              <a:rPr lang="en-US" sz="2200" b="1" dirty="0">
                <a:solidFill>
                  <a:srgbClr val="000080"/>
                </a:solidFill>
                <a:latin typeface="Malgun Gothic" pitchFamily="34" charset="0"/>
                <a:ea typeface="Malgun Gothic" pitchFamily="34" charset="-122"/>
                <a:cs typeface="Malgun Gothic" pitchFamily="34" charset="-120"/>
              </a:rPr>
              <a:t>총 핵산 · 전사체</a:t>
            </a:r>
            <a:endParaRPr lang="en-US" sz="2200" dirty="0"/>
          </a:p>
        </p:txBody>
      </p:sp>
      <p:sp>
        <p:nvSpPr>
          <p:cNvPr id="17" name="Text 14"/>
          <p:cNvSpPr txBox="1"/>
          <p:nvPr/>
        </p:nvSpPr>
        <p:spPr>
          <a:xfrm>
            <a:off x="6583680" y="2286000"/>
            <a:ext cx="4846320" cy="3657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세포 전체 분석</a:t>
            </a:r>
            <a:endParaRPr lang="en-US" sz="1300" dirty="0"/>
          </a:p>
        </p:txBody>
      </p:sp>
      <p:sp>
        <p:nvSpPr>
          <p:cNvPr id="18" name="Text 15"/>
          <p:cNvSpPr txBox="1"/>
          <p:nvPr/>
        </p:nvSpPr>
        <p:spPr>
          <a:xfrm>
            <a:off x="6583680" y="2926080"/>
            <a:ext cx="365760" cy="457200"/>
          </a:xfrm>
          <a:prstGeom prst="rect">
            <a:avLst/>
          </a:prstGeom>
          <a:noFill/>
          <a:ln/>
        </p:spPr>
        <p:txBody>
          <a:bodyPr wrap="square" lIns="0" tIns="0" rIns="0" bIns="0" rtlCol="0" anchor="t"/>
          <a:lstStyle/>
          <a:p>
            <a:pPr marL="0" indent="0">
              <a:buNone/>
            </a:pPr>
            <a:r>
              <a:rPr lang="en-US" sz="2600" b="1" dirty="0">
                <a:solidFill>
                  <a:srgbClr val="000080"/>
                </a:solidFill>
                <a:latin typeface="Arial" pitchFamily="34" charset="0"/>
                <a:ea typeface="Arial" pitchFamily="34" charset="-122"/>
                <a:cs typeface="Arial" pitchFamily="34" charset="-120"/>
              </a:rPr>
              <a:t>+</a:t>
            </a:r>
            <a:endParaRPr lang="en-US" sz="2600" dirty="0"/>
          </a:p>
        </p:txBody>
      </p:sp>
      <p:sp>
        <p:nvSpPr>
          <p:cNvPr id="19" name="Text 16"/>
          <p:cNvSpPr txBox="1"/>
          <p:nvPr/>
        </p:nvSpPr>
        <p:spPr>
          <a:xfrm>
            <a:off x="7040880" y="2971800"/>
            <a:ext cx="4389120" cy="457200"/>
          </a:xfrm>
          <a:prstGeom prst="rect">
            <a:avLst/>
          </a:prstGeom>
          <a:noFill/>
          <a:ln/>
        </p:spPr>
        <p:txBody>
          <a:bodyPr wrap="square" lIns="0" tIns="0" rIns="0" bIns="0" rtlCol="0" anchor="t"/>
          <a:lstStyle/>
          <a:p>
            <a:pPr marL="0" indent="0">
              <a:buNone/>
            </a:pPr>
            <a:r>
              <a:rPr lang="en-US" sz="1700" dirty="0">
                <a:solidFill>
                  <a:srgbClr val="000080"/>
                </a:solidFill>
                <a:latin typeface="Malgun Gothic" pitchFamily="34" charset="0"/>
                <a:ea typeface="Malgun Gothic" pitchFamily="34" charset="-122"/>
                <a:cs typeface="Malgun Gothic" pitchFamily="34" charset="-120"/>
              </a:rPr>
              <a:t>잠복 · 발현 바이러스 포착</a:t>
            </a:r>
            <a:endParaRPr lang="en-US" sz="1700" dirty="0"/>
          </a:p>
        </p:txBody>
      </p:sp>
      <p:sp>
        <p:nvSpPr>
          <p:cNvPr id="20" name="Text 17"/>
          <p:cNvSpPr txBox="1"/>
          <p:nvPr/>
        </p:nvSpPr>
        <p:spPr>
          <a:xfrm>
            <a:off x="6583680" y="3703320"/>
            <a:ext cx="365760" cy="457200"/>
          </a:xfrm>
          <a:prstGeom prst="rect">
            <a:avLst/>
          </a:prstGeom>
          <a:noFill/>
          <a:ln/>
        </p:spPr>
        <p:txBody>
          <a:bodyPr wrap="square" lIns="0" tIns="0" rIns="0" bIns="0" rtlCol="0" anchor="t"/>
          <a:lstStyle/>
          <a:p>
            <a:pPr marL="0" indent="0">
              <a:buNone/>
            </a:pPr>
            <a:r>
              <a:rPr lang="en-US" sz="2600" b="1" dirty="0">
                <a:solidFill>
                  <a:srgbClr val="7F7F7F"/>
                </a:solidFill>
                <a:latin typeface="Arial" pitchFamily="34" charset="0"/>
                <a:ea typeface="Arial" pitchFamily="34" charset="-122"/>
                <a:cs typeface="Arial" pitchFamily="34" charset="-120"/>
              </a:rPr>
              <a:t>−</a:t>
            </a:r>
            <a:endParaRPr lang="en-US" sz="2600" dirty="0"/>
          </a:p>
        </p:txBody>
      </p:sp>
      <p:sp>
        <p:nvSpPr>
          <p:cNvPr id="21" name="Text 18"/>
          <p:cNvSpPr txBox="1"/>
          <p:nvPr/>
        </p:nvSpPr>
        <p:spPr>
          <a:xfrm>
            <a:off x="7040880" y="3749040"/>
            <a:ext cx="4389120" cy="457200"/>
          </a:xfrm>
          <a:prstGeom prst="rect">
            <a:avLst/>
          </a:prstGeom>
          <a:noFill/>
          <a:ln/>
        </p:spPr>
        <p:txBody>
          <a:bodyPr wrap="square" lIns="0" tIns="0" rIns="0" bIns="0" rtlCol="0" anchor="t"/>
          <a:lstStyle/>
          <a:p>
            <a:pPr marL="0" indent="0">
              <a:buNone/>
            </a:pPr>
            <a:r>
              <a:rPr lang="en-US" sz="1700" dirty="0">
                <a:solidFill>
                  <a:srgbClr val="595959"/>
                </a:solidFill>
                <a:latin typeface="Malgun Gothic" pitchFamily="34" charset="0"/>
                <a:ea typeface="Malgun Gothic" pitchFamily="34" charset="-122"/>
                <a:cs typeface="Malgun Gothic" pitchFamily="34" charset="-120"/>
              </a:rPr>
              <a:t>숙주 read 과다</a:t>
            </a:r>
            <a:endParaRPr lang="en-US" sz="1700" dirty="0"/>
          </a:p>
        </p:txBody>
      </p:sp>
      <p:sp>
        <p:nvSpPr>
          <p:cNvPr id="22" name="Text 19"/>
          <p:cNvSpPr txBox="1"/>
          <p:nvPr/>
        </p:nvSpPr>
        <p:spPr>
          <a:xfrm>
            <a:off x="548640" y="5166360"/>
            <a:ext cx="11064240" cy="457200"/>
          </a:xfrm>
          <a:prstGeom prst="rect">
            <a:avLst/>
          </a:prstGeom>
          <a:noFill/>
          <a:ln/>
        </p:spPr>
        <p:txBody>
          <a:bodyPr wrap="square" lIns="0" tIns="0" rIns="0" bIns="0" rtlCol="0" anchor="ctr"/>
          <a:lstStyle/>
          <a:p>
            <a:pPr marL="0" indent="0">
              <a:buNone/>
            </a:pPr>
            <a:r>
              <a:rPr lang="en-US" sz="1600" b="1" dirty="0">
                <a:solidFill>
                  <a:srgbClr val="7F7F7F"/>
                </a:solidFill>
                <a:latin typeface="Malgun Gothic" pitchFamily="34" charset="0"/>
                <a:ea typeface="Malgun Gothic" pitchFamily="34" charset="-122"/>
                <a:cs typeface="Malgun Gothic" pitchFamily="34" charset="-120"/>
              </a:rPr>
              <a:t>공통  </a:t>
            </a:r>
            <a:r>
              <a:rPr lang="en-US" sz="1600" b="1" dirty="0">
                <a:solidFill>
                  <a:srgbClr val="000080"/>
                </a:solidFill>
                <a:latin typeface="Malgun Gothic" pitchFamily="34" charset="0"/>
                <a:ea typeface="Malgun Gothic" pitchFamily="34" charset="-122"/>
                <a:cs typeface="Malgun Gothic" pitchFamily="34" charset="-120"/>
              </a:rPr>
              <a:t>DNA · RNA 병행   ·   rRNA 제거   ·   저투입량 증폭</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대조군 설계</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Mee ET et al. Vaccine 2016;34:2035 · WHO/BS/2024.2471 (1st International Reference Panel) · Illumina white paper 770-2017-004 (index misassignment) · Salter SJ et al. BMC Biol 2014;12:87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22</a:t>
            </a:r>
            <a:endParaRPr lang="en-US" sz="900" dirty="0"/>
          </a:p>
        </p:txBody>
      </p:sp>
      <p:sp>
        <p:nvSpPr>
          <p:cNvPr id="8" name="Text 5"/>
          <p:cNvSpPr txBox="1"/>
          <p:nvPr/>
        </p:nvSpPr>
        <p:spPr>
          <a:xfrm>
            <a:off x="548640" y="1691640"/>
            <a:ext cx="3474720" cy="411480"/>
          </a:xfrm>
          <a:prstGeom prst="rect">
            <a:avLst/>
          </a:prstGeom>
          <a:noFill/>
          <a:ln/>
        </p:spPr>
        <p:txBody>
          <a:bodyPr wrap="square" lIns="0" tIns="0" rIns="0" bIns="0" rtlCol="0" anchor="t"/>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기관 간 편차</a:t>
            </a:r>
            <a:endParaRPr lang="en-US" sz="1700" dirty="0"/>
          </a:p>
        </p:txBody>
      </p:sp>
      <p:sp>
        <p:nvSpPr>
          <p:cNvPr id="9" name="Shape 6"/>
          <p:cNvSpPr/>
          <p:nvPr/>
        </p:nvSpPr>
        <p:spPr>
          <a:xfrm>
            <a:off x="502920" y="2240280"/>
            <a:ext cx="2697480" cy="1143000"/>
          </a:xfrm>
          <a:prstGeom prst="rect">
            <a:avLst/>
          </a:prstGeom>
          <a:solidFill>
            <a:srgbClr val="FFA500"/>
          </a:solidFill>
          <a:ln w="12700">
            <a:solidFill>
              <a:srgbClr val="FFA500"/>
            </a:solidFill>
            <a:prstDash val="solid"/>
          </a:ln>
        </p:spPr>
        <p:txBody>
          <a:bodyPr/>
          <a:lstStyle/>
          <a:p>
            <a:endParaRPr lang="ko-KR" altLang="en-US"/>
          </a:p>
        </p:txBody>
      </p:sp>
      <p:sp>
        <p:nvSpPr>
          <p:cNvPr id="10" name="Text 7"/>
          <p:cNvSpPr txBox="1"/>
          <p:nvPr/>
        </p:nvSpPr>
        <p:spPr>
          <a:xfrm>
            <a:off x="548640" y="2194560"/>
            <a:ext cx="3474720" cy="1234440"/>
          </a:xfrm>
          <a:prstGeom prst="rect">
            <a:avLst/>
          </a:prstGeom>
          <a:noFill/>
          <a:ln/>
        </p:spPr>
        <p:txBody>
          <a:bodyPr wrap="square" lIns="0" tIns="0" rIns="0" bIns="0" rtlCol="0" anchor="ctr"/>
          <a:lstStyle/>
          <a:p>
            <a:pPr marL="0" indent="0">
              <a:buNone/>
            </a:pPr>
            <a:r>
              <a:rPr lang="en-US" sz="6000" b="1" dirty="0">
                <a:solidFill>
                  <a:srgbClr val="000080"/>
                </a:solidFill>
                <a:latin typeface="Arial" pitchFamily="34" charset="0"/>
                <a:ea typeface="Arial" pitchFamily="34" charset="-122"/>
                <a:cs typeface="Arial" pitchFamily="34" charset="-120"/>
              </a:rPr>
              <a:t>6 / 25</a:t>
            </a:r>
            <a:endParaRPr lang="en-US" sz="6000" dirty="0"/>
          </a:p>
        </p:txBody>
      </p:sp>
      <p:sp>
        <p:nvSpPr>
          <p:cNvPr id="11" name="Text 8"/>
          <p:cNvSpPr txBox="1"/>
          <p:nvPr/>
        </p:nvSpPr>
        <p:spPr>
          <a:xfrm>
            <a:off x="548640" y="3611880"/>
            <a:ext cx="3474720" cy="73152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16개 기관 전원이 검출한 바이러스 수</a:t>
            </a:r>
            <a:endParaRPr lang="en-US" sz="1250" dirty="0"/>
          </a:p>
          <a:p>
            <a:pPr marL="0" indent="0">
              <a:buNone/>
            </a:pPr>
            <a:r>
              <a:rPr lang="en-US" sz="1250" dirty="0">
                <a:solidFill>
                  <a:srgbClr val="595959"/>
                </a:solidFill>
                <a:latin typeface="Malgun Gothic" pitchFamily="34" charset="0"/>
                <a:ea typeface="Malgun Gothic" pitchFamily="34" charset="-122"/>
                <a:cs typeface="Malgun Gothic" pitchFamily="34" charset="-120"/>
              </a:rPr>
              <a:t>NIBSC 후보 표준물질</a:t>
            </a:r>
            <a:endParaRPr lang="en-US" sz="1250" dirty="0"/>
          </a:p>
        </p:txBody>
      </p:sp>
      <p:sp>
        <p:nvSpPr>
          <p:cNvPr id="12" name="Text 9"/>
          <p:cNvSpPr txBox="1"/>
          <p:nvPr/>
        </p:nvSpPr>
        <p:spPr>
          <a:xfrm>
            <a:off x="4343400" y="1691640"/>
            <a:ext cx="3474720" cy="411480"/>
          </a:xfrm>
          <a:prstGeom prst="rect">
            <a:avLst/>
          </a:prstGeom>
          <a:noFill/>
          <a:ln/>
        </p:spPr>
        <p:txBody>
          <a:bodyPr wrap="square" lIns="0" tIns="0" rIns="0" bIns="0" rtlCol="0" anchor="t"/>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국제 표준 패널</a:t>
            </a:r>
            <a:endParaRPr lang="en-US" sz="1700" dirty="0"/>
          </a:p>
        </p:txBody>
      </p:sp>
      <p:sp>
        <p:nvSpPr>
          <p:cNvPr id="13" name="Text 10"/>
          <p:cNvSpPr txBox="1"/>
          <p:nvPr/>
        </p:nvSpPr>
        <p:spPr>
          <a:xfrm>
            <a:off x="4343400" y="2194560"/>
            <a:ext cx="3474720" cy="1234440"/>
          </a:xfrm>
          <a:prstGeom prst="rect">
            <a:avLst/>
          </a:prstGeom>
          <a:noFill/>
          <a:ln/>
        </p:spPr>
        <p:txBody>
          <a:bodyPr wrap="square" lIns="0" tIns="0" rIns="0" bIns="0" rtlCol="0" anchor="ctr"/>
          <a:lstStyle/>
          <a:p>
            <a:pPr marL="0" indent="0">
              <a:buNone/>
            </a:pPr>
            <a:r>
              <a:rPr lang="en-US" sz="6000" b="1" dirty="0">
                <a:solidFill>
                  <a:srgbClr val="000080"/>
                </a:solidFill>
                <a:latin typeface="Arial" pitchFamily="34" charset="0"/>
                <a:ea typeface="Arial" pitchFamily="34" charset="-122"/>
                <a:cs typeface="Arial" pitchFamily="34" charset="-120"/>
              </a:rPr>
              <a:t>7종</a:t>
            </a:r>
            <a:endParaRPr lang="en-US" sz="6000" dirty="0"/>
          </a:p>
        </p:txBody>
      </p:sp>
      <p:sp>
        <p:nvSpPr>
          <p:cNvPr id="14" name="Text 11"/>
          <p:cNvSpPr txBox="1"/>
          <p:nvPr/>
        </p:nvSpPr>
        <p:spPr>
          <a:xfrm>
            <a:off x="4343400" y="3611880"/>
            <a:ext cx="3474720" cy="73152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WHO 1st International</a:t>
            </a:r>
            <a:endParaRPr lang="en-US" sz="1250" dirty="0"/>
          </a:p>
          <a:p>
            <a:pPr marL="0" indent="0">
              <a:buNone/>
            </a:pPr>
            <a:r>
              <a:rPr lang="en-US" sz="1250" dirty="0">
                <a:solidFill>
                  <a:srgbClr val="595959"/>
                </a:solidFill>
                <a:latin typeface="Malgun Gothic" pitchFamily="34" charset="0"/>
                <a:ea typeface="Malgun Gothic" pitchFamily="34" charset="-122"/>
                <a:cs typeface="Malgun Gothic" pitchFamily="34" charset="-120"/>
              </a:rPr>
              <a:t>Reference Panel (2024)</a:t>
            </a:r>
            <a:endParaRPr lang="en-US" sz="1250" dirty="0"/>
          </a:p>
        </p:txBody>
      </p:sp>
      <p:sp>
        <p:nvSpPr>
          <p:cNvPr id="15" name="Text 12"/>
          <p:cNvSpPr txBox="1"/>
          <p:nvPr/>
        </p:nvSpPr>
        <p:spPr>
          <a:xfrm>
            <a:off x="8138160" y="1691640"/>
            <a:ext cx="3474720" cy="411480"/>
          </a:xfrm>
          <a:prstGeom prst="rect">
            <a:avLst/>
          </a:prstGeom>
          <a:noFill/>
          <a:ln/>
        </p:spPr>
        <p:txBody>
          <a:bodyPr wrap="square" lIns="0" tIns="0" rIns="0" bIns="0" rtlCol="0" anchor="t"/>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Index 오배정</a:t>
            </a:r>
            <a:endParaRPr lang="en-US" sz="1700" dirty="0"/>
          </a:p>
        </p:txBody>
      </p:sp>
      <p:sp>
        <p:nvSpPr>
          <p:cNvPr id="16" name="Text 13"/>
          <p:cNvSpPr txBox="1"/>
          <p:nvPr/>
        </p:nvSpPr>
        <p:spPr>
          <a:xfrm>
            <a:off x="8138160" y="2194560"/>
            <a:ext cx="3474720" cy="1234440"/>
          </a:xfrm>
          <a:prstGeom prst="rect">
            <a:avLst/>
          </a:prstGeom>
          <a:noFill/>
          <a:ln/>
        </p:spPr>
        <p:txBody>
          <a:bodyPr wrap="square" lIns="0" tIns="0" rIns="0" bIns="0" rtlCol="0" anchor="ctr"/>
          <a:lstStyle/>
          <a:p>
            <a:pPr marL="0" indent="0">
              <a:buNone/>
            </a:pPr>
            <a:r>
              <a:rPr lang="en-US" sz="6000" b="1" dirty="0">
                <a:solidFill>
                  <a:srgbClr val="000080"/>
                </a:solidFill>
                <a:latin typeface="Arial" pitchFamily="34" charset="0"/>
                <a:ea typeface="Arial" pitchFamily="34" charset="-122"/>
                <a:cs typeface="Arial" pitchFamily="34" charset="-120"/>
              </a:rPr>
              <a:t>~2%</a:t>
            </a:r>
            <a:endParaRPr lang="en-US" sz="6000" dirty="0"/>
          </a:p>
        </p:txBody>
      </p:sp>
      <p:sp>
        <p:nvSpPr>
          <p:cNvPr id="17" name="Text 14"/>
          <p:cNvSpPr txBox="1"/>
          <p:nvPr/>
        </p:nvSpPr>
        <p:spPr>
          <a:xfrm>
            <a:off x="8138160" y="3611880"/>
            <a:ext cx="3474720" cy="73152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Patterned flow cell 최대치</a:t>
            </a:r>
            <a:endParaRPr lang="en-US" sz="1250" dirty="0"/>
          </a:p>
          <a:p>
            <a:pPr marL="0" indent="0">
              <a:buNone/>
            </a:pPr>
            <a:r>
              <a:rPr lang="en-US" sz="1250" dirty="0">
                <a:solidFill>
                  <a:srgbClr val="595959"/>
                </a:solidFill>
                <a:latin typeface="Malgun Gothic" pitchFamily="34" charset="0"/>
                <a:ea typeface="Malgun Gothic" pitchFamily="34" charset="-122"/>
                <a:cs typeface="Malgun Gothic" pitchFamily="34" charset="-120"/>
              </a:rPr>
              <a:t>→ Unique dual index</a:t>
            </a:r>
            <a:endParaRPr lang="en-US" sz="1250" dirty="0"/>
          </a:p>
        </p:txBody>
      </p:sp>
      <p:sp>
        <p:nvSpPr>
          <p:cNvPr id="18" name="Text 15"/>
          <p:cNvSpPr txBox="1"/>
          <p:nvPr/>
        </p:nvSpPr>
        <p:spPr>
          <a:xfrm>
            <a:off x="548640" y="5120640"/>
            <a:ext cx="11064240" cy="411480"/>
          </a:xfrm>
          <a:prstGeom prst="rect">
            <a:avLst/>
          </a:prstGeom>
          <a:noFill/>
          <a:ln/>
        </p:spPr>
        <p:txBody>
          <a:bodyPr wrap="square" lIns="0" tIns="0" rIns="0" bIns="0" rtlCol="0" anchor="t"/>
          <a:lstStyle/>
          <a:p>
            <a:pPr marL="0" indent="0">
              <a:buNone/>
            </a:pPr>
            <a:r>
              <a:rPr lang="en-US" sz="1400" dirty="0">
                <a:solidFill>
                  <a:srgbClr val="000080"/>
                </a:solidFill>
                <a:latin typeface="Malgun Gothic" pitchFamily="34" charset="0"/>
                <a:ea typeface="Malgun Gothic" pitchFamily="34" charset="-122"/>
                <a:cs typeface="Malgun Gothic" pitchFamily="34" charset="-120"/>
              </a:rPr>
              <a:t>음성 대조 필수 — 추출 blank · no-template (시약 유래 핵산, kitome)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In-silico 파이프라인</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Bolger 2014 (Trimmomatic) · Chen 2018 (fastp) · Li &amp; Durbin 2009 (BWA) · Langmead 2012 (Bowtie2) · Buchfink 2015 (DIAMOND) · Wood 2019 (Kraken2) · Bankevich 2012 (SPAdes) · Li 2015 (MEGAHIT) · Simonyan 2016 (HIVE)</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23</a:t>
            </a:r>
            <a:endParaRPr lang="en-US" sz="900" dirty="0"/>
          </a:p>
        </p:txBody>
      </p:sp>
      <p:sp>
        <p:nvSpPr>
          <p:cNvPr id="8" name="Text 5"/>
          <p:cNvSpPr txBox="1"/>
          <p:nvPr/>
        </p:nvSpPr>
        <p:spPr>
          <a:xfrm>
            <a:off x="548640" y="1645920"/>
            <a:ext cx="1965960" cy="457200"/>
          </a:xfrm>
          <a:prstGeom prst="rect">
            <a:avLst/>
          </a:prstGeom>
          <a:noFill/>
          <a:ln/>
        </p:spPr>
        <p:txBody>
          <a:bodyPr wrap="square" lIns="0" tIns="0" rIns="0" bIns="0" rtlCol="0" anchor="t"/>
          <a:lstStyle/>
          <a:p>
            <a:pPr marL="0" indent="0">
              <a:buNone/>
            </a:pPr>
            <a:r>
              <a:rPr lang="en-US" sz="2200" b="1" dirty="0">
                <a:solidFill>
                  <a:srgbClr val="7F7F7F"/>
                </a:solidFill>
                <a:latin typeface="Arial" pitchFamily="34" charset="0"/>
                <a:ea typeface="Arial" pitchFamily="34" charset="-122"/>
                <a:cs typeface="Arial" pitchFamily="34" charset="-120"/>
              </a:rPr>
              <a:t>1</a:t>
            </a:r>
            <a:endParaRPr lang="en-US" sz="2200" dirty="0"/>
          </a:p>
        </p:txBody>
      </p:sp>
      <p:sp>
        <p:nvSpPr>
          <p:cNvPr id="9" name="Shape 6"/>
          <p:cNvSpPr/>
          <p:nvPr/>
        </p:nvSpPr>
        <p:spPr>
          <a:xfrm>
            <a:off x="548640" y="2148840"/>
            <a:ext cx="1965960" cy="1143000"/>
          </a:xfrm>
          <a:prstGeom prst="rect">
            <a:avLst/>
          </a:prstGeom>
          <a:solidFill>
            <a:srgbClr val="000080"/>
          </a:solidFill>
          <a:ln w="12700">
            <a:solidFill>
              <a:srgbClr val="000080"/>
            </a:solidFill>
            <a:prstDash val="solid"/>
          </a:ln>
        </p:spPr>
        <p:txBody>
          <a:bodyPr/>
          <a:lstStyle/>
          <a:p>
            <a:endParaRPr lang="ko-KR" altLang="en-US"/>
          </a:p>
        </p:txBody>
      </p:sp>
      <p:sp>
        <p:nvSpPr>
          <p:cNvPr id="10" name="Text 7"/>
          <p:cNvSpPr txBox="1"/>
          <p:nvPr/>
        </p:nvSpPr>
        <p:spPr>
          <a:xfrm>
            <a:off x="548640" y="2148840"/>
            <a:ext cx="196596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QC · 트리밍</a:t>
            </a:r>
            <a:endParaRPr lang="en-US" sz="1700" dirty="0"/>
          </a:p>
        </p:txBody>
      </p:sp>
      <p:sp>
        <p:nvSpPr>
          <p:cNvPr id="11" name="Text 8"/>
          <p:cNvSpPr txBox="1"/>
          <p:nvPr/>
        </p:nvSpPr>
        <p:spPr>
          <a:xfrm>
            <a:off x="548640" y="3474720"/>
            <a:ext cx="1965960" cy="731520"/>
          </a:xfrm>
          <a:prstGeom prst="rect">
            <a:avLst/>
          </a:prstGeom>
          <a:noFill/>
          <a:ln/>
        </p:spPr>
        <p:txBody>
          <a:bodyPr wrap="square" lIns="0" tIns="0" rIns="0" bIns="0" rtlCol="0" anchor="t"/>
          <a:lstStyle/>
          <a:p>
            <a:pPr marL="0" indent="0" algn="ctr">
              <a:buNone/>
            </a:pPr>
            <a:r>
              <a:rPr lang="en-US" sz="1150" dirty="0">
                <a:solidFill>
                  <a:srgbClr val="595959"/>
                </a:solidFill>
                <a:latin typeface="Arial" pitchFamily="34" charset="0"/>
                <a:ea typeface="Arial" pitchFamily="34" charset="-122"/>
                <a:cs typeface="Arial" pitchFamily="34" charset="-120"/>
              </a:rPr>
              <a:t>FastQC</a:t>
            </a:r>
            <a:endParaRPr lang="en-US" sz="1150" dirty="0"/>
          </a:p>
          <a:p>
            <a:pPr marL="0" indent="0" algn="ctr">
              <a:buNone/>
            </a:pPr>
            <a:r>
              <a:rPr lang="en-US" sz="1150" dirty="0">
                <a:solidFill>
                  <a:srgbClr val="595959"/>
                </a:solidFill>
                <a:latin typeface="Arial" pitchFamily="34" charset="0"/>
                <a:ea typeface="Arial" pitchFamily="34" charset="-122"/>
                <a:cs typeface="Arial" pitchFamily="34" charset="-120"/>
              </a:rPr>
              <a:t>Trimmomatic · fastp</a:t>
            </a:r>
            <a:endParaRPr lang="en-US" sz="1150" dirty="0"/>
          </a:p>
        </p:txBody>
      </p:sp>
      <p:sp>
        <p:nvSpPr>
          <p:cNvPr id="12" name="Shape 9"/>
          <p:cNvSpPr/>
          <p:nvPr/>
        </p:nvSpPr>
        <p:spPr>
          <a:xfrm>
            <a:off x="2542032" y="2720340"/>
            <a:ext cx="256032" cy="0"/>
          </a:xfrm>
          <a:prstGeom prst="line">
            <a:avLst/>
          </a:prstGeom>
          <a:noFill/>
          <a:ln w="19050">
            <a:solidFill>
              <a:srgbClr val="7F7F7F"/>
            </a:solidFill>
            <a:prstDash val="solid"/>
            <a:tailEnd type="triangle"/>
          </a:ln>
        </p:spPr>
        <p:txBody>
          <a:bodyPr/>
          <a:lstStyle/>
          <a:p>
            <a:endParaRPr lang="ko-KR" altLang="en-US"/>
          </a:p>
        </p:txBody>
      </p:sp>
      <p:sp>
        <p:nvSpPr>
          <p:cNvPr id="13" name="Text 10"/>
          <p:cNvSpPr txBox="1"/>
          <p:nvPr/>
        </p:nvSpPr>
        <p:spPr>
          <a:xfrm>
            <a:off x="2825496" y="1645920"/>
            <a:ext cx="1965960" cy="457200"/>
          </a:xfrm>
          <a:prstGeom prst="rect">
            <a:avLst/>
          </a:prstGeom>
          <a:noFill/>
          <a:ln/>
        </p:spPr>
        <p:txBody>
          <a:bodyPr wrap="square" lIns="0" tIns="0" rIns="0" bIns="0" rtlCol="0" anchor="t"/>
          <a:lstStyle/>
          <a:p>
            <a:pPr marL="0" indent="0">
              <a:buNone/>
            </a:pPr>
            <a:r>
              <a:rPr lang="en-US" sz="2200" b="1" dirty="0">
                <a:solidFill>
                  <a:srgbClr val="FFA500"/>
                </a:solidFill>
                <a:latin typeface="Arial" pitchFamily="34" charset="0"/>
                <a:ea typeface="Arial" pitchFamily="34" charset="-122"/>
                <a:cs typeface="Arial" pitchFamily="34" charset="-120"/>
              </a:rPr>
              <a:t>2</a:t>
            </a:r>
            <a:endParaRPr lang="en-US" sz="2200" dirty="0"/>
          </a:p>
        </p:txBody>
      </p:sp>
      <p:sp>
        <p:nvSpPr>
          <p:cNvPr id="14" name="Shape 11"/>
          <p:cNvSpPr/>
          <p:nvPr/>
        </p:nvSpPr>
        <p:spPr>
          <a:xfrm>
            <a:off x="2825496" y="2148840"/>
            <a:ext cx="1965960" cy="1143000"/>
          </a:xfrm>
          <a:prstGeom prst="rect">
            <a:avLst/>
          </a:prstGeom>
          <a:solidFill>
            <a:srgbClr val="FFA500"/>
          </a:solidFill>
          <a:ln w="12700">
            <a:solidFill>
              <a:srgbClr val="FFA500"/>
            </a:solidFill>
            <a:prstDash val="solid"/>
          </a:ln>
        </p:spPr>
        <p:txBody>
          <a:bodyPr/>
          <a:lstStyle/>
          <a:p>
            <a:endParaRPr lang="ko-KR" altLang="en-US"/>
          </a:p>
        </p:txBody>
      </p:sp>
      <p:sp>
        <p:nvSpPr>
          <p:cNvPr id="15" name="Text 12"/>
          <p:cNvSpPr txBox="1"/>
          <p:nvPr/>
        </p:nvSpPr>
        <p:spPr>
          <a:xfrm>
            <a:off x="2825496" y="2148840"/>
            <a:ext cx="1965960" cy="1143000"/>
          </a:xfrm>
          <a:prstGeom prst="rect">
            <a:avLst/>
          </a:prstGeom>
          <a:noFill/>
          <a:ln/>
        </p:spPr>
        <p:txBody>
          <a:bodyPr wrap="square" lIns="0" tIns="0" rIns="0" bIns="0" rtlCol="0" anchor="ctr"/>
          <a:lstStyle/>
          <a:p>
            <a:pPr marL="0" indent="0" algn="ctr">
              <a:buNone/>
            </a:pPr>
            <a:r>
              <a:rPr lang="en-US" sz="1700" b="1" dirty="0">
                <a:solidFill>
                  <a:srgbClr val="000080"/>
                </a:solidFill>
                <a:latin typeface="Malgun Gothic" pitchFamily="34" charset="0"/>
                <a:ea typeface="Malgun Gothic" pitchFamily="34" charset="-122"/>
                <a:cs typeface="Malgun Gothic" pitchFamily="34" charset="-120"/>
              </a:rPr>
              <a:t>Host removal</a:t>
            </a:r>
            <a:endParaRPr lang="en-US" sz="1700" dirty="0"/>
          </a:p>
        </p:txBody>
      </p:sp>
      <p:sp>
        <p:nvSpPr>
          <p:cNvPr id="16" name="Text 13"/>
          <p:cNvSpPr txBox="1"/>
          <p:nvPr/>
        </p:nvSpPr>
        <p:spPr>
          <a:xfrm>
            <a:off x="2825496" y="3474720"/>
            <a:ext cx="1965960" cy="731520"/>
          </a:xfrm>
          <a:prstGeom prst="rect">
            <a:avLst/>
          </a:prstGeom>
          <a:noFill/>
          <a:ln/>
        </p:spPr>
        <p:txBody>
          <a:bodyPr wrap="square" lIns="0" tIns="0" rIns="0" bIns="0" rtlCol="0" anchor="t"/>
          <a:lstStyle/>
          <a:p>
            <a:pPr marL="0" indent="0" algn="ctr">
              <a:buNone/>
            </a:pPr>
            <a:r>
              <a:rPr lang="en-US" sz="1150" dirty="0">
                <a:solidFill>
                  <a:srgbClr val="595959"/>
                </a:solidFill>
                <a:latin typeface="Arial" pitchFamily="34" charset="0"/>
                <a:ea typeface="Arial" pitchFamily="34" charset="-122"/>
                <a:cs typeface="Arial" pitchFamily="34" charset="-120"/>
              </a:rPr>
              <a:t>BWA · Bowtie2</a:t>
            </a:r>
            <a:endParaRPr lang="en-US" sz="1150" dirty="0"/>
          </a:p>
        </p:txBody>
      </p:sp>
      <p:sp>
        <p:nvSpPr>
          <p:cNvPr id="17" name="Shape 14"/>
          <p:cNvSpPr/>
          <p:nvPr/>
        </p:nvSpPr>
        <p:spPr>
          <a:xfrm>
            <a:off x="4818888" y="2720340"/>
            <a:ext cx="256032" cy="0"/>
          </a:xfrm>
          <a:prstGeom prst="line">
            <a:avLst/>
          </a:prstGeom>
          <a:noFill/>
          <a:ln w="19050">
            <a:solidFill>
              <a:srgbClr val="7F7F7F"/>
            </a:solidFill>
            <a:prstDash val="solid"/>
            <a:tailEnd type="triangle"/>
          </a:ln>
        </p:spPr>
        <p:txBody>
          <a:bodyPr/>
          <a:lstStyle/>
          <a:p>
            <a:endParaRPr lang="ko-KR" altLang="en-US"/>
          </a:p>
        </p:txBody>
      </p:sp>
      <p:sp>
        <p:nvSpPr>
          <p:cNvPr id="18" name="Text 15"/>
          <p:cNvSpPr txBox="1"/>
          <p:nvPr/>
        </p:nvSpPr>
        <p:spPr>
          <a:xfrm>
            <a:off x="5102352" y="1645920"/>
            <a:ext cx="1965960" cy="457200"/>
          </a:xfrm>
          <a:prstGeom prst="rect">
            <a:avLst/>
          </a:prstGeom>
          <a:noFill/>
          <a:ln/>
        </p:spPr>
        <p:txBody>
          <a:bodyPr wrap="square" lIns="0" tIns="0" rIns="0" bIns="0" rtlCol="0" anchor="t"/>
          <a:lstStyle/>
          <a:p>
            <a:pPr marL="0" indent="0">
              <a:buNone/>
            </a:pPr>
            <a:r>
              <a:rPr lang="en-US" sz="2200" b="1" dirty="0">
                <a:solidFill>
                  <a:srgbClr val="7F7F7F"/>
                </a:solidFill>
                <a:latin typeface="Arial" pitchFamily="34" charset="0"/>
                <a:ea typeface="Arial" pitchFamily="34" charset="-122"/>
                <a:cs typeface="Arial" pitchFamily="34" charset="-120"/>
              </a:rPr>
              <a:t>3</a:t>
            </a:r>
            <a:endParaRPr lang="en-US" sz="2200" dirty="0"/>
          </a:p>
        </p:txBody>
      </p:sp>
      <p:sp>
        <p:nvSpPr>
          <p:cNvPr id="19" name="Shape 16"/>
          <p:cNvSpPr/>
          <p:nvPr/>
        </p:nvSpPr>
        <p:spPr>
          <a:xfrm>
            <a:off x="5102352" y="2148840"/>
            <a:ext cx="1965960" cy="1143000"/>
          </a:xfrm>
          <a:prstGeom prst="rect">
            <a:avLst/>
          </a:prstGeom>
          <a:solidFill>
            <a:srgbClr val="000080"/>
          </a:solidFill>
          <a:ln w="12700">
            <a:solidFill>
              <a:srgbClr val="000080"/>
            </a:solidFill>
            <a:prstDash val="solid"/>
          </a:ln>
        </p:spPr>
        <p:txBody>
          <a:bodyPr/>
          <a:lstStyle/>
          <a:p>
            <a:endParaRPr lang="ko-KR" altLang="en-US"/>
          </a:p>
        </p:txBody>
      </p:sp>
      <p:sp>
        <p:nvSpPr>
          <p:cNvPr id="20" name="Text 17"/>
          <p:cNvSpPr txBox="1"/>
          <p:nvPr/>
        </p:nvSpPr>
        <p:spPr>
          <a:xfrm>
            <a:off x="5102352" y="2148840"/>
            <a:ext cx="196596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분류</a:t>
            </a:r>
            <a:endParaRPr lang="en-US" sz="1700" dirty="0"/>
          </a:p>
        </p:txBody>
      </p:sp>
      <p:sp>
        <p:nvSpPr>
          <p:cNvPr id="21" name="Text 18"/>
          <p:cNvSpPr txBox="1"/>
          <p:nvPr/>
        </p:nvSpPr>
        <p:spPr>
          <a:xfrm>
            <a:off x="5102352" y="3474720"/>
            <a:ext cx="1965960" cy="731520"/>
          </a:xfrm>
          <a:prstGeom prst="rect">
            <a:avLst/>
          </a:prstGeom>
          <a:noFill/>
          <a:ln/>
        </p:spPr>
        <p:txBody>
          <a:bodyPr wrap="square" lIns="0" tIns="0" rIns="0" bIns="0" rtlCol="0" anchor="t"/>
          <a:lstStyle/>
          <a:p>
            <a:pPr marL="0" indent="0" algn="ctr">
              <a:buNone/>
            </a:pPr>
            <a:r>
              <a:rPr lang="en-US" sz="1150" dirty="0">
                <a:solidFill>
                  <a:srgbClr val="595959"/>
                </a:solidFill>
                <a:latin typeface="Arial" pitchFamily="34" charset="0"/>
                <a:ea typeface="Arial" pitchFamily="34" charset="-122"/>
                <a:cs typeface="Arial" pitchFamily="34" charset="-120"/>
              </a:rPr>
              <a:t>BLAST · DIAMOND</a:t>
            </a:r>
            <a:endParaRPr lang="en-US" sz="1150" dirty="0"/>
          </a:p>
          <a:p>
            <a:pPr marL="0" indent="0" algn="ctr">
              <a:buNone/>
            </a:pPr>
            <a:r>
              <a:rPr lang="en-US" sz="1150" dirty="0">
                <a:solidFill>
                  <a:srgbClr val="595959"/>
                </a:solidFill>
                <a:latin typeface="Arial" pitchFamily="34" charset="0"/>
                <a:ea typeface="Arial" pitchFamily="34" charset="-122"/>
                <a:cs typeface="Arial" pitchFamily="34" charset="-120"/>
              </a:rPr>
              <a:t>Kraken2</a:t>
            </a:r>
            <a:endParaRPr lang="en-US" sz="1150" dirty="0"/>
          </a:p>
        </p:txBody>
      </p:sp>
      <p:sp>
        <p:nvSpPr>
          <p:cNvPr id="22" name="Shape 19"/>
          <p:cNvSpPr/>
          <p:nvPr/>
        </p:nvSpPr>
        <p:spPr>
          <a:xfrm>
            <a:off x="7095744" y="2720340"/>
            <a:ext cx="256032" cy="0"/>
          </a:xfrm>
          <a:prstGeom prst="line">
            <a:avLst/>
          </a:prstGeom>
          <a:noFill/>
          <a:ln w="19050">
            <a:solidFill>
              <a:srgbClr val="7F7F7F"/>
            </a:solidFill>
            <a:prstDash val="solid"/>
            <a:tailEnd type="triangle"/>
          </a:ln>
        </p:spPr>
        <p:txBody>
          <a:bodyPr/>
          <a:lstStyle/>
          <a:p>
            <a:endParaRPr lang="ko-KR" altLang="en-US"/>
          </a:p>
        </p:txBody>
      </p:sp>
      <p:sp>
        <p:nvSpPr>
          <p:cNvPr id="23" name="Text 20"/>
          <p:cNvSpPr txBox="1"/>
          <p:nvPr/>
        </p:nvSpPr>
        <p:spPr>
          <a:xfrm>
            <a:off x="7379208" y="1645920"/>
            <a:ext cx="1965960" cy="457200"/>
          </a:xfrm>
          <a:prstGeom prst="rect">
            <a:avLst/>
          </a:prstGeom>
          <a:noFill/>
          <a:ln/>
        </p:spPr>
        <p:txBody>
          <a:bodyPr wrap="square" lIns="0" tIns="0" rIns="0" bIns="0" rtlCol="0" anchor="t"/>
          <a:lstStyle/>
          <a:p>
            <a:pPr marL="0" indent="0">
              <a:buNone/>
            </a:pPr>
            <a:r>
              <a:rPr lang="en-US" sz="2200" b="1" dirty="0">
                <a:solidFill>
                  <a:srgbClr val="7F7F7F"/>
                </a:solidFill>
                <a:latin typeface="Arial" pitchFamily="34" charset="0"/>
                <a:ea typeface="Arial" pitchFamily="34" charset="-122"/>
                <a:cs typeface="Arial" pitchFamily="34" charset="-120"/>
              </a:rPr>
              <a:t>4</a:t>
            </a:r>
            <a:endParaRPr lang="en-US" sz="2200" dirty="0"/>
          </a:p>
        </p:txBody>
      </p:sp>
      <p:sp>
        <p:nvSpPr>
          <p:cNvPr id="24" name="Shape 21"/>
          <p:cNvSpPr/>
          <p:nvPr/>
        </p:nvSpPr>
        <p:spPr>
          <a:xfrm>
            <a:off x="7379208" y="2148840"/>
            <a:ext cx="1965960" cy="1143000"/>
          </a:xfrm>
          <a:prstGeom prst="rect">
            <a:avLst/>
          </a:prstGeom>
          <a:solidFill>
            <a:srgbClr val="000080"/>
          </a:solidFill>
          <a:ln w="12700">
            <a:solidFill>
              <a:srgbClr val="000080"/>
            </a:solidFill>
            <a:prstDash val="solid"/>
          </a:ln>
        </p:spPr>
        <p:txBody>
          <a:bodyPr/>
          <a:lstStyle/>
          <a:p>
            <a:endParaRPr lang="ko-KR" altLang="en-US"/>
          </a:p>
        </p:txBody>
      </p:sp>
      <p:sp>
        <p:nvSpPr>
          <p:cNvPr id="25" name="Text 22"/>
          <p:cNvSpPr txBox="1"/>
          <p:nvPr/>
        </p:nvSpPr>
        <p:spPr>
          <a:xfrm>
            <a:off x="7379208" y="2148840"/>
            <a:ext cx="196596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Assembly</a:t>
            </a:r>
            <a:endParaRPr lang="en-US" sz="1700" dirty="0"/>
          </a:p>
        </p:txBody>
      </p:sp>
      <p:sp>
        <p:nvSpPr>
          <p:cNvPr id="26" name="Text 23"/>
          <p:cNvSpPr txBox="1"/>
          <p:nvPr/>
        </p:nvSpPr>
        <p:spPr>
          <a:xfrm>
            <a:off x="7379208" y="3474720"/>
            <a:ext cx="1965960" cy="731520"/>
          </a:xfrm>
          <a:prstGeom prst="rect">
            <a:avLst/>
          </a:prstGeom>
          <a:noFill/>
          <a:ln/>
        </p:spPr>
        <p:txBody>
          <a:bodyPr wrap="square" lIns="0" tIns="0" rIns="0" bIns="0" rtlCol="0" anchor="t"/>
          <a:lstStyle/>
          <a:p>
            <a:pPr marL="0" indent="0" algn="ctr">
              <a:buNone/>
            </a:pPr>
            <a:r>
              <a:rPr lang="en-US" sz="1150" dirty="0">
                <a:solidFill>
                  <a:srgbClr val="595959"/>
                </a:solidFill>
                <a:latin typeface="Arial" pitchFamily="34" charset="0"/>
                <a:ea typeface="Arial" pitchFamily="34" charset="-122"/>
                <a:cs typeface="Arial" pitchFamily="34" charset="-120"/>
              </a:rPr>
              <a:t>SPAdes · MEGAHIT</a:t>
            </a:r>
            <a:endParaRPr lang="en-US" sz="1150" dirty="0"/>
          </a:p>
        </p:txBody>
      </p:sp>
      <p:sp>
        <p:nvSpPr>
          <p:cNvPr id="27" name="Shape 24"/>
          <p:cNvSpPr/>
          <p:nvPr/>
        </p:nvSpPr>
        <p:spPr>
          <a:xfrm>
            <a:off x="9372600" y="2720340"/>
            <a:ext cx="256032" cy="0"/>
          </a:xfrm>
          <a:prstGeom prst="line">
            <a:avLst/>
          </a:prstGeom>
          <a:noFill/>
          <a:ln w="19050">
            <a:solidFill>
              <a:srgbClr val="7F7F7F"/>
            </a:solidFill>
            <a:prstDash val="solid"/>
            <a:tailEnd type="triangle"/>
          </a:ln>
        </p:spPr>
        <p:txBody>
          <a:bodyPr/>
          <a:lstStyle/>
          <a:p>
            <a:endParaRPr lang="ko-KR" altLang="en-US"/>
          </a:p>
        </p:txBody>
      </p:sp>
      <p:sp>
        <p:nvSpPr>
          <p:cNvPr id="28" name="Text 25"/>
          <p:cNvSpPr txBox="1"/>
          <p:nvPr/>
        </p:nvSpPr>
        <p:spPr>
          <a:xfrm>
            <a:off x="9656064" y="1645920"/>
            <a:ext cx="1965960" cy="457200"/>
          </a:xfrm>
          <a:prstGeom prst="rect">
            <a:avLst/>
          </a:prstGeom>
          <a:noFill/>
          <a:ln/>
        </p:spPr>
        <p:txBody>
          <a:bodyPr wrap="square" lIns="0" tIns="0" rIns="0" bIns="0" rtlCol="0" anchor="t"/>
          <a:lstStyle/>
          <a:p>
            <a:pPr marL="0" indent="0">
              <a:buNone/>
            </a:pPr>
            <a:r>
              <a:rPr lang="en-US" sz="2200" b="1" dirty="0">
                <a:solidFill>
                  <a:srgbClr val="7F7F7F"/>
                </a:solidFill>
                <a:latin typeface="Arial" pitchFamily="34" charset="0"/>
                <a:ea typeface="Arial" pitchFamily="34" charset="-122"/>
                <a:cs typeface="Arial" pitchFamily="34" charset="-120"/>
              </a:rPr>
              <a:t>5</a:t>
            </a:r>
            <a:endParaRPr lang="en-US" sz="2200" dirty="0"/>
          </a:p>
        </p:txBody>
      </p:sp>
      <p:sp>
        <p:nvSpPr>
          <p:cNvPr id="29" name="Shape 26"/>
          <p:cNvSpPr/>
          <p:nvPr/>
        </p:nvSpPr>
        <p:spPr>
          <a:xfrm>
            <a:off x="9656064" y="2148840"/>
            <a:ext cx="1965960" cy="1143000"/>
          </a:xfrm>
          <a:prstGeom prst="rect">
            <a:avLst/>
          </a:prstGeom>
          <a:solidFill>
            <a:srgbClr val="000080"/>
          </a:solidFill>
          <a:ln w="12700">
            <a:solidFill>
              <a:srgbClr val="000080"/>
            </a:solidFill>
            <a:prstDash val="solid"/>
          </a:ln>
        </p:spPr>
        <p:txBody>
          <a:bodyPr/>
          <a:lstStyle/>
          <a:p>
            <a:endParaRPr lang="ko-KR" altLang="en-US"/>
          </a:p>
        </p:txBody>
      </p:sp>
      <p:sp>
        <p:nvSpPr>
          <p:cNvPr id="30" name="Text 27"/>
          <p:cNvSpPr txBox="1"/>
          <p:nvPr/>
        </p:nvSpPr>
        <p:spPr>
          <a:xfrm>
            <a:off x="9656064" y="2148840"/>
            <a:ext cx="196596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판정 · 확증</a:t>
            </a:r>
            <a:endParaRPr lang="en-US" sz="1700" dirty="0"/>
          </a:p>
        </p:txBody>
      </p:sp>
      <p:sp>
        <p:nvSpPr>
          <p:cNvPr id="31" name="Text 28"/>
          <p:cNvSpPr txBox="1"/>
          <p:nvPr/>
        </p:nvSpPr>
        <p:spPr>
          <a:xfrm>
            <a:off x="9656064" y="3474720"/>
            <a:ext cx="1965960" cy="731520"/>
          </a:xfrm>
          <a:prstGeom prst="rect">
            <a:avLst/>
          </a:prstGeom>
          <a:noFill/>
          <a:ln/>
        </p:spPr>
        <p:txBody>
          <a:bodyPr wrap="square" lIns="0" tIns="0" rIns="0" bIns="0" rtlCol="0" anchor="t"/>
          <a:lstStyle/>
          <a:p>
            <a:pPr marL="0" indent="0" algn="ctr">
              <a:buNone/>
            </a:pPr>
            <a:r>
              <a:rPr lang="en-US" sz="1150" dirty="0">
                <a:solidFill>
                  <a:srgbClr val="595959"/>
                </a:solidFill>
                <a:latin typeface="Arial" pitchFamily="34" charset="0"/>
                <a:ea typeface="Arial" pitchFamily="34" charset="-122"/>
                <a:cs typeface="Arial" pitchFamily="34" charset="-120"/>
              </a:rPr>
              <a:t>역치 · PCR</a:t>
            </a:r>
            <a:endParaRPr lang="en-US" sz="1150" dirty="0"/>
          </a:p>
          <a:p>
            <a:pPr marL="0" indent="0" algn="ctr">
              <a:buNone/>
            </a:pPr>
            <a:r>
              <a:rPr lang="en-US" sz="1150" dirty="0">
                <a:solidFill>
                  <a:srgbClr val="595959"/>
                </a:solidFill>
                <a:latin typeface="Arial" pitchFamily="34" charset="0"/>
                <a:ea typeface="Arial" pitchFamily="34" charset="-122"/>
                <a:cs typeface="Arial" pitchFamily="34" charset="-120"/>
              </a:rPr>
              <a:t>감염성 시험</a:t>
            </a:r>
            <a:endParaRPr lang="en-US" sz="1150" dirty="0"/>
          </a:p>
        </p:txBody>
      </p:sp>
      <p:sp>
        <p:nvSpPr>
          <p:cNvPr id="32" name="Text 29"/>
          <p:cNvSpPr txBox="1"/>
          <p:nvPr/>
        </p:nvSpPr>
        <p:spPr>
          <a:xfrm>
            <a:off x="640080" y="46634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생산세포주 유전체 기준</a:t>
            </a:r>
            <a:endParaRPr lang="en-US" sz="1150" dirty="0"/>
          </a:p>
        </p:txBody>
      </p:sp>
      <p:sp>
        <p:nvSpPr>
          <p:cNvPr id="33" name="Text 30"/>
          <p:cNvSpPr txBox="1"/>
          <p:nvPr/>
        </p:nvSpPr>
        <p:spPr>
          <a:xfrm>
            <a:off x="640080" y="50109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Host removal</a:t>
            </a:r>
            <a:endParaRPr lang="en-US" sz="2400" dirty="0"/>
          </a:p>
        </p:txBody>
      </p:sp>
      <p:sp>
        <p:nvSpPr>
          <p:cNvPr id="34" name="Shape 31"/>
          <p:cNvSpPr/>
          <p:nvPr/>
        </p:nvSpPr>
        <p:spPr>
          <a:xfrm>
            <a:off x="4145280" y="4663440"/>
            <a:ext cx="0" cy="1051560"/>
          </a:xfrm>
          <a:prstGeom prst="line">
            <a:avLst/>
          </a:prstGeom>
          <a:noFill/>
          <a:ln w="9525">
            <a:solidFill>
              <a:srgbClr val="D9D9D9"/>
            </a:solidFill>
            <a:prstDash val="solid"/>
          </a:ln>
        </p:spPr>
        <p:txBody>
          <a:bodyPr/>
          <a:lstStyle/>
          <a:p>
            <a:endParaRPr lang="ko-KR" altLang="en-US"/>
          </a:p>
        </p:txBody>
      </p:sp>
      <p:sp>
        <p:nvSpPr>
          <p:cNvPr id="35" name="Text 32"/>
          <p:cNvSpPr txBox="1"/>
          <p:nvPr/>
        </p:nvSpPr>
        <p:spPr>
          <a:xfrm>
            <a:off x="4328160" y="46634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범위와 오분류의 균형</a:t>
            </a:r>
            <a:endParaRPr lang="en-US" sz="1150" dirty="0"/>
          </a:p>
        </p:txBody>
      </p:sp>
      <p:sp>
        <p:nvSpPr>
          <p:cNvPr id="36" name="Text 33"/>
          <p:cNvSpPr txBox="1"/>
          <p:nvPr/>
        </p:nvSpPr>
        <p:spPr>
          <a:xfrm>
            <a:off x="4328160" y="50109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DB 선택</a:t>
            </a:r>
            <a:endParaRPr lang="en-US" sz="2400" dirty="0"/>
          </a:p>
        </p:txBody>
      </p:sp>
      <p:sp>
        <p:nvSpPr>
          <p:cNvPr id="37" name="Shape 34"/>
          <p:cNvSpPr/>
          <p:nvPr/>
        </p:nvSpPr>
        <p:spPr>
          <a:xfrm>
            <a:off x="7833360" y="4663440"/>
            <a:ext cx="0" cy="1051560"/>
          </a:xfrm>
          <a:prstGeom prst="line">
            <a:avLst/>
          </a:prstGeom>
          <a:noFill/>
          <a:ln w="9525">
            <a:solidFill>
              <a:srgbClr val="D9D9D9"/>
            </a:solidFill>
            <a:prstDash val="solid"/>
          </a:ln>
        </p:spPr>
        <p:txBody>
          <a:bodyPr/>
          <a:lstStyle/>
          <a:p>
            <a:endParaRPr lang="ko-KR" altLang="en-US"/>
          </a:p>
        </p:txBody>
      </p:sp>
      <p:sp>
        <p:nvSpPr>
          <p:cNvPr id="38" name="Text 35"/>
          <p:cNvSpPr txBox="1"/>
          <p:nvPr/>
        </p:nvSpPr>
        <p:spPr>
          <a:xfrm>
            <a:off x="8016240" y="46634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서열 신호의 검증</a:t>
            </a:r>
            <a:endParaRPr lang="en-US" sz="1150" dirty="0"/>
          </a:p>
        </p:txBody>
      </p:sp>
      <p:sp>
        <p:nvSpPr>
          <p:cNvPr id="39" name="Text 36"/>
          <p:cNvSpPr txBox="1"/>
          <p:nvPr/>
        </p:nvSpPr>
        <p:spPr>
          <a:xfrm>
            <a:off x="8016240" y="50109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직교 확증</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호스트 = 생산세포주</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Xu X et al. Nat Biotechnol 2011;29:735 · Lewis NE et al. Nat Biotechnol 2013;31:759 · Rupp O et al. Biotechnol Bioeng 2018;115:2087 · Osada N et al. DNA Res 2014;21:673 · Lin YC et al. Nat Commun 2014;5:4767 · Nandakumar S et al. Genome Announc 2017;5:e00829-17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566928">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세포주</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종</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참조 유전체</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주의점</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566928">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CHO</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i="1" dirty="0">
                          <a:solidFill>
                            <a:srgbClr val="000080"/>
                          </a:solidFill>
                          <a:latin typeface="Arial" pitchFamily="34" charset="0"/>
                          <a:ea typeface="Arial" pitchFamily="34" charset="-122"/>
                          <a:cs typeface="Arial" pitchFamily="34" charset="-120"/>
                        </a:rPr>
                        <a:t>Cricetulus griseus</a:t>
                      </a:r>
                      <a:endParaRPr lang="en-US" sz="135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Xu 2011 · Lewis 2013 · PICR 2018</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이수성 · 재배열</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Vero</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i="1" dirty="0">
                          <a:solidFill>
                            <a:srgbClr val="000080"/>
                          </a:solidFill>
                          <a:latin typeface="Arial" pitchFamily="34" charset="0"/>
                          <a:ea typeface="Arial" pitchFamily="34" charset="-122"/>
                          <a:cs typeface="Arial" pitchFamily="34" charset="-120"/>
                        </a:rPr>
                        <a:t>Chlorocebus sabaeus</a:t>
                      </a:r>
                      <a:endParaRPr lang="en-US" sz="135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Osada 2014</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베타레트로바이러스 발현</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HEK293</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i="1" dirty="0">
                          <a:solidFill>
                            <a:srgbClr val="000080"/>
                          </a:solidFill>
                          <a:latin typeface="Arial" pitchFamily="34" charset="0"/>
                          <a:ea typeface="Arial" pitchFamily="34" charset="-122"/>
                          <a:cs typeface="Arial" pitchFamily="34" charset="-120"/>
                        </a:rPr>
                        <a:t>Homo sapiens</a:t>
                      </a:r>
                      <a:endParaRPr lang="en-US" sz="135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Lin 2014</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계통별 게놈 차이</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Sf9</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i="1" dirty="0">
                          <a:solidFill>
                            <a:srgbClr val="000080"/>
                          </a:solidFill>
                          <a:latin typeface="Arial" pitchFamily="34" charset="0"/>
                          <a:ea typeface="Arial" pitchFamily="34" charset="-122"/>
                          <a:cs typeface="Arial" pitchFamily="34" charset="-120"/>
                        </a:rPr>
                        <a:t>Spodoptera frugiperda</a:t>
                      </a:r>
                      <a:endParaRPr lang="en-US" sz="135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Nandakumar 2017</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Rhabdovirus 유사 EVE</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4"/>
                  </a:ext>
                </a:extLst>
              </a:tr>
            </a:tbl>
          </a:graphicData>
        </a:graphic>
      </p:graphicFrame>
      <p:sp>
        <p:nvSpPr>
          <p:cNvPr id="9" name="Shape 5"/>
          <p:cNvSpPr/>
          <p:nvPr/>
        </p:nvSpPr>
        <p:spPr>
          <a:xfrm>
            <a:off x="548640" y="5074920"/>
            <a:ext cx="353568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0" name="Text 6"/>
          <p:cNvSpPr txBox="1"/>
          <p:nvPr/>
        </p:nvSpPr>
        <p:spPr>
          <a:xfrm>
            <a:off x="548640" y="507492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불완전 참조</a:t>
            </a:r>
            <a:endParaRPr lang="en-US" sz="1400" dirty="0"/>
          </a:p>
        </p:txBody>
      </p:sp>
      <p:sp>
        <p:nvSpPr>
          <p:cNvPr id="11" name="Shape 7"/>
          <p:cNvSpPr/>
          <p:nvPr/>
        </p:nvSpPr>
        <p:spPr>
          <a:xfrm>
            <a:off x="4312920" y="5074920"/>
            <a:ext cx="353568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2" name="Text 8"/>
          <p:cNvSpPr txBox="1"/>
          <p:nvPr/>
        </p:nvSpPr>
        <p:spPr>
          <a:xfrm>
            <a:off x="4312920" y="507492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계통 차이</a:t>
            </a:r>
            <a:endParaRPr lang="en-US" sz="1400" dirty="0"/>
          </a:p>
        </p:txBody>
      </p:sp>
      <p:sp>
        <p:nvSpPr>
          <p:cNvPr id="13" name="Shape 9"/>
          <p:cNvSpPr/>
          <p:nvPr/>
        </p:nvSpPr>
        <p:spPr>
          <a:xfrm>
            <a:off x="8077200" y="5074920"/>
            <a:ext cx="3535680" cy="548640"/>
          </a:xfrm>
          <a:prstGeom prst="roundRect">
            <a:avLst>
              <a:gd name="adj" fmla="val 13333"/>
            </a:avLst>
          </a:prstGeom>
          <a:solidFill>
            <a:srgbClr val="FFA500"/>
          </a:solidFill>
          <a:ln w="12700">
            <a:solidFill>
              <a:srgbClr val="FFA500"/>
            </a:solidFill>
            <a:prstDash val="solid"/>
          </a:ln>
        </p:spPr>
        <p:txBody>
          <a:bodyPr/>
          <a:lstStyle/>
          <a:p>
            <a:endParaRPr lang="ko-KR" altLang="en-US"/>
          </a:p>
        </p:txBody>
      </p:sp>
      <p:sp>
        <p:nvSpPr>
          <p:cNvPr id="14" name="Text 10"/>
          <p:cNvSpPr txBox="1"/>
          <p:nvPr/>
        </p:nvSpPr>
        <p:spPr>
          <a:xfrm>
            <a:off x="8077200" y="507492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ERV · EVE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지우면 안 되는 것</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Geisler C, Jarvis DL. Biologicals 2016;44:219 · Goodacre N et al. mSphere 2018;3:e00069-18 · ICH Q5A(R2)</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25</a:t>
            </a:r>
            <a:endParaRPr lang="en-US" sz="900" dirty="0"/>
          </a:p>
        </p:txBody>
      </p:sp>
      <p:sp>
        <p:nvSpPr>
          <p:cNvPr id="8" name="Text 5"/>
          <p:cNvSpPr txBox="1"/>
          <p:nvPr/>
        </p:nvSpPr>
        <p:spPr>
          <a:xfrm>
            <a:off x="548640" y="1554480"/>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숙주 서열이면서 </a:t>
            </a:r>
            <a:r>
              <a:rPr lang="en-US" sz="3200" b="1" dirty="0">
                <a:solidFill>
                  <a:srgbClr val="000080"/>
                </a:solidFill>
                <a:highlight>
                  <a:srgbClr val="FFA500"/>
                </a:highlight>
                <a:latin typeface="Malgun Gothic" pitchFamily="34" charset="0"/>
                <a:ea typeface="Malgun Gothic" pitchFamily="34" charset="-122"/>
                <a:cs typeface="Malgun Gothic" pitchFamily="34" charset="-120"/>
              </a:rPr>
              <a:t>바이러스 서열</a:t>
            </a:r>
            <a:endParaRPr lang="en-US" sz="3200" dirty="0"/>
          </a:p>
        </p:txBody>
      </p:sp>
      <p:sp>
        <p:nvSpPr>
          <p:cNvPr id="9" name="Shape 6"/>
          <p:cNvSpPr/>
          <p:nvPr/>
        </p:nvSpPr>
        <p:spPr>
          <a:xfrm>
            <a:off x="548640" y="3246120"/>
            <a:ext cx="2377440" cy="914400"/>
          </a:xfrm>
          <a:prstGeom prst="rect">
            <a:avLst/>
          </a:prstGeom>
          <a:solidFill>
            <a:srgbClr val="000080"/>
          </a:solidFill>
          <a:ln w="12700">
            <a:solidFill>
              <a:srgbClr val="000080"/>
            </a:solidFill>
            <a:prstDash val="solid"/>
          </a:ln>
        </p:spPr>
        <p:txBody>
          <a:bodyPr/>
          <a:lstStyle/>
          <a:p>
            <a:endParaRPr lang="ko-KR" altLang="en-US"/>
          </a:p>
        </p:txBody>
      </p:sp>
      <p:sp>
        <p:nvSpPr>
          <p:cNvPr id="10" name="Text 7"/>
          <p:cNvSpPr txBox="1"/>
          <p:nvPr/>
        </p:nvSpPr>
        <p:spPr>
          <a:xfrm>
            <a:off x="548640" y="3246120"/>
            <a:ext cx="2377440" cy="914400"/>
          </a:xfrm>
          <a:prstGeom prst="rect">
            <a:avLst/>
          </a:prstGeom>
          <a:no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Host 정렬</a:t>
            </a:r>
            <a:endParaRPr lang="en-US" sz="1800" dirty="0"/>
          </a:p>
        </p:txBody>
      </p:sp>
      <p:sp>
        <p:nvSpPr>
          <p:cNvPr id="11" name="Shape 8"/>
          <p:cNvSpPr/>
          <p:nvPr/>
        </p:nvSpPr>
        <p:spPr>
          <a:xfrm flipV="1">
            <a:off x="2971800" y="2834640"/>
            <a:ext cx="1005840" cy="868680"/>
          </a:xfrm>
          <a:prstGeom prst="line">
            <a:avLst/>
          </a:prstGeom>
          <a:noFill/>
          <a:ln w="19050">
            <a:solidFill>
              <a:srgbClr val="7F7F7F"/>
            </a:solidFill>
            <a:prstDash val="solid"/>
            <a:tailEnd type="triangle"/>
          </a:ln>
        </p:spPr>
        <p:txBody>
          <a:bodyPr/>
          <a:lstStyle/>
          <a:p>
            <a:endParaRPr lang="ko-KR" altLang="en-US"/>
          </a:p>
        </p:txBody>
      </p:sp>
      <p:sp>
        <p:nvSpPr>
          <p:cNvPr id="12" name="Shape 9"/>
          <p:cNvSpPr/>
          <p:nvPr/>
        </p:nvSpPr>
        <p:spPr>
          <a:xfrm>
            <a:off x="4069080" y="2514600"/>
            <a:ext cx="3291840" cy="658368"/>
          </a:xfrm>
          <a:prstGeom prst="rect">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4069080" y="2514600"/>
            <a:ext cx="3291840" cy="658368"/>
          </a:xfrm>
          <a:prstGeom prst="rect">
            <a:avLst/>
          </a:prstGeom>
          <a:noFill/>
          <a:ln/>
        </p:spPr>
        <p:txBody>
          <a:bodyPr wrap="square" lIns="0" tIns="0" rIns="0" bIns="0" rtlCol="0" anchor="ctr"/>
          <a:lstStyle/>
          <a:p>
            <a:pPr marL="0" indent="0" algn="ctr">
              <a:buNone/>
            </a:pPr>
            <a:r>
              <a:rPr lang="en-US" sz="1700" b="1" dirty="0">
                <a:solidFill>
                  <a:srgbClr val="000080"/>
                </a:solidFill>
                <a:latin typeface="Malgun Gothic" pitchFamily="34" charset="0"/>
                <a:ea typeface="Malgun Gothic" pitchFamily="34" charset="-122"/>
                <a:cs typeface="Malgun Gothic" pitchFamily="34" charset="-120"/>
              </a:rPr>
              <a:t>잔류 숙주 read</a:t>
            </a:r>
            <a:endParaRPr lang="en-US" sz="1700" dirty="0"/>
          </a:p>
        </p:txBody>
      </p:sp>
      <p:sp>
        <p:nvSpPr>
          <p:cNvPr id="14" name="Text 11"/>
          <p:cNvSpPr txBox="1"/>
          <p:nvPr/>
        </p:nvSpPr>
        <p:spPr>
          <a:xfrm>
            <a:off x="7635240" y="2514600"/>
            <a:ext cx="4023360" cy="658368"/>
          </a:xfrm>
          <a:prstGeom prst="rect">
            <a:avLst/>
          </a:prstGeom>
          <a:noFill/>
          <a:ln/>
        </p:spPr>
        <p:txBody>
          <a:bodyPr wrap="square" lIns="0" tIns="0" rIns="0" bIns="0" rtlCol="0" anchor="ctr"/>
          <a:lstStyle/>
          <a:p>
            <a:pPr marL="0" indent="0">
              <a:buNone/>
            </a:pPr>
            <a:r>
              <a:rPr lang="en-US" sz="1400" dirty="0">
                <a:solidFill>
                  <a:srgbClr val="595959"/>
                </a:solidFill>
                <a:latin typeface="Malgun Gothic" pitchFamily="34" charset="0"/>
                <a:ea typeface="Malgun Gothic" pitchFamily="34" charset="-122"/>
                <a:cs typeface="Malgun Gothic" pitchFamily="34" charset="-120"/>
              </a:rPr>
              <a:t>DB 오정렬 → 위양성</a:t>
            </a:r>
            <a:endParaRPr lang="en-US" sz="1400" dirty="0"/>
          </a:p>
        </p:txBody>
      </p:sp>
      <p:sp>
        <p:nvSpPr>
          <p:cNvPr id="15" name="Shape 12"/>
          <p:cNvSpPr/>
          <p:nvPr/>
        </p:nvSpPr>
        <p:spPr>
          <a:xfrm>
            <a:off x="2971800" y="3703320"/>
            <a:ext cx="1005840" cy="182880"/>
          </a:xfrm>
          <a:prstGeom prst="line">
            <a:avLst/>
          </a:prstGeom>
          <a:noFill/>
          <a:ln w="19050">
            <a:solidFill>
              <a:srgbClr val="7F7F7F"/>
            </a:solidFill>
            <a:prstDash val="solid"/>
            <a:tailEnd type="triangle"/>
          </a:ln>
        </p:spPr>
        <p:txBody>
          <a:bodyPr/>
          <a:lstStyle/>
          <a:p>
            <a:endParaRPr lang="ko-KR" altLang="en-US"/>
          </a:p>
        </p:txBody>
      </p:sp>
      <p:sp>
        <p:nvSpPr>
          <p:cNvPr id="16" name="Shape 13"/>
          <p:cNvSpPr/>
          <p:nvPr/>
        </p:nvSpPr>
        <p:spPr>
          <a:xfrm>
            <a:off x="4069080" y="3566160"/>
            <a:ext cx="3291840" cy="658368"/>
          </a:xfrm>
          <a:prstGeom prst="rect">
            <a:avLst/>
          </a:prstGeom>
          <a:solidFill>
            <a:srgbClr val="FFA500"/>
          </a:solidFill>
          <a:ln w="12700">
            <a:solidFill>
              <a:srgbClr val="FFA500"/>
            </a:solidFill>
            <a:prstDash val="solid"/>
          </a:ln>
        </p:spPr>
        <p:txBody>
          <a:bodyPr/>
          <a:lstStyle/>
          <a:p>
            <a:endParaRPr lang="ko-KR" altLang="en-US"/>
          </a:p>
        </p:txBody>
      </p:sp>
      <p:sp>
        <p:nvSpPr>
          <p:cNvPr id="17" name="Text 14"/>
          <p:cNvSpPr txBox="1"/>
          <p:nvPr/>
        </p:nvSpPr>
        <p:spPr>
          <a:xfrm>
            <a:off x="4069080" y="3566160"/>
            <a:ext cx="3291840" cy="658368"/>
          </a:xfrm>
          <a:prstGeom prst="rect">
            <a:avLst/>
          </a:prstGeom>
          <a:noFill/>
          <a:ln/>
        </p:spPr>
        <p:txBody>
          <a:bodyPr wrap="square" lIns="0" tIns="0" rIns="0" bIns="0" rtlCol="0" anchor="ctr"/>
          <a:lstStyle/>
          <a:p>
            <a:pPr marL="0" indent="0" algn="ctr">
              <a:buNone/>
            </a:pPr>
            <a:r>
              <a:rPr lang="en-US" sz="1700" b="1" dirty="0">
                <a:solidFill>
                  <a:srgbClr val="000080"/>
                </a:solidFill>
                <a:latin typeface="Malgun Gothic" pitchFamily="34" charset="0"/>
                <a:ea typeface="Malgun Gothic" pitchFamily="34" charset="-122"/>
                <a:cs typeface="Malgun Gothic" pitchFamily="34" charset="-120"/>
              </a:rPr>
              <a:t>ERV · EVE</a:t>
            </a:r>
            <a:endParaRPr lang="en-US" sz="1700" dirty="0"/>
          </a:p>
        </p:txBody>
      </p:sp>
      <p:sp>
        <p:nvSpPr>
          <p:cNvPr id="18" name="Text 15"/>
          <p:cNvSpPr txBox="1"/>
          <p:nvPr/>
        </p:nvSpPr>
        <p:spPr>
          <a:xfrm>
            <a:off x="7635240" y="3566160"/>
            <a:ext cx="4023360" cy="658368"/>
          </a:xfrm>
          <a:prstGeom prst="rect">
            <a:avLst/>
          </a:prstGeom>
          <a:noFill/>
          <a:ln/>
        </p:spPr>
        <p:txBody>
          <a:bodyPr wrap="square" lIns="0" tIns="0" rIns="0" bIns="0" rtlCol="0" anchor="ctr"/>
          <a:lstStyle/>
          <a:p>
            <a:pPr marL="0" indent="0">
              <a:buNone/>
            </a:pPr>
            <a:r>
              <a:rPr lang="en-US" sz="1400" dirty="0">
                <a:solidFill>
                  <a:srgbClr val="595959"/>
                </a:solidFill>
                <a:latin typeface="Malgun Gothic" pitchFamily="34" charset="0"/>
                <a:ea typeface="Malgun Gothic" pitchFamily="34" charset="-122"/>
                <a:cs typeface="Malgun Gothic" pitchFamily="34" charset="-120"/>
              </a:rPr>
              <a:t>제거가 아닌 해석 대상</a:t>
            </a:r>
            <a:endParaRPr lang="en-US" sz="1400" dirty="0"/>
          </a:p>
        </p:txBody>
      </p:sp>
      <p:sp>
        <p:nvSpPr>
          <p:cNvPr id="19" name="Shape 16"/>
          <p:cNvSpPr/>
          <p:nvPr/>
        </p:nvSpPr>
        <p:spPr>
          <a:xfrm>
            <a:off x="2971800" y="3703320"/>
            <a:ext cx="1005840" cy="1234440"/>
          </a:xfrm>
          <a:prstGeom prst="line">
            <a:avLst/>
          </a:prstGeom>
          <a:noFill/>
          <a:ln w="19050">
            <a:solidFill>
              <a:srgbClr val="7F7F7F"/>
            </a:solidFill>
            <a:prstDash val="solid"/>
            <a:tailEnd type="triangle"/>
          </a:ln>
        </p:spPr>
        <p:txBody>
          <a:bodyPr/>
          <a:lstStyle/>
          <a:p>
            <a:endParaRPr lang="ko-KR" altLang="en-US"/>
          </a:p>
        </p:txBody>
      </p:sp>
      <p:sp>
        <p:nvSpPr>
          <p:cNvPr id="20" name="Shape 17"/>
          <p:cNvSpPr/>
          <p:nvPr/>
        </p:nvSpPr>
        <p:spPr>
          <a:xfrm>
            <a:off x="4069080" y="4617720"/>
            <a:ext cx="3291840" cy="658368"/>
          </a:xfrm>
          <a:prstGeom prst="rect">
            <a:avLst/>
          </a:prstGeom>
          <a:solidFill>
            <a:srgbClr val="F2F2F2"/>
          </a:solidFill>
          <a:ln w="12700">
            <a:solidFill>
              <a:srgbClr val="F2F2F2"/>
            </a:solidFill>
            <a:prstDash val="solid"/>
          </a:ln>
        </p:spPr>
        <p:txBody>
          <a:bodyPr/>
          <a:lstStyle/>
          <a:p>
            <a:endParaRPr lang="ko-KR" altLang="en-US"/>
          </a:p>
        </p:txBody>
      </p:sp>
      <p:sp>
        <p:nvSpPr>
          <p:cNvPr id="21" name="Text 18"/>
          <p:cNvSpPr txBox="1"/>
          <p:nvPr/>
        </p:nvSpPr>
        <p:spPr>
          <a:xfrm>
            <a:off x="4069080" y="4617720"/>
            <a:ext cx="3291840" cy="658368"/>
          </a:xfrm>
          <a:prstGeom prst="rect">
            <a:avLst/>
          </a:prstGeom>
          <a:noFill/>
          <a:ln/>
        </p:spPr>
        <p:txBody>
          <a:bodyPr wrap="square" lIns="0" tIns="0" rIns="0" bIns="0" rtlCol="0" anchor="ctr"/>
          <a:lstStyle/>
          <a:p>
            <a:pPr marL="0" indent="0" algn="ctr">
              <a:buNone/>
            </a:pPr>
            <a:r>
              <a:rPr lang="en-US" sz="1700" b="1" dirty="0">
                <a:solidFill>
                  <a:srgbClr val="000080"/>
                </a:solidFill>
                <a:latin typeface="Malgun Gothic" pitchFamily="34" charset="0"/>
                <a:ea typeface="Malgun Gothic" pitchFamily="34" charset="-122"/>
                <a:cs typeface="Malgun Gothic" pitchFamily="34" charset="-120"/>
              </a:rPr>
              <a:t>DNA + RNA 병행</a:t>
            </a:r>
            <a:endParaRPr lang="en-US" sz="1700" dirty="0"/>
          </a:p>
        </p:txBody>
      </p:sp>
      <p:sp>
        <p:nvSpPr>
          <p:cNvPr id="22" name="Text 19"/>
          <p:cNvSpPr txBox="1"/>
          <p:nvPr/>
        </p:nvSpPr>
        <p:spPr>
          <a:xfrm>
            <a:off x="7635240" y="4617720"/>
            <a:ext cx="4023360" cy="658368"/>
          </a:xfrm>
          <a:prstGeom prst="rect">
            <a:avLst/>
          </a:prstGeom>
          <a:noFill/>
          <a:ln/>
        </p:spPr>
        <p:txBody>
          <a:bodyPr wrap="square" lIns="0" tIns="0" rIns="0" bIns="0" rtlCol="0" anchor="ctr"/>
          <a:lstStyle/>
          <a:p>
            <a:pPr marL="0" indent="0">
              <a:buNone/>
            </a:pPr>
            <a:r>
              <a:rPr lang="en-US" sz="1400" dirty="0">
                <a:solidFill>
                  <a:srgbClr val="595959"/>
                </a:solidFill>
                <a:latin typeface="Malgun Gothic" pitchFamily="34" charset="0"/>
                <a:ea typeface="Malgun Gothic" pitchFamily="34" charset="-122"/>
                <a:cs typeface="Malgun Gothic" pitchFamily="34" charset="-120"/>
              </a:rPr>
              <a:t>전사되는 EVE 식별</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DB 선택</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Goodacre N et al. mSphere 2018;3:e00069-18 · Chin P et al. mSphere 2025;10:e00286-25 · MacDonald ML et al. mSphere 2021;6:e01336-20 · Buchfink B et al. Nat Methods 2015;12:59 · Wood DE et al. Genome Biol 2019;20:257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777240">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DB</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범위</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위험</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000080"/>
                          </a:solidFill>
                          <a:latin typeface="Arial" pitchFamily="34" charset="0"/>
                          <a:ea typeface="Arial" pitchFamily="34" charset="-122"/>
                          <a:cs typeface="Arial" pitchFamily="34" charset="-120"/>
                        </a:rPr>
                        <a:t>RefSeq viral</a:t>
                      </a:r>
                      <a:endParaRPr lang="en-US" sz="14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좁음</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발산 바이러스 누락</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00080"/>
                          </a:solidFill>
                          <a:latin typeface="Arial" pitchFamily="34" charset="0"/>
                          <a:ea typeface="Arial" pitchFamily="34" charset="-122"/>
                          <a:cs typeface="Arial" pitchFamily="34" charset="-120"/>
                        </a:rPr>
                        <a:t>GenBank nt</a:t>
                      </a:r>
                      <a:endParaRPr lang="en-US" sz="14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넓음 · 세포 서열 포함</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속도 저하 · 오분류</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000080"/>
                          </a:solidFill>
                          <a:latin typeface="Malgun Gothic" pitchFamily="34" charset="0"/>
                          <a:ea typeface="Malgun Gothic" pitchFamily="34" charset="-122"/>
                          <a:cs typeface="Malgun Gothic" pitchFamily="34" charset="-120"/>
                        </a:rPr>
                        <a:t>RVDB (FDA CBER)</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바이러스 전용 · 파지 제외 · 98% 군집</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세포 서열 축소</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5"/>
          <p:cNvSpPr txBox="1"/>
          <p:nvPr/>
        </p:nvSpPr>
        <p:spPr>
          <a:xfrm>
            <a:off x="8686800" y="1783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0" name="Text 6"/>
          <p:cNvSpPr txBox="1"/>
          <p:nvPr/>
        </p:nvSpPr>
        <p:spPr>
          <a:xfrm>
            <a:off x="9189720" y="1746504"/>
            <a:ext cx="2423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정렬 vs k-mer</a:t>
            </a:r>
            <a:endParaRPr lang="en-US" sz="1800" dirty="0"/>
          </a:p>
        </p:txBody>
      </p:sp>
      <p:sp>
        <p:nvSpPr>
          <p:cNvPr id="11" name="Text 7"/>
          <p:cNvSpPr txBox="1"/>
          <p:nvPr/>
        </p:nvSpPr>
        <p:spPr>
          <a:xfrm>
            <a:off x="9189720" y="2130552"/>
            <a:ext cx="242316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BLAST · DIAMOND / Kraken2</a:t>
            </a:r>
            <a:endParaRPr lang="en-US" sz="1150" dirty="0"/>
          </a:p>
        </p:txBody>
      </p:sp>
      <p:sp>
        <p:nvSpPr>
          <p:cNvPr id="12" name="Shape 8"/>
          <p:cNvSpPr/>
          <p:nvPr/>
        </p:nvSpPr>
        <p:spPr>
          <a:xfrm>
            <a:off x="8686800" y="2798064"/>
            <a:ext cx="2926080" cy="0"/>
          </a:xfrm>
          <a:prstGeom prst="line">
            <a:avLst/>
          </a:prstGeom>
          <a:noFill/>
          <a:ln w="9525">
            <a:solidFill>
              <a:srgbClr val="D9D9D9"/>
            </a:solidFill>
            <a:prstDash val="solid"/>
          </a:ln>
        </p:spPr>
        <p:txBody>
          <a:bodyPr/>
          <a:lstStyle/>
          <a:p>
            <a:endParaRPr lang="ko-KR" altLang="en-US"/>
          </a:p>
        </p:txBody>
      </p:sp>
      <p:sp>
        <p:nvSpPr>
          <p:cNvPr id="13" name="Text 9"/>
          <p:cNvSpPr txBox="1"/>
          <p:nvPr/>
        </p:nvSpPr>
        <p:spPr>
          <a:xfrm>
            <a:off x="8686800" y="2926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4" name="Text 10"/>
          <p:cNvSpPr txBox="1"/>
          <p:nvPr/>
        </p:nvSpPr>
        <p:spPr>
          <a:xfrm>
            <a:off x="9189720" y="2889504"/>
            <a:ext cx="2423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DB의 폭</a:t>
            </a:r>
            <a:endParaRPr lang="en-US" sz="1800" dirty="0"/>
          </a:p>
        </p:txBody>
      </p:sp>
      <p:sp>
        <p:nvSpPr>
          <p:cNvPr id="15" name="Text 11"/>
          <p:cNvSpPr txBox="1"/>
          <p:nvPr/>
        </p:nvSpPr>
        <p:spPr>
          <a:xfrm>
            <a:off x="9189720" y="3273552"/>
            <a:ext cx="242316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누락과 오분류의 교환</a:t>
            </a:r>
            <a:endParaRPr lang="en-US" sz="1150" dirty="0"/>
          </a:p>
        </p:txBody>
      </p:sp>
      <p:sp>
        <p:nvSpPr>
          <p:cNvPr id="16" name="Shape 12"/>
          <p:cNvSpPr/>
          <p:nvPr/>
        </p:nvSpPr>
        <p:spPr>
          <a:xfrm>
            <a:off x="8686800" y="3941064"/>
            <a:ext cx="2926080" cy="0"/>
          </a:xfrm>
          <a:prstGeom prst="line">
            <a:avLst/>
          </a:prstGeom>
          <a:noFill/>
          <a:ln w="9525">
            <a:solidFill>
              <a:srgbClr val="D9D9D9"/>
            </a:solidFill>
            <a:prstDash val="solid"/>
          </a:ln>
        </p:spPr>
        <p:txBody>
          <a:bodyPr/>
          <a:lstStyle/>
          <a:p>
            <a:endParaRPr lang="ko-KR" altLang="en-US"/>
          </a:p>
        </p:txBody>
      </p:sp>
      <p:sp>
        <p:nvSpPr>
          <p:cNvPr id="17" name="Text 13"/>
          <p:cNvSpPr txBox="1"/>
          <p:nvPr/>
        </p:nvSpPr>
        <p:spPr>
          <a:xfrm>
            <a:off x="8686800" y="4069080"/>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03</a:t>
            </a:r>
            <a:endParaRPr lang="en-US" sz="1200" dirty="0"/>
          </a:p>
        </p:txBody>
      </p:sp>
      <p:sp>
        <p:nvSpPr>
          <p:cNvPr id="18" name="Text 14"/>
          <p:cNvSpPr txBox="1"/>
          <p:nvPr/>
        </p:nvSpPr>
        <p:spPr>
          <a:xfrm>
            <a:off x="9189720" y="4032504"/>
            <a:ext cx="2423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RVDB</a:t>
            </a:r>
            <a:endParaRPr lang="en-US" sz="1800" dirty="0"/>
          </a:p>
        </p:txBody>
      </p:sp>
      <p:sp>
        <p:nvSpPr>
          <p:cNvPr id="19" name="Text 15"/>
          <p:cNvSpPr txBox="1"/>
          <p:nvPr/>
        </p:nvSpPr>
        <p:spPr>
          <a:xfrm>
            <a:off x="9189720" y="4416552"/>
            <a:ext cx="242316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규제기관 개발 · 2025 개정</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판정과 확증</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Ph. Eur. 2.6.41 (EDQM 2025) · ICH Q5A(R2) · Khan AS et al. mSphere 2017;2:e00307-17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27</a:t>
            </a:r>
            <a:endParaRPr lang="en-US" sz="900" dirty="0"/>
          </a:p>
        </p:txBody>
      </p:sp>
      <p:sp>
        <p:nvSpPr>
          <p:cNvPr id="8" name="Shape 5"/>
          <p:cNvSpPr/>
          <p:nvPr/>
        </p:nvSpPr>
        <p:spPr>
          <a:xfrm>
            <a:off x="548640" y="1874520"/>
            <a:ext cx="2148840" cy="1188720"/>
          </a:xfrm>
          <a:prstGeom prst="rect">
            <a:avLst/>
          </a:prstGeom>
          <a:solidFill>
            <a:srgbClr val="FFA500"/>
          </a:solidFill>
          <a:ln w="12700">
            <a:solidFill>
              <a:srgbClr val="FFA500"/>
            </a:solidFill>
            <a:prstDash val="solid"/>
          </a:ln>
        </p:spPr>
        <p:txBody>
          <a:bodyPr/>
          <a:lstStyle/>
          <a:p>
            <a:endParaRPr lang="ko-KR" altLang="en-US"/>
          </a:p>
        </p:txBody>
      </p:sp>
      <p:sp>
        <p:nvSpPr>
          <p:cNvPr id="9" name="Text 6"/>
          <p:cNvSpPr txBox="1"/>
          <p:nvPr/>
        </p:nvSpPr>
        <p:spPr>
          <a:xfrm>
            <a:off x="548640" y="1965960"/>
            <a:ext cx="2148840" cy="548640"/>
          </a:xfrm>
          <a:prstGeom prst="rect">
            <a:avLst/>
          </a:prstGeom>
          <a:noFill/>
          <a:ln/>
        </p:spPr>
        <p:txBody>
          <a:bodyPr wrap="square" lIns="0" tIns="0" rIns="0" bIns="0" rtlCol="0" anchor="ctr"/>
          <a:lstStyle/>
          <a:p>
            <a:pPr marL="0" indent="0" algn="ctr">
              <a:buNone/>
            </a:pPr>
            <a:r>
              <a:rPr lang="en-US" sz="1800" b="1" dirty="0">
                <a:solidFill>
                  <a:srgbClr val="000080"/>
                </a:solidFill>
                <a:latin typeface="Malgun Gothic" pitchFamily="34" charset="0"/>
                <a:ea typeface="Malgun Gothic" pitchFamily="34" charset="-122"/>
                <a:cs typeface="Malgun Gothic" pitchFamily="34" charset="-120"/>
              </a:rPr>
              <a:t>NGS 신호</a:t>
            </a:r>
            <a:endParaRPr lang="en-US" sz="1800" dirty="0"/>
          </a:p>
        </p:txBody>
      </p:sp>
      <p:sp>
        <p:nvSpPr>
          <p:cNvPr id="10" name="Text 7"/>
          <p:cNvSpPr txBox="1"/>
          <p:nvPr/>
        </p:nvSpPr>
        <p:spPr>
          <a:xfrm>
            <a:off x="548640" y="2487168"/>
            <a:ext cx="2148840" cy="41148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추정 검출</a:t>
            </a:r>
            <a:endParaRPr lang="en-US" sz="1200" dirty="0"/>
          </a:p>
        </p:txBody>
      </p:sp>
      <p:sp>
        <p:nvSpPr>
          <p:cNvPr id="11" name="Shape 8"/>
          <p:cNvSpPr/>
          <p:nvPr/>
        </p:nvSpPr>
        <p:spPr>
          <a:xfrm>
            <a:off x="2743200" y="2468880"/>
            <a:ext cx="274320" cy="0"/>
          </a:xfrm>
          <a:prstGeom prst="line">
            <a:avLst/>
          </a:prstGeom>
          <a:noFill/>
          <a:ln w="19050">
            <a:solidFill>
              <a:srgbClr val="7F7F7F"/>
            </a:solidFill>
            <a:prstDash val="solid"/>
            <a:tailEnd type="triangle"/>
          </a:ln>
        </p:spPr>
        <p:txBody>
          <a:bodyPr/>
          <a:lstStyle/>
          <a:p>
            <a:endParaRPr lang="ko-KR" altLang="en-US"/>
          </a:p>
        </p:txBody>
      </p:sp>
      <p:sp>
        <p:nvSpPr>
          <p:cNvPr id="12" name="Shape 9"/>
          <p:cNvSpPr/>
          <p:nvPr/>
        </p:nvSpPr>
        <p:spPr>
          <a:xfrm>
            <a:off x="3063240" y="1874520"/>
            <a:ext cx="2148840" cy="1188720"/>
          </a:xfrm>
          <a:prstGeom prst="rect">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3063240" y="1965960"/>
            <a:ext cx="2148840" cy="548640"/>
          </a:xfrm>
          <a:prstGeom prst="rect">
            <a:avLst/>
          </a:prstGeom>
          <a:noFill/>
          <a:ln/>
        </p:spPr>
        <p:txBody>
          <a:bodyPr wrap="square" lIns="0" tIns="0" rIns="0" bIns="0" rtlCol="0" anchor="ctr"/>
          <a:lstStyle/>
          <a:p>
            <a:pPr marL="0" indent="0" algn="ctr">
              <a:buNone/>
            </a:pPr>
            <a:r>
              <a:rPr lang="en-US" sz="1800" b="1" dirty="0">
                <a:solidFill>
                  <a:srgbClr val="000080"/>
                </a:solidFill>
                <a:latin typeface="Malgun Gothic" pitchFamily="34" charset="0"/>
                <a:ea typeface="Malgun Gothic" pitchFamily="34" charset="-122"/>
                <a:cs typeface="Malgun Gothic" pitchFamily="34" charset="-120"/>
              </a:rPr>
              <a:t>특이 PCR</a:t>
            </a:r>
            <a:endParaRPr lang="en-US" sz="1800" dirty="0"/>
          </a:p>
        </p:txBody>
      </p:sp>
      <p:sp>
        <p:nvSpPr>
          <p:cNvPr id="14" name="Text 11"/>
          <p:cNvSpPr txBox="1"/>
          <p:nvPr/>
        </p:nvSpPr>
        <p:spPr>
          <a:xfrm>
            <a:off x="3063240" y="2487168"/>
            <a:ext cx="2148840" cy="41148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서열 확인</a:t>
            </a:r>
            <a:endParaRPr lang="en-US" sz="1200" dirty="0"/>
          </a:p>
        </p:txBody>
      </p:sp>
      <p:sp>
        <p:nvSpPr>
          <p:cNvPr id="15" name="Shape 12"/>
          <p:cNvSpPr/>
          <p:nvPr/>
        </p:nvSpPr>
        <p:spPr>
          <a:xfrm>
            <a:off x="5257800" y="2468880"/>
            <a:ext cx="274320" cy="0"/>
          </a:xfrm>
          <a:prstGeom prst="line">
            <a:avLst/>
          </a:prstGeom>
          <a:noFill/>
          <a:ln w="19050">
            <a:solidFill>
              <a:srgbClr val="7F7F7F"/>
            </a:solidFill>
            <a:prstDash val="solid"/>
            <a:tailEnd type="triangle"/>
          </a:ln>
        </p:spPr>
        <p:txBody>
          <a:bodyPr/>
          <a:lstStyle/>
          <a:p>
            <a:endParaRPr lang="ko-KR" altLang="en-US"/>
          </a:p>
        </p:txBody>
      </p:sp>
      <p:sp>
        <p:nvSpPr>
          <p:cNvPr id="16" name="Shape 13"/>
          <p:cNvSpPr/>
          <p:nvPr/>
        </p:nvSpPr>
        <p:spPr>
          <a:xfrm>
            <a:off x="5577840" y="1874520"/>
            <a:ext cx="2148840" cy="1188720"/>
          </a:xfrm>
          <a:prstGeom prst="rect">
            <a:avLst/>
          </a:prstGeom>
          <a:solidFill>
            <a:srgbClr val="F2F2F2"/>
          </a:solidFill>
          <a:ln w="12700">
            <a:solidFill>
              <a:srgbClr val="F2F2F2"/>
            </a:solidFill>
            <a:prstDash val="solid"/>
          </a:ln>
        </p:spPr>
        <p:txBody>
          <a:bodyPr/>
          <a:lstStyle/>
          <a:p>
            <a:endParaRPr lang="ko-KR" altLang="en-US"/>
          </a:p>
        </p:txBody>
      </p:sp>
      <p:sp>
        <p:nvSpPr>
          <p:cNvPr id="17" name="Text 14"/>
          <p:cNvSpPr txBox="1"/>
          <p:nvPr/>
        </p:nvSpPr>
        <p:spPr>
          <a:xfrm>
            <a:off x="5577840" y="1965960"/>
            <a:ext cx="2148840" cy="548640"/>
          </a:xfrm>
          <a:prstGeom prst="rect">
            <a:avLst/>
          </a:prstGeom>
          <a:noFill/>
          <a:ln/>
        </p:spPr>
        <p:txBody>
          <a:bodyPr wrap="square" lIns="0" tIns="0" rIns="0" bIns="0" rtlCol="0" anchor="ctr"/>
          <a:lstStyle/>
          <a:p>
            <a:pPr marL="0" indent="0" algn="ctr">
              <a:buNone/>
            </a:pPr>
            <a:r>
              <a:rPr lang="en-US" sz="1800" b="1" dirty="0">
                <a:solidFill>
                  <a:srgbClr val="000080"/>
                </a:solidFill>
                <a:latin typeface="Malgun Gothic" pitchFamily="34" charset="0"/>
                <a:ea typeface="Malgun Gothic" pitchFamily="34" charset="-122"/>
                <a:cs typeface="Malgun Gothic" pitchFamily="34" charset="-120"/>
              </a:rPr>
              <a:t>감염성 시험</a:t>
            </a:r>
            <a:endParaRPr lang="en-US" sz="1800" dirty="0"/>
          </a:p>
        </p:txBody>
      </p:sp>
      <p:sp>
        <p:nvSpPr>
          <p:cNvPr id="18" name="Text 15"/>
          <p:cNvSpPr txBox="1"/>
          <p:nvPr/>
        </p:nvSpPr>
        <p:spPr>
          <a:xfrm>
            <a:off x="5577840" y="2487168"/>
            <a:ext cx="2148840" cy="41148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복제능 확인</a:t>
            </a:r>
            <a:endParaRPr lang="en-US" sz="1200" dirty="0"/>
          </a:p>
        </p:txBody>
      </p:sp>
      <p:sp>
        <p:nvSpPr>
          <p:cNvPr id="19" name="Shape 16"/>
          <p:cNvSpPr/>
          <p:nvPr/>
        </p:nvSpPr>
        <p:spPr>
          <a:xfrm>
            <a:off x="7406640" y="2468880"/>
            <a:ext cx="457200" cy="0"/>
          </a:xfrm>
          <a:prstGeom prst="line">
            <a:avLst/>
          </a:prstGeom>
          <a:noFill/>
          <a:ln w="19050">
            <a:solidFill>
              <a:srgbClr val="7F7F7F"/>
            </a:solidFill>
            <a:prstDash val="solid"/>
            <a:tailEnd type="triangle"/>
          </a:ln>
        </p:spPr>
        <p:txBody>
          <a:bodyPr/>
          <a:lstStyle/>
          <a:p>
            <a:endParaRPr lang="ko-KR" altLang="en-US"/>
          </a:p>
        </p:txBody>
      </p:sp>
      <p:sp>
        <p:nvSpPr>
          <p:cNvPr id="20" name="Shape 17"/>
          <p:cNvSpPr/>
          <p:nvPr/>
        </p:nvSpPr>
        <p:spPr>
          <a:xfrm>
            <a:off x="8001000" y="1691640"/>
            <a:ext cx="3611880" cy="457200"/>
          </a:xfrm>
          <a:prstGeom prst="rect">
            <a:avLst/>
          </a:prstGeom>
          <a:solidFill>
            <a:srgbClr val="FFFFFF"/>
          </a:solidFill>
          <a:ln w="12700">
            <a:solidFill>
              <a:srgbClr val="000080"/>
            </a:solidFill>
            <a:prstDash val="solid"/>
          </a:ln>
        </p:spPr>
        <p:txBody>
          <a:bodyPr/>
          <a:lstStyle/>
          <a:p>
            <a:endParaRPr lang="ko-KR" altLang="en-US"/>
          </a:p>
        </p:txBody>
      </p:sp>
      <p:sp>
        <p:nvSpPr>
          <p:cNvPr id="21" name="Text 18"/>
          <p:cNvSpPr txBox="1"/>
          <p:nvPr/>
        </p:nvSpPr>
        <p:spPr>
          <a:xfrm>
            <a:off x="8001000" y="1691640"/>
            <a:ext cx="3611880" cy="45720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복제 바이러스</a:t>
            </a:r>
            <a:endParaRPr lang="en-US" sz="1400" dirty="0"/>
          </a:p>
        </p:txBody>
      </p:sp>
      <p:sp>
        <p:nvSpPr>
          <p:cNvPr id="22" name="Shape 19"/>
          <p:cNvSpPr/>
          <p:nvPr/>
        </p:nvSpPr>
        <p:spPr>
          <a:xfrm>
            <a:off x="8001000" y="2240280"/>
            <a:ext cx="3611880" cy="457200"/>
          </a:xfrm>
          <a:prstGeom prst="rect">
            <a:avLst/>
          </a:prstGeom>
          <a:solidFill>
            <a:srgbClr val="FFFFFF"/>
          </a:solidFill>
          <a:ln w="12700">
            <a:solidFill>
              <a:srgbClr val="000080"/>
            </a:solidFill>
            <a:prstDash val="solid"/>
          </a:ln>
        </p:spPr>
        <p:txBody>
          <a:bodyPr/>
          <a:lstStyle/>
          <a:p>
            <a:endParaRPr lang="ko-KR" altLang="en-US"/>
          </a:p>
        </p:txBody>
      </p:sp>
      <p:sp>
        <p:nvSpPr>
          <p:cNvPr id="23" name="Text 20"/>
          <p:cNvSpPr txBox="1"/>
          <p:nvPr/>
        </p:nvSpPr>
        <p:spPr>
          <a:xfrm>
            <a:off x="8001000" y="2240280"/>
            <a:ext cx="3611880" cy="45720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불활화 핵산</a:t>
            </a:r>
            <a:endParaRPr lang="en-US" sz="1400" dirty="0"/>
          </a:p>
        </p:txBody>
      </p:sp>
      <p:sp>
        <p:nvSpPr>
          <p:cNvPr id="24" name="Shape 21"/>
          <p:cNvSpPr/>
          <p:nvPr/>
        </p:nvSpPr>
        <p:spPr>
          <a:xfrm>
            <a:off x="8001000" y="2788920"/>
            <a:ext cx="3611880" cy="457200"/>
          </a:xfrm>
          <a:prstGeom prst="rect">
            <a:avLst/>
          </a:prstGeom>
          <a:solidFill>
            <a:srgbClr val="FFFFFF"/>
          </a:solidFill>
          <a:ln w="12700">
            <a:solidFill>
              <a:srgbClr val="000080"/>
            </a:solidFill>
            <a:prstDash val="solid"/>
          </a:ln>
        </p:spPr>
        <p:txBody>
          <a:bodyPr/>
          <a:lstStyle/>
          <a:p>
            <a:endParaRPr lang="ko-KR" altLang="en-US"/>
          </a:p>
        </p:txBody>
      </p:sp>
      <p:sp>
        <p:nvSpPr>
          <p:cNvPr id="25" name="Text 22"/>
          <p:cNvSpPr txBox="1"/>
          <p:nvPr/>
        </p:nvSpPr>
        <p:spPr>
          <a:xfrm>
            <a:off x="8001000" y="2788920"/>
            <a:ext cx="3611880" cy="45720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EVE · ERV</a:t>
            </a:r>
            <a:endParaRPr lang="en-US" sz="1400" dirty="0"/>
          </a:p>
        </p:txBody>
      </p:sp>
      <p:sp>
        <p:nvSpPr>
          <p:cNvPr id="26" name="Text 23"/>
          <p:cNvSpPr txBox="1"/>
          <p:nvPr/>
        </p:nvSpPr>
        <p:spPr>
          <a:xfrm>
            <a:off x="640080" y="416052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공통 수치 없음</a:t>
            </a:r>
            <a:endParaRPr lang="en-US" sz="1150" dirty="0"/>
          </a:p>
        </p:txBody>
      </p:sp>
      <p:sp>
        <p:nvSpPr>
          <p:cNvPr id="27" name="Text 24"/>
          <p:cNvSpPr txBox="1"/>
          <p:nvPr/>
        </p:nvSpPr>
        <p:spPr>
          <a:xfrm>
            <a:off x="640080" y="450799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기관별 역치</a:t>
            </a:r>
            <a:endParaRPr lang="en-US" sz="2400" dirty="0"/>
          </a:p>
        </p:txBody>
      </p:sp>
      <p:sp>
        <p:nvSpPr>
          <p:cNvPr id="28" name="Shape 25"/>
          <p:cNvSpPr/>
          <p:nvPr/>
        </p:nvSpPr>
        <p:spPr>
          <a:xfrm>
            <a:off x="4145280" y="4160520"/>
            <a:ext cx="0" cy="1051560"/>
          </a:xfrm>
          <a:prstGeom prst="line">
            <a:avLst/>
          </a:prstGeom>
          <a:noFill/>
          <a:ln w="9525">
            <a:solidFill>
              <a:srgbClr val="D9D9D9"/>
            </a:solidFill>
            <a:prstDash val="solid"/>
          </a:ln>
        </p:spPr>
        <p:txBody>
          <a:bodyPr/>
          <a:lstStyle/>
          <a:p>
            <a:endParaRPr lang="ko-KR" altLang="en-US"/>
          </a:p>
        </p:txBody>
      </p:sp>
      <p:sp>
        <p:nvSpPr>
          <p:cNvPr id="29" name="Text 26"/>
          <p:cNvSpPr txBox="1"/>
          <p:nvPr/>
        </p:nvSpPr>
        <p:spPr>
          <a:xfrm>
            <a:off x="4328160" y="416052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PCR · 감염성</a:t>
            </a:r>
            <a:endParaRPr lang="en-US" sz="1150" dirty="0"/>
          </a:p>
        </p:txBody>
      </p:sp>
      <p:sp>
        <p:nvSpPr>
          <p:cNvPr id="30" name="Text 27"/>
          <p:cNvSpPr txBox="1"/>
          <p:nvPr/>
        </p:nvSpPr>
        <p:spPr>
          <a:xfrm>
            <a:off x="4328160" y="450799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직교 확증</a:t>
            </a:r>
            <a:endParaRPr lang="en-US" sz="2400" dirty="0"/>
          </a:p>
        </p:txBody>
      </p:sp>
      <p:sp>
        <p:nvSpPr>
          <p:cNvPr id="31" name="Shape 28"/>
          <p:cNvSpPr/>
          <p:nvPr/>
        </p:nvSpPr>
        <p:spPr>
          <a:xfrm>
            <a:off x="7833360" y="4160520"/>
            <a:ext cx="0" cy="1051560"/>
          </a:xfrm>
          <a:prstGeom prst="line">
            <a:avLst/>
          </a:prstGeom>
          <a:noFill/>
          <a:ln w="9525">
            <a:solidFill>
              <a:srgbClr val="D9D9D9"/>
            </a:solidFill>
            <a:prstDash val="solid"/>
          </a:ln>
        </p:spPr>
        <p:txBody>
          <a:bodyPr/>
          <a:lstStyle/>
          <a:p>
            <a:endParaRPr lang="ko-KR" altLang="en-US"/>
          </a:p>
        </p:txBody>
      </p:sp>
      <p:sp>
        <p:nvSpPr>
          <p:cNvPr id="32" name="Text 29"/>
          <p:cNvSpPr txBox="1"/>
          <p:nvPr/>
        </p:nvSpPr>
        <p:spPr>
          <a:xfrm>
            <a:off x="8016240" y="416052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Ph. Eur. 2.6.41 요구</a:t>
            </a:r>
            <a:endParaRPr lang="en-US" sz="1150" dirty="0"/>
          </a:p>
        </p:txBody>
      </p:sp>
      <p:sp>
        <p:nvSpPr>
          <p:cNvPr id="33" name="Text 30"/>
          <p:cNvSpPr txBox="1"/>
          <p:nvPr/>
        </p:nvSpPr>
        <p:spPr>
          <a:xfrm>
            <a:off x="8016240" y="450799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후속 조사</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28</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5" name="Text 2"/>
          <p:cNvSpPr txBox="1"/>
          <p:nvPr/>
        </p:nvSpPr>
        <p:spPr>
          <a:xfrm>
            <a:off x="822960" y="2148840"/>
            <a:ext cx="2743200" cy="1188720"/>
          </a:xfrm>
          <a:prstGeom prst="rect">
            <a:avLst/>
          </a:prstGeom>
          <a:noFill/>
          <a:ln/>
        </p:spPr>
        <p:txBody>
          <a:bodyPr wrap="square" lIns="0" tIns="0" rIns="0" bIns="0" rtlCol="0" anchor="t"/>
          <a:lstStyle/>
          <a:p>
            <a:pPr marL="0" indent="0">
              <a:buNone/>
            </a:pPr>
            <a:r>
              <a:rPr lang="en-US" sz="8000" b="1" dirty="0">
                <a:solidFill>
                  <a:srgbClr val="000080"/>
                </a:solidFill>
                <a:latin typeface="Arial" pitchFamily="34" charset="0"/>
                <a:ea typeface="Arial" pitchFamily="34" charset="-122"/>
                <a:cs typeface="Arial" pitchFamily="34" charset="-120"/>
              </a:rPr>
              <a:t>04</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사례 13편</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marL="0" indent="0">
              <a:buNone/>
            </a:pPr>
            <a:r>
              <a:rPr lang="en-US" sz="1800" dirty="0">
                <a:solidFill>
                  <a:srgbClr val="595959"/>
                </a:solidFill>
                <a:latin typeface="Malgun Gothic" pitchFamily="34" charset="0"/>
                <a:ea typeface="Malgun Gothic" pitchFamily="34" charset="-122"/>
                <a:cs typeface="Malgun Gothic" pitchFamily="34" charset="-120"/>
              </a:rPr>
              <a:t>오염의 경로   ·   NGS의 한계   ·   규제 전환</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marL="0" indent="0">
              <a:buNone/>
            </a:pPr>
            <a:r>
              <a:rPr lang="en-US" sz="1200" dirty="0">
                <a:solidFill>
                  <a:srgbClr val="7F7F7F"/>
                </a:solidFill>
                <a:latin typeface="Malgun Gothic" pitchFamily="34" charset="0"/>
                <a:ea typeface="Malgun Gothic" pitchFamily="34" charset="-122"/>
                <a:cs typeface="Malgun Gothic" pitchFamily="34" charset="-120"/>
              </a:rPr>
              <a:t>13분</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13편, 7개 묶음</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문헌 전체 목록은 References 참조</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29</a:t>
            </a:r>
            <a:endParaRPr lang="en-US" sz="900" dirty="0"/>
          </a:p>
        </p:txBody>
      </p:sp>
      <p:sp>
        <p:nvSpPr>
          <p:cNvPr id="8" name="Shape 5"/>
          <p:cNvSpPr/>
          <p:nvPr/>
        </p:nvSpPr>
        <p:spPr>
          <a:xfrm>
            <a:off x="621792" y="2057400"/>
            <a:ext cx="4595513" cy="0"/>
          </a:xfrm>
          <a:prstGeom prst="line">
            <a:avLst/>
          </a:prstGeom>
          <a:noFill/>
          <a:ln w="12700">
            <a:solidFill>
              <a:srgbClr val="000080"/>
            </a:solidFill>
            <a:prstDash val="solid"/>
          </a:ln>
        </p:spPr>
        <p:txBody>
          <a:bodyPr/>
          <a:lstStyle/>
          <a:p>
            <a:endParaRPr lang="ko-KR" altLang="en-US"/>
          </a:p>
        </p:txBody>
      </p:sp>
      <p:sp>
        <p:nvSpPr>
          <p:cNvPr id="9" name="Shape 6"/>
          <p:cNvSpPr/>
          <p:nvPr/>
        </p:nvSpPr>
        <p:spPr>
          <a:xfrm>
            <a:off x="621792" y="2057400"/>
            <a:ext cx="0" cy="155448"/>
          </a:xfrm>
          <a:prstGeom prst="line">
            <a:avLst/>
          </a:prstGeom>
          <a:noFill/>
          <a:ln w="12700">
            <a:solidFill>
              <a:srgbClr val="000080"/>
            </a:solidFill>
            <a:prstDash val="solid"/>
          </a:ln>
        </p:spPr>
        <p:txBody>
          <a:bodyPr/>
          <a:lstStyle/>
          <a:p>
            <a:endParaRPr lang="ko-KR" altLang="en-US"/>
          </a:p>
        </p:txBody>
      </p:sp>
      <p:sp>
        <p:nvSpPr>
          <p:cNvPr id="10" name="Shape 7"/>
          <p:cNvSpPr/>
          <p:nvPr/>
        </p:nvSpPr>
        <p:spPr>
          <a:xfrm>
            <a:off x="5217305" y="2057400"/>
            <a:ext cx="0" cy="155448"/>
          </a:xfrm>
          <a:prstGeom prst="line">
            <a:avLst/>
          </a:prstGeom>
          <a:noFill/>
          <a:ln w="12700">
            <a:solidFill>
              <a:srgbClr val="000080"/>
            </a:solidFill>
            <a:prstDash val="solid"/>
          </a:ln>
        </p:spPr>
        <p:txBody>
          <a:bodyPr/>
          <a:lstStyle/>
          <a:p>
            <a:endParaRPr lang="ko-KR" altLang="en-US"/>
          </a:p>
        </p:txBody>
      </p:sp>
      <p:sp>
        <p:nvSpPr>
          <p:cNvPr id="11" name="Text 8"/>
          <p:cNvSpPr txBox="1"/>
          <p:nvPr/>
        </p:nvSpPr>
        <p:spPr>
          <a:xfrm>
            <a:off x="621792" y="1600200"/>
            <a:ext cx="4595513" cy="384048"/>
          </a:xfrm>
          <a:prstGeom prst="rect">
            <a:avLst/>
          </a:prstGeom>
          <a:noFill/>
          <a:ln/>
        </p:spPr>
        <p:txBody>
          <a:bodyPr wrap="square" lIns="0" tIns="0" rIns="0" bIns="0" rtlCol="0" anchor="t"/>
          <a:lstStyle/>
          <a:p>
            <a:pPr marL="0" indent="0" algn="ctr">
              <a:buNone/>
            </a:pPr>
            <a:r>
              <a:rPr lang="en-US" sz="1600" b="1" dirty="0">
                <a:solidFill>
                  <a:srgbClr val="000080"/>
                </a:solidFill>
                <a:latin typeface="Malgun Gothic" pitchFamily="34" charset="0"/>
                <a:ea typeface="Malgun Gothic" pitchFamily="34" charset="-122"/>
                <a:cs typeface="Malgun Gothic" pitchFamily="34" charset="-120"/>
              </a:rPr>
              <a:t>오염의 경로 · 한계</a:t>
            </a:r>
            <a:endParaRPr lang="en-US" sz="1600" dirty="0"/>
          </a:p>
        </p:txBody>
      </p:sp>
      <p:sp>
        <p:nvSpPr>
          <p:cNvPr id="12" name="Shape 9"/>
          <p:cNvSpPr/>
          <p:nvPr/>
        </p:nvSpPr>
        <p:spPr>
          <a:xfrm>
            <a:off x="5363609" y="2057400"/>
            <a:ext cx="3014907" cy="0"/>
          </a:xfrm>
          <a:prstGeom prst="line">
            <a:avLst/>
          </a:prstGeom>
          <a:noFill/>
          <a:ln w="12700">
            <a:solidFill>
              <a:srgbClr val="000080"/>
            </a:solidFill>
            <a:prstDash val="solid"/>
          </a:ln>
        </p:spPr>
        <p:txBody>
          <a:bodyPr/>
          <a:lstStyle/>
          <a:p>
            <a:endParaRPr lang="ko-KR" altLang="en-US"/>
          </a:p>
        </p:txBody>
      </p:sp>
      <p:sp>
        <p:nvSpPr>
          <p:cNvPr id="13" name="Shape 10"/>
          <p:cNvSpPr/>
          <p:nvPr/>
        </p:nvSpPr>
        <p:spPr>
          <a:xfrm>
            <a:off x="5363609" y="2057400"/>
            <a:ext cx="0" cy="155448"/>
          </a:xfrm>
          <a:prstGeom prst="line">
            <a:avLst/>
          </a:prstGeom>
          <a:noFill/>
          <a:ln w="12700">
            <a:solidFill>
              <a:srgbClr val="000080"/>
            </a:solidFill>
            <a:prstDash val="solid"/>
          </a:ln>
        </p:spPr>
        <p:txBody>
          <a:bodyPr/>
          <a:lstStyle/>
          <a:p>
            <a:endParaRPr lang="ko-KR" altLang="en-US"/>
          </a:p>
        </p:txBody>
      </p:sp>
      <p:sp>
        <p:nvSpPr>
          <p:cNvPr id="14" name="Shape 11"/>
          <p:cNvSpPr/>
          <p:nvPr/>
        </p:nvSpPr>
        <p:spPr>
          <a:xfrm>
            <a:off x="8378517" y="2057400"/>
            <a:ext cx="0" cy="155448"/>
          </a:xfrm>
          <a:prstGeom prst="line">
            <a:avLst/>
          </a:prstGeom>
          <a:noFill/>
          <a:ln w="12700">
            <a:solidFill>
              <a:srgbClr val="000080"/>
            </a:solidFill>
            <a:prstDash val="solid"/>
          </a:ln>
        </p:spPr>
        <p:txBody>
          <a:bodyPr/>
          <a:lstStyle/>
          <a:p>
            <a:endParaRPr lang="ko-KR" altLang="en-US"/>
          </a:p>
        </p:txBody>
      </p:sp>
      <p:sp>
        <p:nvSpPr>
          <p:cNvPr id="15" name="Text 12"/>
          <p:cNvSpPr txBox="1"/>
          <p:nvPr/>
        </p:nvSpPr>
        <p:spPr>
          <a:xfrm>
            <a:off x="5363609" y="1600200"/>
            <a:ext cx="3014907" cy="384048"/>
          </a:xfrm>
          <a:prstGeom prst="rect">
            <a:avLst/>
          </a:prstGeom>
          <a:noFill/>
          <a:ln/>
        </p:spPr>
        <p:txBody>
          <a:bodyPr wrap="square" lIns="0" tIns="0" rIns="0" bIns="0" rtlCol="0" anchor="t"/>
          <a:lstStyle/>
          <a:p>
            <a:pPr marL="0" indent="0" algn="ctr">
              <a:buNone/>
            </a:pPr>
            <a:r>
              <a:rPr lang="en-US" sz="1600" b="1" dirty="0">
                <a:solidFill>
                  <a:srgbClr val="000080"/>
                </a:solidFill>
                <a:latin typeface="Malgun Gothic" pitchFamily="34" charset="0"/>
                <a:ea typeface="Malgun Gothic" pitchFamily="34" charset="-122"/>
                <a:cs typeface="Malgun Gothic" pitchFamily="34" charset="-120"/>
              </a:rPr>
              <a:t>사건과 대응</a:t>
            </a:r>
            <a:endParaRPr lang="en-US" sz="1600" dirty="0"/>
          </a:p>
        </p:txBody>
      </p:sp>
      <p:sp>
        <p:nvSpPr>
          <p:cNvPr id="16" name="Shape 13"/>
          <p:cNvSpPr/>
          <p:nvPr/>
        </p:nvSpPr>
        <p:spPr>
          <a:xfrm>
            <a:off x="8524821" y="2057400"/>
            <a:ext cx="3014907" cy="0"/>
          </a:xfrm>
          <a:prstGeom prst="line">
            <a:avLst/>
          </a:prstGeom>
          <a:noFill/>
          <a:ln w="12700">
            <a:solidFill>
              <a:srgbClr val="000080"/>
            </a:solidFill>
            <a:prstDash val="solid"/>
          </a:ln>
        </p:spPr>
        <p:txBody>
          <a:bodyPr/>
          <a:lstStyle/>
          <a:p>
            <a:endParaRPr lang="ko-KR" altLang="en-US"/>
          </a:p>
        </p:txBody>
      </p:sp>
      <p:sp>
        <p:nvSpPr>
          <p:cNvPr id="17" name="Shape 14"/>
          <p:cNvSpPr/>
          <p:nvPr/>
        </p:nvSpPr>
        <p:spPr>
          <a:xfrm>
            <a:off x="8524821" y="2057400"/>
            <a:ext cx="0" cy="155448"/>
          </a:xfrm>
          <a:prstGeom prst="line">
            <a:avLst/>
          </a:prstGeom>
          <a:noFill/>
          <a:ln w="12700">
            <a:solidFill>
              <a:srgbClr val="000080"/>
            </a:solidFill>
            <a:prstDash val="solid"/>
          </a:ln>
        </p:spPr>
        <p:txBody>
          <a:bodyPr/>
          <a:lstStyle/>
          <a:p>
            <a:endParaRPr lang="ko-KR" altLang="en-US"/>
          </a:p>
        </p:txBody>
      </p:sp>
      <p:sp>
        <p:nvSpPr>
          <p:cNvPr id="18" name="Shape 15"/>
          <p:cNvSpPr/>
          <p:nvPr/>
        </p:nvSpPr>
        <p:spPr>
          <a:xfrm>
            <a:off x="11539728" y="2057400"/>
            <a:ext cx="0" cy="155448"/>
          </a:xfrm>
          <a:prstGeom prst="line">
            <a:avLst/>
          </a:prstGeom>
          <a:noFill/>
          <a:ln w="12700">
            <a:solidFill>
              <a:srgbClr val="000080"/>
            </a:solidFill>
            <a:prstDash val="solid"/>
          </a:ln>
        </p:spPr>
        <p:txBody>
          <a:bodyPr/>
          <a:lstStyle/>
          <a:p>
            <a:endParaRPr lang="ko-KR" altLang="en-US"/>
          </a:p>
        </p:txBody>
      </p:sp>
      <p:sp>
        <p:nvSpPr>
          <p:cNvPr id="19" name="Text 16"/>
          <p:cNvSpPr txBox="1"/>
          <p:nvPr/>
        </p:nvSpPr>
        <p:spPr>
          <a:xfrm>
            <a:off x="8524821" y="1600200"/>
            <a:ext cx="3014907" cy="384048"/>
          </a:xfrm>
          <a:prstGeom prst="rect">
            <a:avLst/>
          </a:prstGeom>
          <a:noFill/>
          <a:ln/>
        </p:spPr>
        <p:txBody>
          <a:bodyPr wrap="square" lIns="0" tIns="0" rIns="0" bIns="0" rtlCol="0" anchor="t"/>
          <a:lstStyle/>
          <a:p>
            <a:pPr marL="0" indent="0" algn="ctr">
              <a:buNone/>
            </a:pPr>
            <a:r>
              <a:rPr lang="en-US" sz="1600" b="1" dirty="0">
                <a:solidFill>
                  <a:srgbClr val="000080"/>
                </a:solidFill>
                <a:latin typeface="Malgun Gothic" pitchFamily="34" charset="0"/>
                <a:ea typeface="Malgun Gothic" pitchFamily="34" charset="-122"/>
                <a:cs typeface="Malgun Gothic" pitchFamily="34" charset="-120"/>
              </a:rPr>
              <a:t>규제 전환</a:t>
            </a:r>
            <a:endParaRPr lang="en-US" sz="1600" dirty="0"/>
          </a:p>
        </p:txBody>
      </p:sp>
      <p:sp>
        <p:nvSpPr>
          <p:cNvPr id="20" name="Shape 17"/>
          <p:cNvSpPr/>
          <p:nvPr/>
        </p:nvSpPr>
        <p:spPr>
          <a:xfrm>
            <a:off x="621792"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21" name="Text 18"/>
          <p:cNvSpPr txBox="1"/>
          <p:nvPr/>
        </p:nvSpPr>
        <p:spPr>
          <a:xfrm>
            <a:off x="621792"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원료</a:t>
            </a:r>
            <a:endParaRPr lang="en-US" sz="1700" dirty="0"/>
          </a:p>
        </p:txBody>
      </p:sp>
      <p:sp>
        <p:nvSpPr>
          <p:cNvPr id="22" name="Text 19"/>
          <p:cNvSpPr txBox="1"/>
          <p:nvPr/>
        </p:nvSpPr>
        <p:spPr>
          <a:xfrm>
            <a:off x="621792"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Gagnieur 2014</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Zhang 2022</a:t>
            </a:r>
            <a:endParaRPr lang="en-US" sz="1200" dirty="0"/>
          </a:p>
        </p:txBody>
      </p:sp>
      <p:sp>
        <p:nvSpPr>
          <p:cNvPr id="23" name="Shape 20"/>
          <p:cNvSpPr/>
          <p:nvPr/>
        </p:nvSpPr>
        <p:spPr>
          <a:xfrm>
            <a:off x="2202398"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24" name="Text 21"/>
          <p:cNvSpPr txBox="1"/>
          <p:nvPr/>
        </p:nvSpPr>
        <p:spPr>
          <a:xfrm>
            <a:off x="2202398"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세포주</a:t>
            </a:r>
            <a:endParaRPr lang="en-US" sz="1700" dirty="0"/>
          </a:p>
        </p:txBody>
      </p:sp>
      <p:sp>
        <p:nvSpPr>
          <p:cNvPr id="25" name="Text 22"/>
          <p:cNvSpPr txBox="1"/>
          <p:nvPr/>
        </p:nvSpPr>
        <p:spPr>
          <a:xfrm>
            <a:off x="2202398"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Onions 2011</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Shabram 2014</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Ma 2014</a:t>
            </a:r>
            <a:endParaRPr lang="en-US" sz="1200" dirty="0"/>
          </a:p>
        </p:txBody>
      </p:sp>
      <p:sp>
        <p:nvSpPr>
          <p:cNvPr id="26" name="Shape 23"/>
          <p:cNvSpPr/>
          <p:nvPr/>
        </p:nvSpPr>
        <p:spPr>
          <a:xfrm>
            <a:off x="3783003" y="2423160"/>
            <a:ext cx="1434302" cy="640080"/>
          </a:xfrm>
          <a:prstGeom prst="rect">
            <a:avLst/>
          </a:prstGeom>
          <a:solidFill>
            <a:srgbClr val="FFA500"/>
          </a:solidFill>
          <a:ln w="12700">
            <a:solidFill>
              <a:srgbClr val="FFA500"/>
            </a:solidFill>
            <a:prstDash val="solid"/>
          </a:ln>
        </p:spPr>
        <p:txBody>
          <a:bodyPr/>
          <a:lstStyle/>
          <a:p>
            <a:endParaRPr lang="ko-KR" altLang="en-US"/>
          </a:p>
        </p:txBody>
      </p:sp>
      <p:sp>
        <p:nvSpPr>
          <p:cNvPr id="27" name="Text 24"/>
          <p:cNvSpPr txBox="1"/>
          <p:nvPr/>
        </p:nvSpPr>
        <p:spPr>
          <a:xfrm>
            <a:off x="3783003" y="2423160"/>
            <a:ext cx="1434302" cy="640080"/>
          </a:xfrm>
          <a:prstGeom prst="rect">
            <a:avLst/>
          </a:prstGeom>
          <a:noFill/>
          <a:ln/>
        </p:spPr>
        <p:txBody>
          <a:bodyPr wrap="square" lIns="0" tIns="0" rIns="0" bIns="0" rtlCol="0" anchor="ctr"/>
          <a:lstStyle/>
          <a:p>
            <a:pPr marL="0" indent="0" algn="ctr">
              <a:buNone/>
            </a:pPr>
            <a:r>
              <a:rPr lang="en-US" sz="1700" b="1" dirty="0">
                <a:solidFill>
                  <a:srgbClr val="000080"/>
                </a:solidFill>
                <a:latin typeface="Malgun Gothic" pitchFamily="34" charset="0"/>
                <a:ea typeface="Malgun Gothic" pitchFamily="34" charset="-122"/>
                <a:cs typeface="Malgun Gothic" pitchFamily="34" charset="-120"/>
              </a:rPr>
              <a:t>함정</a:t>
            </a:r>
            <a:endParaRPr lang="en-US" sz="1700" dirty="0"/>
          </a:p>
        </p:txBody>
      </p:sp>
      <p:sp>
        <p:nvSpPr>
          <p:cNvPr id="28" name="Text 25"/>
          <p:cNvSpPr txBox="1"/>
          <p:nvPr/>
        </p:nvSpPr>
        <p:spPr>
          <a:xfrm>
            <a:off x="3783003"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Geisler 2016</a:t>
            </a:r>
            <a:endParaRPr lang="en-US" sz="1200" dirty="0"/>
          </a:p>
        </p:txBody>
      </p:sp>
      <p:sp>
        <p:nvSpPr>
          <p:cNvPr id="29" name="Shape 26"/>
          <p:cNvSpPr/>
          <p:nvPr/>
        </p:nvSpPr>
        <p:spPr>
          <a:xfrm>
            <a:off x="5363609"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30" name="Text 27"/>
          <p:cNvSpPr txBox="1"/>
          <p:nvPr/>
        </p:nvSpPr>
        <p:spPr>
          <a:xfrm>
            <a:off x="5363609"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완제품</a:t>
            </a:r>
            <a:endParaRPr lang="en-US" sz="1700" dirty="0"/>
          </a:p>
        </p:txBody>
      </p:sp>
      <p:sp>
        <p:nvSpPr>
          <p:cNvPr id="31" name="Text 28"/>
          <p:cNvSpPr txBox="1"/>
          <p:nvPr/>
        </p:nvSpPr>
        <p:spPr>
          <a:xfrm>
            <a:off x="5363609"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Victoria 2010</a:t>
            </a:r>
            <a:endParaRPr lang="en-US" sz="1200" dirty="0"/>
          </a:p>
        </p:txBody>
      </p:sp>
      <p:sp>
        <p:nvSpPr>
          <p:cNvPr id="32" name="Shape 29"/>
          <p:cNvSpPr/>
          <p:nvPr/>
        </p:nvSpPr>
        <p:spPr>
          <a:xfrm>
            <a:off x="6944215"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33" name="Text 30"/>
          <p:cNvSpPr txBox="1"/>
          <p:nvPr/>
        </p:nvSpPr>
        <p:spPr>
          <a:xfrm>
            <a:off x="6944215"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현장</a:t>
            </a:r>
            <a:endParaRPr lang="en-US" sz="1700" dirty="0"/>
          </a:p>
        </p:txBody>
      </p:sp>
      <p:sp>
        <p:nvSpPr>
          <p:cNvPr id="34" name="Text 31"/>
          <p:cNvSpPr txBox="1"/>
          <p:nvPr/>
        </p:nvSpPr>
        <p:spPr>
          <a:xfrm>
            <a:off x="6944215"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Kerr 2010</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Mascarenhas 2017</a:t>
            </a:r>
            <a:endParaRPr lang="en-US" sz="1200" dirty="0"/>
          </a:p>
        </p:txBody>
      </p:sp>
      <p:sp>
        <p:nvSpPr>
          <p:cNvPr id="35" name="Shape 32"/>
          <p:cNvSpPr/>
          <p:nvPr/>
        </p:nvSpPr>
        <p:spPr>
          <a:xfrm>
            <a:off x="8524821"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36" name="Text 33"/>
          <p:cNvSpPr txBox="1"/>
          <p:nvPr/>
        </p:nvSpPr>
        <p:spPr>
          <a:xfrm>
            <a:off x="8524821"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성능</a:t>
            </a:r>
            <a:endParaRPr lang="en-US" sz="1700" dirty="0"/>
          </a:p>
        </p:txBody>
      </p:sp>
      <p:sp>
        <p:nvSpPr>
          <p:cNvPr id="37" name="Text 34"/>
          <p:cNvSpPr txBox="1"/>
          <p:nvPr/>
        </p:nvSpPr>
        <p:spPr>
          <a:xfrm>
            <a:off x="8524821"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Beurdeley 2023</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Hirai 2024</a:t>
            </a:r>
            <a:endParaRPr lang="en-US" sz="1200" dirty="0"/>
          </a:p>
        </p:txBody>
      </p:sp>
      <p:sp>
        <p:nvSpPr>
          <p:cNvPr id="38" name="Shape 35"/>
          <p:cNvSpPr/>
          <p:nvPr/>
        </p:nvSpPr>
        <p:spPr>
          <a:xfrm>
            <a:off x="10105426"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39" name="Text 36"/>
          <p:cNvSpPr txBox="1"/>
          <p:nvPr/>
        </p:nvSpPr>
        <p:spPr>
          <a:xfrm>
            <a:off x="10105426"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구현</a:t>
            </a:r>
            <a:endParaRPr lang="en-US" sz="1700" dirty="0"/>
          </a:p>
        </p:txBody>
      </p:sp>
      <p:sp>
        <p:nvSpPr>
          <p:cNvPr id="40" name="Text 37"/>
          <p:cNvSpPr txBox="1"/>
          <p:nvPr/>
        </p:nvSpPr>
        <p:spPr>
          <a:xfrm>
            <a:off x="10105426"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Alston 2025</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Khan 2025</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원료</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원료가 경로다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Gagnieur L et al. Biologicals 2014;42:145 (doi:10.1016/j.biologicals.2014.02.002) · Zhang P et al. Zool Res 2022;43:756 (doi:10.24272/j.issn.2095-8137.2022.093)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49808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777240">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원료</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주요 검출</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신규</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777240">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FBS (2014)</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50" b="1" dirty="0">
                          <a:solidFill>
                            <a:srgbClr val="000080"/>
                          </a:solidFill>
                          <a:latin typeface="Malgun Gothic" pitchFamily="34" charset="0"/>
                          <a:ea typeface="Malgun Gothic" pitchFamily="34" charset="-122"/>
                          <a:cs typeface="Malgun Gothic" pitchFamily="34" charset="-120"/>
                        </a:rPr>
                        <a:t>BVDV 1–3형 · BPV3</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bovine parvovirus · pegivirus 후보종</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Trypsin (2014)</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50" b="1" dirty="0">
                          <a:solidFill>
                            <a:srgbClr val="000080"/>
                          </a:solidFill>
                          <a:latin typeface="Malgun Gothic" pitchFamily="34" charset="0"/>
                          <a:ea typeface="Malgun Gothic" pitchFamily="34" charset="-122"/>
                          <a:cs typeface="Malgun Gothic" pitchFamily="34" charset="-120"/>
                        </a:rPr>
                        <a:t>PCV2</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350" dirty="0">
                          <a:solidFill>
                            <a:srgbClr val="7F7F7F"/>
                          </a:solidFill>
                          <a:latin typeface="Malgun Gothic" pitchFamily="34" charset="0"/>
                          <a:ea typeface="Malgun Gothic" pitchFamily="34" charset="-122"/>
                          <a:cs typeface="Malgun Gothic" pitchFamily="34" charset="-120"/>
                        </a:rPr>
                        <a:t>—</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FBS · trypsin (2022)</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BPV3 · bosavirus 고빈도</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bovine norovirus · BVDV-1 신규 유전형</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5"/>
          <p:cNvSpPr/>
          <p:nvPr/>
        </p:nvSpPr>
        <p:spPr>
          <a:xfrm>
            <a:off x="548640" y="5074920"/>
            <a:ext cx="234696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0" name="Text 6"/>
          <p:cNvSpPr txBox="1"/>
          <p:nvPr/>
        </p:nvSpPr>
        <p:spPr>
          <a:xfrm>
            <a:off x="548640" y="5074920"/>
            <a:ext cx="234696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BVDV · BPV3</a:t>
            </a:r>
            <a:endParaRPr lang="en-US" sz="1400" dirty="0"/>
          </a:p>
        </p:txBody>
      </p:sp>
      <p:sp>
        <p:nvSpPr>
          <p:cNvPr id="11" name="Shape 7"/>
          <p:cNvSpPr/>
          <p:nvPr/>
        </p:nvSpPr>
        <p:spPr>
          <a:xfrm>
            <a:off x="3124200" y="5074920"/>
            <a:ext cx="234696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2" name="Text 8"/>
          <p:cNvSpPr txBox="1"/>
          <p:nvPr/>
        </p:nvSpPr>
        <p:spPr>
          <a:xfrm>
            <a:off x="3124200" y="5074920"/>
            <a:ext cx="234696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PCV2</a:t>
            </a:r>
            <a:endParaRPr lang="en-US" sz="1400" dirty="0"/>
          </a:p>
        </p:txBody>
      </p:sp>
      <p:sp>
        <p:nvSpPr>
          <p:cNvPr id="13" name="Shape 9"/>
          <p:cNvSpPr/>
          <p:nvPr/>
        </p:nvSpPr>
        <p:spPr>
          <a:xfrm>
            <a:off x="5699760" y="5074920"/>
            <a:ext cx="234696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4" name="Text 10"/>
          <p:cNvSpPr txBox="1"/>
          <p:nvPr/>
        </p:nvSpPr>
        <p:spPr>
          <a:xfrm>
            <a:off x="5699760" y="5074920"/>
            <a:ext cx="234696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신규 유전형</a:t>
            </a:r>
            <a:endParaRPr lang="en-US" sz="1400" dirty="0"/>
          </a:p>
        </p:txBody>
      </p:sp>
      <p:sp>
        <p:nvSpPr>
          <p:cNvPr id="15" name="Shape 11"/>
          <p:cNvSpPr/>
          <p:nvPr/>
        </p:nvSpPr>
        <p:spPr>
          <a:xfrm>
            <a:off x="8458200" y="1645920"/>
            <a:ext cx="3154680" cy="3977640"/>
          </a:xfrm>
          <a:prstGeom prst="rect">
            <a:avLst/>
          </a:prstGeom>
          <a:solidFill>
            <a:srgbClr val="F2F2F2"/>
          </a:solidFill>
          <a:ln w="12700">
            <a:solidFill>
              <a:srgbClr val="F2F2F2"/>
            </a:solidFill>
            <a:prstDash val="solid"/>
          </a:ln>
        </p:spPr>
        <p:txBody>
          <a:bodyPr/>
          <a:lstStyle/>
          <a:p>
            <a:endParaRPr lang="ko-KR" altLang="en-US"/>
          </a:p>
        </p:txBody>
      </p:sp>
      <p:sp>
        <p:nvSpPr>
          <p:cNvPr id="16" name="Text 12"/>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Biologicals · 2014</a:t>
            </a:r>
            <a:endParaRPr lang="en-US" sz="1100" dirty="0"/>
          </a:p>
        </p:txBody>
      </p:sp>
      <p:sp>
        <p:nvSpPr>
          <p:cNvPr id="17" name="Text 13"/>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Unbiased analysis by high throughput sequencing of the viral diversity in fetal bovine serum and trypsin …</a:t>
            </a:r>
            <a:endParaRPr lang="en-US" sz="1050" dirty="0"/>
          </a:p>
        </p:txBody>
      </p:sp>
      <p:sp>
        <p:nvSpPr>
          <p:cNvPr id="18" name="Text 14"/>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Gagnieur L … Eloit M</a:t>
            </a:r>
            <a:endParaRPr lang="en-US" sz="900" dirty="0"/>
          </a:p>
        </p:txBody>
      </p:sp>
      <p:sp>
        <p:nvSpPr>
          <p:cNvPr id="19" name="Shape 15"/>
          <p:cNvSpPr/>
          <p:nvPr/>
        </p:nvSpPr>
        <p:spPr>
          <a:xfrm>
            <a:off x="8659368" y="3337560"/>
            <a:ext cx="2752344" cy="2103120"/>
          </a:xfrm>
          <a:prstGeom prst="rect">
            <a:avLst/>
          </a:prstGeom>
          <a:solidFill>
            <a:srgbClr val="FFFFFF"/>
          </a:solidFill>
          <a:ln w="12700">
            <a:solidFill>
              <a:srgbClr val="A6A6A6"/>
            </a:solidFill>
            <a:prstDash val="dash"/>
          </a:ln>
        </p:spPr>
        <p:txBody>
          <a:bodyPr/>
          <a:lstStyle/>
          <a:p>
            <a:endParaRPr lang="ko-KR" altLang="en-US"/>
          </a:p>
        </p:txBody>
      </p:sp>
      <p:sp>
        <p:nvSpPr>
          <p:cNvPr id="20" name="Text 16"/>
          <p:cNvSpPr txBox="1"/>
          <p:nvPr/>
        </p:nvSpPr>
        <p:spPr>
          <a:xfrm>
            <a:off x="8732520" y="3337560"/>
            <a:ext cx="2606040" cy="21031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a:t>
            </a:r>
            <a:endParaRPr lang="en-US" sz="1050" dirty="0"/>
          </a:p>
          <a:p>
            <a:pPr marL="0" indent="0" algn="ctr">
              <a:buNone/>
            </a:pPr>
            <a:r>
              <a:rPr lang="en-US" sz="1050" dirty="0">
                <a:solidFill>
                  <a:srgbClr val="7F7F7F"/>
                </a:solidFill>
                <a:latin typeface="Malgun Gothic" pitchFamily="34" charset="0"/>
                <a:ea typeface="Malgun Gothic" pitchFamily="34" charset="-122"/>
                <a:cs typeface="Malgun Gothic" pitchFamily="34" charset="-120"/>
              </a:rPr>
              <a:t>(Zhang 2022는 발표자 노트 참조)</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세포주</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발현을 본다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Onions D et al. Vaccine 2011;29:7117 (doi:10.1016/j.vaccine.2011.05.071)</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31</a:t>
            </a:r>
            <a:endParaRPr lang="en-US" sz="900" dirty="0"/>
          </a:p>
        </p:txBody>
      </p:sp>
      <p:sp>
        <p:nvSpPr>
          <p:cNvPr id="8" name="Shape 5"/>
          <p:cNvSpPr/>
          <p:nvPr/>
        </p:nvSpPr>
        <p:spPr>
          <a:xfrm>
            <a:off x="54864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9" name="Text 6"/>
          <p:cNvSpPr txBox="1"/>
          <p:nvPr/>
        </p:nvSpPr>
        <p:spPr>
          <a:xfrm>
            <a:off x="74980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Vaccine · 2011</a:t>
            </a:r>
            <a:endParaRPr lang="en-US" sz="1100" dirty="0"/>
          </a:p>
        </p:txBody>
      </p:sp>
      <p:sp>
        <p:nvSpPr>
          <p:cNvPr id="10" name="Text 7"/>
          <p:cNvSpPr txBox="1"/>
          <p:nvPr/>
        </p:nvSpPr>
        <p:spPr>
          <a:xfrm>
            <a:off x="74980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Ensuring the safety of vaccine cell substrates by massively parallel sequencing of the transcriptome</a:t>
            </a:r>
            <a:endParaRPr lang="en-US" sz="1050" dirty="0"/>
          </a:p>
        </p:txBody>
      </p:sp>
      <p:sp>
        <p:nvSpPr>
          <p:cNvPr id="11" name="Text 8"/>
          <p:cNvSpPr txBox="1"/>
          <p:nvPr/>
        </p:nvSpPr>
        <p:spPr>
          <a:xfrm>
            <a:off x="74980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Onions D, Côté C, Love B, et al.</a:t>
            </a:r>
            <a:endParaRPr lang="en-US" sz="900" dirty="0"/>
          </a:p>
        </p:txBody>
      </p:sp>
      <p:sp>
        <p:nvSpPr>
          <p:cNvPr id="12" name="Shape 9"/>
          <p:cNvSpPr/>
          <p:nvPr/>
        </p:nvSpPr>
        <p:spPr>
          <a:xfrm>
            <a:off x="74980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13" name="Text 10"/>
          <p:cNvSpPr txBox="1"/>
          <p:nvPr/>
        </p:nvSpPr>
        <p:spPr>
          <a:xfrm>
            <a:off x="82296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
        <p:nvSpPr>
          <p:cNvPr id="14" name="Text 11"/>
          <p:cNvSpPr txBox="1"/>
          <p:nvPr/>
        </p:nvSpPr>
        <p:spPr>
          <a:xfrm>
            <a:off x="4206240" y="1691640"/>
            <a:ext cx="7315200" cy="457200"/>
          </a:xfrm>
          <a:prstGeom prst="rect">
            <a:avLst/>
          </a:prstGeom>
          <a:noFill/>
          <a:ln/>
        </p:spPr>
        <p:txBody>
          <a:bodyPr wrap="square" lIns="0" tIns="0" rIns="0" bIns="0" rtlCol="0" anchor="t"/>
          <a:lstStyle/>
          <a:p>
            <a:pPr marL="0" indent="0">
              <a:buNone/>
            </a:pPr>
            <a:r>
              <a:rPr lang="en-US" sz="2200" b="1" dirty="0">
                <a:solidFill>
                  <a:srgbClr val="000080"/>
                </a:solidFill>
                <a:latin typeface="Arial" pitchFamily="34" charset="0"/>
                <a:ea typeface="Arial" pitchFamily="34" charset="-122"/>
                <a:cs typeface="Arial" pitchFamily="34" charset="-120"/>
              </a:rPr>
              <a:t>Vero CCL-81</a:t>
            </a:r>
            <a:endParaRPr lang="en-US" sz="2200" dirty="0"/>
          </a:p>
        </p:txBody>
      </p:sp>
      <p:sp>
        <p:nvSpPr>
          <p:cNvPr id="15" name="Text 12"/>
          <p:cNvSpPr txBox="1"/>
          <p:nvPr/>
        </p:nvSpPr>
        <p:spPr>
          <a:xfrm>
            <a:off x="4251960" y="2258568"/>
            <a:ext cx="2926080" cy="502920"/>
          </a:xfrm>
          <a:prstGeom prst="rect">
            <a:avLst/>
          </a:prstGeom>
          <a:noFill/>
          <a:ln/>
        </p:spPr>
        <p:txBody>
          <a:bodyPr wrap="square" lIns="0" tIns="0" rIns="0" bIns="0" rtlCol="0" anchor="ctr"/>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PCV 배제</a:t>
            </a:r>
            <a:endParaRPr lang="en-US" sz="1700" dirty="0"/>
          </a:p>
        </p:txBody>
      </p:sp>
      <p:sp>
        <p:nvSpPr>
          <p:cNvPr id="16" name="Text 13"/>
          <p:cNvSpPr txBox="1"/>
          <p:nvPr/>
        </p:nvSpPr>
        <p:spPr>
          <a:xfrm>
            <a:off x="7223760" y="2258568"/>
            <a:ext cx="4389120" cy="502920"/>
          </a:xfrm>
          <a:prstGeom prst="rect">
            <a:avLst/>
          </a:prstGeom>
          <a:noFill/>
          <a:ln/>
        </p:spPr>
        <p:txBody>
          <a:bodyPr wrap="square" lIns="0" tIns="0" rIns="0" bIns="0" rtlCol="0" anchor="ctr"/>
          <a:lstStyle/>
          <a:p>
            <a:pPr marL="0" indent="0">
              <a:buNone/>
            </a:pPr>
            <a:r>
              <a:rPr lang="en-US" sz="1500" dirty="0">
                <a:solidFill>
                  <a:srgbClr val="595959"/>
                </a:solidFill>
                <a:latin typeface="Malgun Gothic" pitchFamily="34" charset="0"/>
                <a:ea typeface="Malgun Gothic" pitchFamily="34" charset="-122"/>
                <a:cs typeface="Malgun Gothic" pitchFamily="34" charset="-120"/>
              </a:rPr>
              <a:t>SRV 근연 베타레트로바이러스 전장 발현</a:t>
            </a:r>
            <a:endParaRPr lang="en-US" sz="1500" dirty="0"/>
          </a:p>
        </p:txBody>
      </p:sp>
      <p:sp>
        <p:nvSpPr>
          <p:cNvPr id="17" name="Shape 14"/>
          <p:cNvSpPr/>
          <p:nvPr/>
        </p:nvSpPr>
        <p:spPr>
          <a:xfrm>
            <a:off x="4206240" y="3108960"/>
            <a:ext cx="7406640" cy="0"/>
          </a:xfrm>
          <a:prstGeom prst="line">
            <a:avLst/>
          </a:prstGeom>
          <a:noFill/>
          <a:ln w="9525">
            <a:solidFill>
              <a:srgbClr val="D9D9D9"/>
            </a:solidFill>
            <a:prstDash val="solid"/>
          </a:ln>
        </p:spPr>
        <p:txBody>
          <a:bodyPr/>
          <a:lstStyle/>
          <a:p>
            <a:endParaRPr lang="ko-KR" altLang="en-US"/>
          </a:p>
        </p:txBody>
      </p:sp>
      <p:sp>
        <p:nvSpPr>
          <p:cNvPr id="18" name="Text 15"/>
          <p:cNvSpPr txBox="1"/>
          <p:nvPr/>
        </p:nvSpPr>
        <p:spPr>
          <a:xfrm>
            <a:off x="4206240" y="3474720"/>
            <a:ext cx="7315200" cy="457200"/>
          </a:xfrm>
          <a:prstGeom prst="rect">
            <a:avLst/>
          </a:prstGeom>
          <a:noFill/>
          <a:ln/>
        </p:spPr>
        <p:txBody>
          <a:bodyPr wrap="square" lIns="0" tIns="0" rIns="0" bIns="0" rtlCol="0" anchor="t"/>
          <a:lstStyle/>
          <a:p>
            <a:pPr marL="0" indent="0">
              <a:buNone/>
            </a:pPr>
            <a:r>
              <a:rPr lang="en-US" sz="2200" b="1" dirty="0">
                <a:solidFill>
                  <a:srgbClr val="000080"/>
                </a:solidFill>
                <a:latin typeface="Arial" pitchFamily="34" charset="0"/>
                <a:ea typeface="Arial" pitchFamily="34" charset="-122"/>
                <a:cs typeface="Arial" pitchFamily="34" charset="-120"/>
              </a:rPr>
              <a:t>High Five</a:t>
            </a:r>
            <a:endParaRPr lang="en-US" sz="2200" dirty="0"/>
          </a:p>
        </p:txBody>
      </p:sp>
      <p:sp>
        <p:nvSpPr>
          <p:cNvPr id="19" name="Shape 16"/>
          <p:cNvSpPr/>
          <p:nvPr/>
        </p:nvSpPr>
        <p:spPr>
          <a:xfrm>
            <a:off x="4206240" y="4041648"/>
            <a:ext cx="2697480" cy="502920"/>
          </a:xfrm>
          <a:prstGeom prst="rect">
            <a:avLst/>
          </a:prstGeom>
          <a:solidFill>
            <a:srgbClr val="FFA500"/>
          </a:solidFill>
          <a:ln w="12700">
            <a:solidFill>
              <a:srgbClr val="FFA500"/>
            </a:solidFill>
            <a:prstDash val="solid"/>
          </a:ln>
        </p:spPr>
        <p:txBody>
          <a:bodyPr/>
          <a:lstStyle/>
          <a:p>
            <a:endParaRPr lang="ko-KR" altLang="en-US"/>
          </a:p>
        </p:txBody>
      </p:sp>
      <p:sp>
        <p:nvSpPr>
          <p:cNvPr id="20" name="Text 17"/>
          <p:cNvSpPr txBox="1"/>
          <p:nvPr/>
        </p:nvSpPr>
        <p:spPr>
          <a:xfrm>
            <a:off x="4251960" y="4041648"/>
            <a:ext cx="2926080" cy="502920"/>
          </a:xfrm>
          <a:prstGeom prst="rect">
            <a:avLst/>
          </a:prstGeom>
          <a:noFill/>
          <a:ln/>
        </p:spPr>
        <p:txBody>
          <a:bodyPr wrap="square" lIns="0" tIns="0" rIns="0" bIns="0" rtlCol="0" anchor="ctr"/>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잠복 nodavirus</a:t>
            </a:r>
            <a:endParaRPr lang="en-US" sz="1700" dirty="0"/>
          </a:p>
        </p:txBody>
      </p:sp>
      <p:sp>
        <p:nvSpPr>
          <p:cNvPr id="21" name="Text 18"/>
          <p:cNvSpPr txBox="1"/>
          <p:nvPr/>
        </p:nvSpPr>
        <p:spPr>
          <a:xfrm>
            <a:off x="7223760" y="4041648"/>
            <a:ext cx="4389120" cy="502920"/>
          </a:xfrm>
          <a:prstGeom prst="rect">
            <a:avLst/>
          </a:prstGeom>
          <a:noFill/>
          <a:ln/>
        </p:spPr>
        <p:txBody>
          <a:bodyPr wrap="square" lIns="0" tIns="0" rIns="0" bIns="0" rtlCol="0" anchor="ctr"/>
          <a:lstStyle/>
          <a:p>
            <a:pPr marL="0" indent="0">
              <a:buNone/>
            </a:pPr>
            <a:r>
              <a:rPr lang="en-US" sz="1500" dirty="0">
                <a:solidFill>
                  <a:srgbClr val="595959"/>
                </a:solidFill>
                <a:latin typeface="Malgun Gothic" pitchFamily="34" charset="0"/>
                <a:ea typeface="Malgun Gothic" pitchFamily="34" charset="-122"/>
                <a:cs typeface="Malgun Gothic" pitchFamily="34" charset="-120"/>
              </a:rPr>
              <a:t>errantivirus 유전체 발현</a:t>
            </a:r>
            <a:endParaRPr lang="en-US" sz="1500" dirty="0"/>
          </a:p>
        </p:txBody>
      </p:sp>
      <p:sp>
        <p:nvSpPr>
          <p:cNvPr id="22" name="Shape 19"/>
          <p:cNvSpPr/>
          <p:nvPr/>
        </p:nvSpPr>
        <p:spPr>
          <a:xfrm>
            <a:off x="4206240" y="4892040"/>
            <a:ext cx="7406640" cy="0"/>
          </a:xfrm>
          <a:prstGeom prst="line">
            <a:avLst/>
          </a:prstGeom>
          <a:noFill/>
          <a:ln w="9525">
            <a:solidFill>
              <a:srgbClr val="D9D9D9"/>
            </a:solidFill>
            <a:prstDash val="solid"/>
          </a:ln>
        </p:spPr>
        <p:txBody>
          <a:bodyPr/>
          <a:lstStyle/>
          <a:p>
            <a:endParaRPr lang="ko-KR" altLang="en-US"/>
          </a:p>
        </p:txBody>
      </p:sp>
      <p:sp>
        <p:nvSpPr>
          <p:cNvPr id="23" name="Shape 20"/>
          <p:cNvSpPr/>
          <p:nvPr/>
        </p:nvSpPr>
        <p:spPr>
          <a:xfrm>
            <a:off x="4206240" y="5303520"/>
            <a:ext cx="23164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4" name="Text 21"/>
          <p:cNvSpPr txBox="1"/>
          <p:nvPr/>
        </p:nvSpPr>
        <p:spPr>
          <a:xfrm>
            <a:off x="4206240" y="5303520"/>
            <a:ext cx="23164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전사체 시퀀싱</a:t>
            </a:r>
            <a:endParaRPr lang="en-US" sz="1400" dirty="0"/>
          </a:p>
        </p:txBody>
      </p:sp>
      <p:sp>
        <p:nvSpPr>
          <p:cNvPr id="25" name="Shape 22"/>
          <p:cNvSpPr/>
          <p:nvPr/>
        </p:nvSpPr>
        <p:spPr>
          <a:xfrm>
            <a:off x="6751320" y="5303520"/>
            <a:ext cx="23164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6" name="Text 23"/>
          <p:cNvSpPr txBox="1"/>
          <p:nvPr/>
        </p:nvSpPr>
        <p:spPr>
          <a:xfrm>
            <a:off x="6751320" y="5303520"/>
            <a:ext cx="23164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잠복 바이러스</a:t>
            </a:r>
            <a:endParaRPr lang="en-US" sz="1400" dirty="0"/>
          </a:p>
        </p:txBody>
      </p:sp>
      <p:sp>
        <p:nvSpPr>
          <p:cNvPr id="27" name="Shape 24"/>
          <p:cNvSpPr/>
          <p:nvPr/>
        </p:nvSpPr>
        <p:spPr>
          <a:xfrm>
            <a:off x="9296400" y="5303520"/>
            <a:ext cx="23164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8" name="Text 25"/>
          <p:cNvSpPr txBox="1"/>
          <p:nvPr/>
        </p:nvSpPr>
        <p:spPr>
          <a:xfrm>
            <a:off x="9296400" y="5303520"/>
            <a:ext cx="23164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레트로바이러스 발현</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세포주</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없음의 증명</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Shabram P, Kolman JL. PDA J Pharm Sci Technol 2014;68:639 (doi:10.5731/pdajpst.2014.01027)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32</a:t>
            </a:r>
            <a:endParaRPr lang="en-US" sz="900" dirty="0"/>
          </a:p>
        </p:txBody>
      </p:sp>
      <p:sp>
        <p:nvSpPr>
          <p:cNvPr id="8" name="Text 5"/>
          <p:cNvSpPr txBox="1"/>
          <p:nvPr/>
        </p:nvSpPr>
        <p:spPr>
          <a:xfrm>
            <a:off x="548640" y="1645920"/>
            <a:ext cx="7132320" cy="731520"/>
          </a:xfrm>
          <a:prstGeom prst="rect">
            <a:avLst/>
          </a:prstGeom>
          <a:noFill/>
          <a:ln/>
        </p:spPr>
        <p:txBody>
          <a:bodyPr wrap="square" lIns="0" tIns="0" rIns="0" bIns="0" rtlCol="0" anchor="t"/>
          <a:lstStyle/>
          <a:p>
            <a:pPr marL="0" indent="0">
              <a:buNone/>
            </a:pPr>
            <a:r>
              <a:rPr lang="en-US" sz="3000" b="1" dirty="0">
                <a:solidFill>
                  <a:srgbClr val="7F7F7F"/>
                </a:solidFill>
                <a:latin typeface="Arial" pitchFamily="34" charset="0"/>
                <a:ea typeface="Arial" pitchFamily="34" charset="-122"/>
                <a:cs typeface="Arial" pitchFamily="34" charset="-120"/>
              </a:rPr>
              <a:t>A549</a:t>
            </a:r>
            <a:endParaRPr lang="en-US" sz="3000" dirty="0"/>
          </a:p>
        </p:txBody>
      </p:sp>
      <p:sp>
        <p:nvSpPr>
          <p:cNvPr id="9" name="Text 6"/>
          <p:cNvSpPr txBox="1"/>
          <p:nvPr/>
        </p:nvSpPr>
        <p:spPr>
          <a:xfrm>
            <a:off x="548640" y="2377440"/>
            <a:ext cx="7132320" cy="17373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다른 세포기질 대비</a:t>
            </a:r>
            <a:endParaRPr lang="en-US" sz="4000" dirty="0"/>
          </a:p>
          <a:p>
            <a:pPr marL="0" indent="0">
              <a:buNone/>
            </a:pPr>
            <a:r>
              <a:rPr lang="en-US" sz="4000" b="1" dirty="0">
                <a:solidFill>
                  <a:srgbClr val="000080"/>
                </a:solidFill>
                <a:highlight>
                  <a:srgbClr val="FFA500"/>
                </a:highlight>
                <a:latin typeface="Malgun Gothic" pitchFamily="34" charset="0"/>
                <a:ea typeface="Malgun Gothic" pitchFamily="34" charset="-122"/>
                <a:cs typeface="Malgun Gothic" pitchFamily="34" charset="-120"/>
              </a:rPr>
              <a:t>추가 위험 없음</a:t>
            </a:r>
            <a:endParaRPr lang="en-US" sz="4000" dirty="0"/>
          </a:p>
        </p:txBody>
      </p:sp>
      <p:sp>
        <p:nvSpPr>
          <p:cNvPr id="10" name="Text 7"/>
          <p:cNvSpPr txBox="1"/>
          <p:nvPr/>
        </p:nvSpPr>
        <p:spPr>
          <a:xfrm>
            <a:off x="640080" y="4572000"/>
            <a:ext cx="216408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세포기질</a:t>
            </a:r>
            <a:endParaRPr lang="en-US" sz="1150" dirty="0"/>
          </a:p>
        </p:txBody>
      </p:sp>
      <p:sp>
        <p:nvSpPr>
          <p:cNvPr id="11" name="Text 8"/>
          <p:cNvSpPr txBox="1"/>
          <p:nvPr/>
        </p:nvSpPr>
        <p:spPr>
          <a:xfrm>
            <a:off x="640080" y="4919472"/>
            <a:ext cx="2164080" cy="68580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종양원성 세포주</a:t>
            </a:r>
            <a:endParaRPr lang="en-US" sz="1800" dirty="0"/>
          </a:p>
        </p:txBody>
      </p:sp>
      <p:sp>
        <p:nvSpPr>
          <p:cNvPr id="12" name="Shape 9"/>
          <p:cNvSpPr/>
          <p:nvPr/>
        </p:nvSpPr>
        <p:spPr>
          <a:xfrm>
            <a:off x="2895600" y="4572000"/>
            <a:ext cx="0" cy="1051560"/>
          </a:xfrm>
          <a:prstGeom prst="line">
            <a:avLst/>
          </a:prstGeom>
          <a:noFill/>
          <a:ln w="9525">
            <a:solidFill>
              <a:srgbClr val="D9D9D9"/>
            </a:solidFill>
            <a:prstDash val="solid"/>
          </a:ln>
        </p:spPr>
        <p:txBody>
          <a:bodyPr/>
          <a:lstStyle/>
          <a:p>
            <a:endParaRPr lang="ko-KR" altLang="en-US"/>
          </a:p>
        </p:txBody>
      </p:sp>
      <p:sp>
        <p:nvSpPr>
          <p:cNvPr id="13" name="Text 10"/>
          <p:cNvSpPr txBox="1"/>
          <p:nvPr/>
        </p:nvSpPr>
        <p:spPr>
          <a:xfrm>
            <a:off x="3078480" y="4572000"/>
            <a:ext cx="216408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FDA 자문위원회</a:t>
            </a:r>
            <a:endParaRPr lang="en-US" sz="1150" dirty="0"/>
          </a:p>
        </p:txBody>
      </p:sp>
      <p:sp>
        <p:nvSpPr>
          <p:cNvPr id="14" name="Text 11"/>
          <p:cNvSpPr txBox="1"/>
          <p:nvPr/>
        </p:nvSpPr>
        <p:spPr>
          <a:xfrm>
            <a:off x="3078480" y="4919472"/>
            <a:ext cx="2164080" cy="68580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VRBPAC 2012.09</a:t>
            </a:r>
            <a:endParaRPr lang="en-US" sz="1800" dirty="0"/>
          </a:p>
        </p:txBody>
      </p:sp>
      <p:sp>
        <p:nvSpPr>
          <p:cNvPr id="15" name="Shape 12"/>
          <p:cNvSpPr/>
          <p:nvPr/>
        </p:nvSpPr>
        <p:spPr>
          <a:xfrm>
            <a:off x="5334000" y="4572000"/>
            <a:ext cx="0" cy="1051560"/>
          </a:xfrm>
          <a:prstGeom prst="line">
            <a:avLst/>
          </a:prstGeom>
          <a:noFill/>
          <a:ln w="9525">
            <a:solidFill>
              <a:srgbClr val="D9D9D9"/>
            </a:solidFill>
            <a:prstDash val="solid"/>
          </a:ln>
        </p:spPr>
        <p:txBody>
          <a:bodyPr/>
          <a:lstStyle/>
          <a:p>
            <a:endParaRPr lang="ko-KR" altLang="en-US"/>
          </a:p>
        </p:txBody>
      </p:sp>
      <p:sp>
        <p:nvSpPr>
          <p:cNvPr id="16" name="Text 13"/>
          <p:cNvSpPr txBox="1"/>
          <p:nvPr/>
        </p:nvSpPr>
        <p:spPr>
          <a:xfrm>
            <a:off x="5516880" y="4572000"/>
            <a:ext cx="216408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분석</a:t>
            </a:r>
            <a:endParaRPr lang="en-US" sz="1150" dirty="0"/>
          </a:p>
        </p:txBody>
      </p:sp>
      <p:sp>
        <p:nvSpPr>
          <p:cNvPr id="17" name="Text 14"/>
          <p:cNvSpPr txBox="1"/>
          <p:nvPr/>
        </p:nvSpPr>
        <p:spPr>
          <a:xfrm>
            <a:off x="5516880" y="4919472"/>
            <a:ext cx="2164080" cy="68580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전사체 vs 바이러스 DB</a:t>
            </a:r>
            <a:endParaRPr lang="en-US" sz="1800" dirty="0"/>
          </a:p>
        </p:txBody>
      </p:sp>
      <p:sp>
        <p:nvSpPr>
          <p:cNvPr id="18" name="Shape 15"/>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19" name="Text 16"/>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PDA J Pharm Sci Technol · 2014</a:t>
            </a:r>
            <a:endParaRPr lang="en-US" sz="1100" dirty="0"/>
          </a:p>
        </p:txBody>
      </p:sp>
      <p:sp>
        <p:nvSpPr>
          <p:cNvPr id="20" name="Text 17"/>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Evaluation of A549 as a new vaccine cell substrate: digging deeper with massively parallel sequencing</a:t>
            </a:r>
            <a:endParaRPr lang="en-US" sz="1050" dirty="0"/>
          </a:p>
        </p:txBody>
      </p:sp>
      <p:sp>
        <p:nvSpPr>
          <p:cNvPr id="21" name="Text 18"/>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Shabram P, Kolman JL</a:t>
            </a:r>
            <a:endParaRPr lang="en-US" sz="900" dirty="0"/>
          </a:p>
        </p:txBody>
      </p:sp>
      <p:sp>
        <p:nvSpPr>
          <p:cNvPr id="22" name="Shape 19"/>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23" name="Text 20"/>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세포주</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통과 ≠ 무바이러스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Ma H, Galvin TA, Glasner DR, Shaheduzzaman S, Khan AS. J Virol 2014;88:6576 (doi:10.1128/JVI.00780-14)</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33</a:t>
            </a:r>
            <a:endParaRPr lang="en-US" sz="900" dirty="0"/>
          </a:p>
        </p:txBody>
      </p:sp>
      <p:sp>
        <p:nvSpPr>
          <p:cNvPr id="8" name="Shape 5"/>
          <p:cNvSpPr/>
          <p:nvPr/>
        </p:nvSpPr>
        <p:spPr>
          <a:xfrm>
            <a:off x="54864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9" name="Text 6"/>
          <p:cNvSpPr txBox="1"/>
          <p:nvPr/>
        </p:nvSpPr>
        <p:spPr>
          <a:xfrm>
            <a:off x="74980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J Virol · 2014</a:t>
            </a:r>
            <a:endParaRPr lang="en-US" sz="1100" dirty="0"/>
          </a:p>
        </p:txBody>
      </p:sp>
      <p:sp>
        <p:nvSpPr>
          <p:cNvPr id="10" name="Text 7"/>
          <p:cNvSpPr txBox="1"/>
          <p:nvPr/>
        </p:nvSpPr>
        <p:spPr>
          <a:xfrm>
            <a:off x="74980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Identification of a novel rhabdovirus in Spodoptera frugiperda cell lines</a:t>
            </a:r>
            <a:endParaRPr lang="en-US" sz="1050" dirty="0"/>
          </a:p>
        </p:txBody>
      </p:sp>
      <p:sp>
        <p:nvSpPr>
          <p:cNvPr id="11" name="Text 8"/>
          <p:cNvSpPr txBox="1"/>
          <p:nvPr/>
        </p:nvSpPr>
        <p:spPr>
          <a:xfrm>
            <a:off x="74980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Ma H … Khan AS (FDA CBER)</a:t>
            </a:r>
            <a:endParaRPr lang="en-US" sz="900" dirty="0"/>
          </a:p>
        </p:txBody>
      </p:sp>
      <p:sp>
        <p:nvSpPr>
          <p:cNvPr id="12" name="Shape 9"/>
          <p:cNvSpPr/>
          <p:nvPr/>
        </p:nvSpPr>
        <p:spPr>
          <a:xfrm>
            <a:off x="74980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13" name="Text 10"/>
          <p:cNvSpPr txBox="1"/>
          <p:nvPr/>
        </p:nvSpPr>
        <p:spPr>
          <a:xfrm>
            <a:off x="82296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대표 Figure 삽입</a:t>
            </a:r>
            <a:endParaRPr lang="en-US" sz="1050" dirty="0"/>
          </a:p>
          <a:p>
            <a:pPr marL="0" indent="0" algn="ctr">
              <a:buNone/>
            </a:pPr>
            <a:r>
              <a:rPr lang="en-US" sz="1050" dirty="0">
                <a:solidFill>
                  <a:srgbClr val="7F7F7F"/>
                </a:solidFill>
                <a:latin typeface="Malgun Gothic" pitchFamily="34" charset="0"/>
                <a:ea typeface="Malgun Gothic" pitchFamily="34" charset="-122"/>
                <a:cs typeface="Malgun Gothic" pitchFamily="34" charset="-120"/>
              </a:rPr>
              <a:t>(TEM 이미지)</a:t>
            </a:r>
            <a:endParaRPr lang="en-US" sz="1050" dirty="0"/>
          </a:p>
        </p:txBody>
      </p:sp>
      <p:sp>
        <p:nvSpPr>
          <p:cNvPr id="14" name="Text 11"/>
          <p:cNvSpPr txBox="1"/>
          <p:nvPr/>
        </p:nvSpPr>
        <p:spPr>
          <a:xfrm>
            <a:off x="4206240" y="1691640"/>
            <a:ext cx="7315200" cy="411480"/>
          </a:xfrm>
          <a:prstGeom prst="rect">
            <a:avLst/>
          </a:prstGeom>
          <a:noFill/>
          <a:ln/>
        </p:spPr>
        <p:txBody>
          <a:bodyPr wrap="square" lIns="0" tIns="0" rIns="0" bIns="0" rtlCol="0" anchor="t"/>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Sf-rhabdovirus 게놈</a:t>
            </a:r>
            <a:endParaRPr lang="en-US" sz="1700" dirty="0"/>
          </a:p>
        </p:txBody>
      </p:sp>
      <p:sp>
        <p:nvSpPr>
          <p:cNvPr id="15" name="Shape 12"/>
          <p:cNvSpPr/>
          <p:nvPr/>
        </p:nvSpPr>
        <p:spPr>
          <a:xfrm>
            <a:off x="4069080" y="2670048"/>
            <a:ext cx="7543800" cy="0"/>
          </a:xfrm>
          <a:prstGeom prst="line">
            <a:avLst/>
          </a:prstGeom>
          <a:noFill/>
          <a:ln w="19050">
            <a:solidFill>
              <a:srgbClr val="000080"/>
            </a:solidFill>
            <a:prstDash val="solid"/>
          </a:ln>
        </p:spPr>
        <p:txBody>
          <a:bodyPr/>
          <a:lstStyle/>
          <a:p>
            <a:endParaRPr lang="ko-KR" altLang="en-US"/>
          </a:p>
        </p:txBody>
      </p:sp>
      <p:sp>
        <p:nvSpPr>
          <p:cNvPr id="16" name="Shape 13"/>
          <p:cNvSpPr/>
          <p:nvPr/>
        </p:nvSpPr>
        <p:spPr>
          <a:xfrm>
            <a:off x="4206240" y="2377440"/>
            <a:ext cx="841248" cy="585216"/>
          </a:xfrm>
          <a:prstGeom prst="rect">
            <a:avLst/>
          </a:prstGeom>
          <a:solidFill>
            <a:srgbClr val="000080"/>
          </a:solidFill>
          <a:ln w="12700">
            <a:solidFill>
              <a:srgbClr val="000080"/>
            </a:solidFill>
            <a:prstDash val="solid"/>
          </a:ln>
        </p:spPr>
        <p:txBody>
          <a:bodyPr/>
          <a:lstStyle/>
          <a:p>
            <a:endParaRPr lang="ko-KR" altLang="en-US"/>
          </a:p>
        </p:txBody>
      </p:sp>
      <p:sp>
        <p:nvSpPr>
          <p:cNvPr id="17" name="Text 14"/>
          <p:cNvSpPr txBox="1"/>
          <p:nvPr/>
        </p:nvSpPr>
        <p:spPr>
          <a:xfrm>
            <a:off x="4206240" y="2377440"/>
            <a:ext cx="841248"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N</a:t>
            </a:r>
            <a:endParaRPr lang="en-US" sz="1800" dirty="0"/>
          </a:p>
        </p:txBody>
      </p:sp>
      <p:sp>
        <p:nvSpPr>
          <p:cNvPr id="18" name="Shape 15"/>
          <p:cNvSpPr/>
          <p:nvPr/>
        </p:nvSpPr>
        <p:spPr>
          <a:xfrm>
            <a:off x="5120640" y="2377440"/>
            <a:ext cx="704088" cy="585216"/>
          </a:xfrm>
          <a:prstGeom prst="rect">
            <a:avLst/>
          </a:prstGeom>
          <a:solidFill>
            <a:srgbClr val="000080"/>
          </a:solidFill>
          <a:ln w="12700">
            <a:solidFill>
              <a:srgbClr val="000080"/>
            </a:solidFill>
            <a:prstDash val="solid"/>
          </a:ln>
        </p:spPr>
        <p:txBody>
          <a:bodyPr/>
          <a:lstStyle/>
          <a:p>
            <a:endParaRPr lang="ko-KR" altLang="en-US"/>
          </a:p>
        </p:txBody>
      </p:sp>
      <p:sp>
        <p:nvSpPr>
          <p:cNvPr id="19" name="Text 16"/>
          <p:cNvSpPr txBox="1"/>
          <p:nvPr/>
        </p:nvSpPr>
        <p:spPr>
          <a:xfrm>
            <a:off x="5120640" y="2377440"/>
            <a:ext cx="704088"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P</a:t>
            </a:r>
            <a:endParaRPr lang="en-US" sz="1800" dirty="0"/>
          </a:p>
        </p:txBody>
      </p:sp>
      <p:sp>
        <p:nvSpPr>
          <p:cNvPr id="20" name="Shape 17"/>
          <p:cNvSpPr/>
          <p:nvPr/>
        </p:nvSpPr>
        <p:spPr>
          <a:xfrm>
            <a:off x="5897880" y="2377440"/>
            <a:ext cx="658368" cy="585216"/>
          </a:xfrm>
          <a:prstGeom prst="rect">
            <a:avLst/>
          </a:prstGeom>
          <a:solidFill>
            <a:srgbClr val="000080"/>
          </a:solidFill>
          <a:ln w="12700">
            <a:solidFill>
              <a:srgbClr val="000080"/>
            </a:solidFill>
            <a:prstDash val="solid"/>
          </a:ln>
        </p:spPr>
        <p:txBody>
          <a:bodyPr/>
          <a:lstStyle/>
          <a:p>
            <a:endParaRPr lang="ko-KR" altLang="en-US"/>
          </a:p>
        </p:txBody>
      </p:sp>
      <p:sp>
        <p:nvSpPr>
          <p:cNvPr id="21" name="Text 18"/>
          <p:cNvSpPr txBox="1"/>
          <p:nvPr/>
        </p:nvSpPr>
        <p:spPr>
          <a:xfrm>
            <a:off x="5897880" y="2377440"/>
            <a:ext cx="658368"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M</a:t>
            </a:r>
            <a:endParaRPr lang="en-US" sz="1800" dirty="0"/>
          </a:p>
        </p:txBody>
      </p:sp>
      <p:sp>
        <p:nvSpPr>
          <p:cNvPr id="22" name="Shape 19"/>
          <p:cNvSpPr/>
          <p:nvPr/>
        </p:nvSpPr>
        <p:spPr>
          <a:xfrm>
            <a:off x="6629400" y="2377440"/>
            <a:ext cx="1024128" cy="585216"/>
          </a:xfrm>
          <a:prstGeom prst="rect">
            <a:avLst/>
          </a:prstGeom>
          <a:solidFill>
            <a:srgbClr val="000080"/>
          </a:solidFill>
          <a:ln w="12700">
            <a:solidFill>
              <a:srgbClr val="000080"/>
            </a:solidFill>
            <a:prstDash val="solid"/>
          </a:ln>
        </p:spPr>
        <p:txBody>
          <a:bodyPr/>
          <a:lstStyle/>
          <a:p>
            <a:endParaRPr lang="ko-KR" altLang="en-US"/>
          </a:p>
        </p:txBody>
      </p:sp>
      <p:sp>
        <p:nvSpPr>
          <p:cNvPr id="23" name="Text 20"/>
          <p:cNvSpPr txBox="1"/>
          <p:nvPr/>
        </p:nvSpPr>
        <p:spPr>
          <a:xfrm>
            <a:off x="6629400" y="2377440"/>
            <a:ext cx="1024128"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G</a:t>
            </a:r>
            <a:endParaRPr lang="en-US" sz="1800" dirty="0"/>
          </a:p>
        </p:txBody>
      </p:sp>
      <p:sp>
        <p:nvSpPr>
          <p:cNvPr id="24" name="Shape 21"/>
          <p:cNvSpPr/>
          <p:nvPr/>
        </p:nvSpPr>
        <p:spPr>
          <a:xfrm>
            <a:off x="7726680" y="2377440"/>
            <a:ext cx="475488" cy="585216"/>
          </a:xfrm>
          <a:prstGeom prst="rect">
            <a:avLst/>
          </a:prstGeom>
          <a:solidFill>
            <a:srgbClr val="FFA500"/>
          </a:solidFill>
          <a:ln w="12700">
            <a:solidFill>
              <a:srgbClr val="FFA500"/>
            </a:solidFill>
            <a:prstDash val="solid"/>
          </a:ln>
        </p:spPr>
        <p:txBody>
          <a:bodyPr/>
          <a:lstStyle/>
          <a:p>
            <a:endParaRPr lang="ko-KR" altLang="en-US"/>
          </a:p>
        </p:txBody>
      </p:sp>
      <p:sp>
        <p:nvSpPr>
          <p:cNvPr id="25" name="Text 22"/>
          <p:cNvSpPr txBox="1"/>
          <p:nvPr/>
        </p:nvSpPr>
        <p:spPr>
          <a:xfrm>
            <a:off x="7726680" y="2377440"/>
            <a:ext cx="475488" cy="585216"/>
          </a:xfrm>
          <a:prstGeom prst="rect">
            <a:avLst/>
          </a:prstGeom>
          <a:noFill/>
          <a:ln/>
        </p:spPr>
        <p:txBody>
          <a:bodyPr wrap="square" lIns="0" tIns="0" rIns="0" bIns="0" rtlCol="0" anchor="ctr"/>
          <a:lstStyle/>
          <a:p>
            <a:pPr marL="0" indent="0" algn="ctr">
              <a:buNone/>
            </a:pPr>
            <a:r>
              <a:rPr lang="en-US" sz="1800" b="1" dirty="0">
                <a:solidFill>
                  <a:srgbClr val="000080"/>
                </a:solidFill>
                <a:latin typeface="Arial" pitchFamily="34" charset="0"/>
                <a:ea typeface="Arial" pitchFamily="34" charset="-122"/>
                <a:cs typeface="Arial" pitchFamily="34" charset="-120"/>
              </a:rPr>
              <a:t>X</a:t>
            </a:r>
            <a:endParaRPr lang="en-US" sz="1800" dirty="0"/>
          </a:p>
        </p:txBody>
      </p:sp>
      <p:sp>
        <p:nvSpPr>
          <p:cNvPr id="26" name="Shape 23"/>
          <p:cNvSpPr/>
          <p:nvPr/>
        </p:nvSpPr>
        <p:spPr>
          <a:xfrm>
            <a:off x="8275320" y="2377440"/>
            <a:ext cx="2670048" cy="585216"/>
          </a:xfrm>
          <a:prstGeom prst="rect">
            <a:avLst/>
          </a:prstGeom>
          <a:solidFill>
            <a:srgbClr val="000080"/>
          </a:solidFill>
          <a:ln w="12700">
            <a:solidFill>
              <a:srgbClr val="000080"/>
            </a:solidFill>
            <a:prstDash val="solid"/>
          </a:ln>
        </p:spPr>
        <p:txBody>
          <a:bodyPr/>
          <a:lstStyle/>
          <a:p>
            <a:endParaRPr lang="ko-KR" altLang="en-US"/>
          </a:p>
        </p:txBody>
      </p:sp>
      <p:sp>
        <p:nvSpPr>
          <p:cNvPr id="27" name="Text 24"/>
          <p:cNvSpPr txBox="1"/>
          <p:nvPr/>
        </p:nvSpPr>
        <p:spPr>
          <a:xfrm>
            <a:off x="8275320" y="2377440"/>
            <a:ext cx="2670048"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L</a:t>
            </a:r>
            <a:endParaRPr lang="en-US" sz="1800" dirty="0"/>
          </a:p>
        </p:txBody>
      </p:sp>
      <p:sp>
        <p:nvSpPr>
          <p:cNvPr id="28" name="Text 25"/>
          <p:cNvSpPr txBox="1"/>
          <p:nvPr/>
        </p:nvSpPr>
        <p:spPr>
          <a:xfrm>
            <a:off x="4206240" y="3063240"/>
            <a:ext cx="731520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X = G–L 사이 미지 ORF (111 aa)</a:t>
            </a:r>
            <a:endParaRPr lang="en-US" sz="1150" dirty="0"/>
          </a:p>
        </p:txBody>
      </p:sp>
      <p:sp>
        <p:nvSpPr>
          <p:cNvPr id="29" name="Text 26"/>
          <p:cNvSpPr txBox="1"/>
          <p:nvPr/>
        </p:nvSpPr>
        <p:spPr>
          <a:xfrm>
            <a:off x="4206240" y="3703320"/>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01</a:t>
            </a:r>
            <a:endParaRPr lang="en-US" sz="1200" dirty="0"/>
          </a:p>
        </p:txBody>
      </p:sp>
      <p:sp>
        <p:nvSpPr>
          <p:cNvPr id="30" name="Text 27"/>
          <p:cNvSpPr txBox="1"/>
          <p:nvPr/>
        </p:nvSpPr>
        <p:spPr>
          <a:xfrm>
            <a:off x="4709160" y="3666744"/>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신종 랩도바이러스</a:t>
            </a:r>
            <a:endParaRPr lang="en-US" sz="1800" dirty="0"/>
          </a:p>
        </p:txBody>
      </p:sp>
      <p:sp>
        <p:nvSpPr>
          <p:cNvPr id="31" name="Text 28"/>
          <p:cNvSpPr txBox="1"/>
          <p:nvPr/>
        </p:nvSpPr>
        <p:spPr>
          <a:xfrm>
            <a:off x="4709160" y="4050792"/>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Degenerate PCR + 대규모 병렬 시퀀싱</a:t>
            </a:r>
            <a:endParaRPr lang="en-US" sz="1150" dirty="0"/>
          </a:p>
        </p:txBody>
      </p:sp>
      <p:sp>
        <p:nvSpPr>
          <p:cNvPr id="32" name="Shape 29"/>
          <p:cNvSpPr/>
          <p:nvPr/>
        </p:nvSpPr>
        <p:spPr>
          <a:xfrm>
            <a:off x="4206240" y="4325112"/>
            <a:ext cx="7406640" cy="0"/>
          </a:xfrm>
          <a:prstGeom prst="line">
            <a:avLst/>
          </a:prstGeom>
          <a:noFill/>
          <a:ln w="9525">
            <a:solidFill>
              <a:srgbClr val="D9D9D9"/>
            </a:solidFill>
            <a:prstDash val="solid"/>
          </a:ln>
        </p:spPr>
        <p:txBody>
          <a:bodyPr/>
          <a:lstStyle/>
          <a:p>
            <a:endParaRPr lang="ko-KR" altLang="en-US"/>
          </a:p>
        </p:txBody>
      </p:sp>
      <p:sp>
        <p:nvSpPr>
          <p:cNvPr id="33" name="Text 30"/>
          <p:cNvSpPr txBox="1"/>
          <p:nvPr/>
        </p:nvSpPr>
        <p:spPr>
          <a:xfrm>
            <a:off x="4206240" y="4453128"/>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34" name="Text 31"/>
          <p:cNvSpPr txBox="1"/>
          <p:nvPr/>
        </p:nvSpPr>
        <p:spPr>
          <a:xfrm>
            <a:off x="4709160" y="4416552"/>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Sf21 모세포주에도 존재</a:t>
            </a:r>
            <a:endParaRPr lang="en-US" sz="1800" dirty="0"/>
          </a:p>
        </p:txBody>
      </p:sp>
      <p:sp>
        <p:nvSpPr>
          <p:cNvPr id="35" name="Text 32"/>
          <p:cNvSpPr txBox="1"/>
          <p:nvPr/>
        </p:nvSpPr>
        <p:spPr>
          <a:xfrm>
            <a:off x="4709160" y="4800600"/>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다른 곤충세포주에는 없음</a:t>
            </a:r>
            <a:endParaRPr lang="en-US" sz="1150" dirty="0"/>
          </a:p>
        </p:txBody>
      </p:sp>
      <p:sp>
        <p:nvSpPr>
          <p:cNvPr id="36" name="Shape 33"/>
          <p:cNvSpPr/>
          <p:nvPr/>
        </p:nvSpPr>
        <p:spPr>
          <a:xfrm>
            <a:off x="4206240" y="5074920"/>
            <a:ext cx="7406640" cy="0"/>
          </a:xfrm>
          <a:prstGeom prst="line">
            <a:avLst/>
          </a:prstGeom>
          <a:noFill/>
          <a:ln w="9525">
            <a:solidFill>
              <a:srgbClr val="D9D9D9"/>
            </a:solidFill>
            <a:prstDash val="solid"/>
          </a:ln>
        </p:spPr>
        <p:txBody>
          <a:bodyPr/>
          <a:lstStyle/>
          <a:p>
            <a:endParaRPr lang="ko-KR" altLang="en-US"/>
          </a:p>
        </p:txBody>
      </p:sp>
      <p:sp>
        <p:nvSpPr>
          <p:cNvPr id="37" name="Text 34"/>
          <p:cNvSpPr txBox="1"/>
          <p:nvPr/>
        </p:nvSpPr>
        <p:spPr>
          <a:xfrm>
            <a:off x="4206240" y="5202936"/>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38" name="Text 35"/>
          <p:cNvSpPr txBox="1"/>
          <p:nvPr/>
        </p:nvSpPr>
        <p:spPr>
          <a:xfrm>
            <a:off x="4709160" y="5166360"/>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인체 세포 복제 근거 없음</a:t>
            </a:r>
            <a:endParaRPr lang="en-US" sz="1800" dirty="0"/>
          </a:p>
        </p:txBody>
      </p:sp>
      <p:sp>
        <p:nvSpPr>
          <p:cNvPr id="39" name="Text 36"/>
          <p:cNvSpPr txBox="1"/>
          <p:nvPr/>
        </p:nvSpPr>
        <p:spPr>
          <a:xfrm>
            <a:off x="4709160" y="5550408"/>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위해성 평가 결론</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함정</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서열 ≠ 감염성</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Geisler C, Jarvis DL. Biologicals 2016;44:219 (doi:10.1016/j.biologicals.2016.04.004) · Ma H et al. J Virol 2014;88:6576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58368">
                <a:tc>
                  <a:txBody>
                    <a:bodyPr/>
                    <a:lstStyle/>
                    <a:p>
                      <a:pPr marL="0" indent="0" algn="ctr">
                        <a:buNone/>
                      </a:pP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Sf-rhabdovirus  (Ma 2014)</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Sf EVE  (Geisler 2016)</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658368">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정체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바이러스 입자</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숙주 유전체 내 통합 요소</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ORF</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Arial" pitchFamily="34" charset="0"/>
                          <a:ea typeface="Arial" pitchFamily="34" charset="-122"/>
                          <a:cs typeface="Arial" pitchFamily="34" charset="-120"/>
                        </a:rPr>
                        <a:t>N · P · M · G · X · L</a:t>
                      </a:r>
                      <a:endParaRPr lang="en-US" sz="15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N · P 온전 / G · L 부분</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전사</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예</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예</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3"/>
                  </a:ext>
                </a:extLst>
              </a:tr>
              <a:tr h="658368">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판정</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외래성 바이러스</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내인성 요소</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Shape 5"/>
          <p:cNvSpPr/>
          <p:nvPr/>
        </p:nvSpPr>
        <p:spPr>
          <a:xfrm>
            <a:off x="548640" y="5257800"/>
            <a:ext cx="3535680" cy="548640"/>
          </a:xfrm>
          <a:prstGeom prst="roundRect">
            <a:avLst>
              <a:gd name="adj" fmla="val 13333"/>
            </a:avLst>
          </a:prstGeom>
          <a:solidFill>
            <a:srgbClr val="FFA500"/>
          </a:solidFill>
          <a:ln w="12700">
            <a:solidFill>
              <a:srgbClr val="FFA500"/>
            </a:solidFill>
            <a:prstDash val="solid"/>
          </a:ln>
        </p:spPr>
        <p:txBody>
          <a:bodyPr/>
          <a:lstStyle/>
          <a:p>
            <a:endParaRPr lang="ko-KR" altLang="en-US"/>
          </a:p>
        </p:txBody>
      </p:sp>
      <p:sp>
        <p:nvSpPr>
          <p:cNvPr id="10" name="Text 6"/>
          <p:cNvSpPr txBox="1"/>
          <p:nvPr/>
        </p:nvSpPr>
        <p:spPr>
          <a:xfrm>
            <a:off x="548640" y="525780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EVE 전사</a:t>
            </a:r>
            <a:endParaRPr lang="en-US" sz="1400" dirty="0"/>
          </a:p>
        </p:txBody>
      </p:sp>
      <p:sp>
        <p:nvSpPr>
          <p:cNvPr id="11" name="Shape 7"/>
          <p:cNvSpPr/>
          <p:nvPr/>
        </p:nvSpPr>
        <p:spPr>
          <a:xfrm>
            <a:off x="4312920" y="5257800"/>
            <a:ext cx="353568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2" name="Text 8"/>
          <p:cNvSpPr txBox="1"/>
          <p:nvPr/>
        </p:nvSpPr>
        <p:spPr>
          <a:xfrm>
            <a:off x="4312920" y="525780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불완전 ORF</a:t>
            </a:r>
            <a:endParaRPr lang="en-US" sz="1400" dirty="0"/>
          </a:p>
        </p:txBody>
      </p:sp>
      <p:sp>
        <p:nvSpPr>
          <p:cNvPr id="13" name="Shape 9"/>
          <p:cNvSpPr/>
          <p:nvPr/>
        </p:nvSpPr>
        <p:spPr>
          <a:xfrm>
            <a:off x="8077200" y="5257800"/>
            <a:ext cx="353568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4" name="Text 10"/>
          <p:cNvSpPr txBox="1"/>
          <p:nvPr/>
        </p:nvSpPr>
        <p:spPr>
          <a:xfrm>
            <a:off x="8077200" y="525780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유전체 + 전사체</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완제품</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한 번에 보인 것</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Victoria JG, Wang C, Jones MS, Jaing C, McLoughlin K, Gardner S, Delwart EL. J Virol 2010;84:6033 (doi:10.1128/JVI.02690-09)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35</a:t>
            </a:r>
            <a:endParaRPr lang="en-US" sz="900" dirty="0"/>
          </a:p>
        </p:txBody>
      </p:sp>
      <p:sp>
        <p:nvSpPr>
          <p:cNvPr id="8" name="Text 5"/>
          <p:cNvSpPr txBox="1"/>
          <p:nvPr/>
        </p:nvSpPr>
        <p:spPr>
          <a:xfrm>
            <a:off x="548640" y="1645920"/>
            <a:ext cx="7315200" cy="411480"/>
          </a:xfrm>
          <a:prstGeom prst="rect">
            <a:avLst/>
          </a:prstGeom>
          <a:noFill/>
          <a:ln/>
        </p:spPr>
        <p:txBody>
          <a:bodyPr wrap="square" lIns="0" tIns="0" rIns="0" bIns="0" rtlCol="0" anchor="t"/>
          <a:lstStyle/>
          <a:p>
            <a:pPr marL="0" indent="0">
              <a:buNone/>
            </a:pPr>
            <a:r>
              <a:rPr lang="en-US" sz="1600" dirty="0">
                <a:solidFill>
                  <a:srgbClr val="595959"/>
                </a:solidFill>
                <a:latin typeface="Malgun Gothic" pitchFamily="34" charset="0"/>
                <a:ea typeface="Malgun Gothic" pitchFamily="34" charset="-122"/>
                <a:cs typeface="Malgun Gothic" pitchFamily="34" charset="-120"/>
              </a:rPr>
              <a:t>허가 생백신 8종 메타게놈</a:t>
            </a:r>
            <a:endParaRPr lang="en-US" sz="1600" dirty="0"/>
          </a:p>
        </p:txBody>
      </p:sp>
      <p:sp>
        <p:nvSpPr>
          <p:cNvPr id="9" name="Shape 6"/>
          <p:cNvSpPr/>
          <p:nvPr/>
        </p:nvSpPr>
        <p:spPr>
          <a:xfrm>
            <a:off x="502920" y="2331720"/>
            <a:ext cx="1005840" cy="1280160"/>
          </a:xfrm>
          <a:prstGeom prst="rect">
            <a:avLst/>
          </a:prstGeom>
          <a:solidFill>
            <a:srgbClr val="FFA500"/>
          </a:solidFill>
          <a:ln w="12700">
            <a:solidFill>
              <a:srgbClr val="FFA500"/>
            </a:solidFill>
            <a:prstDash val="solid"/>
          </a:ln>
        </p:spPr>
        <p:txBody>
          <a:bodyPr/>
          <a:lstStyle/>
          <a:p>
            <a:endParaRPr lang="ko-KR" altLang="en-US"/>
          </a:p>
        </p:txBody>
      </p:sp>
      <p:sp>
        <p:nvSpPr>
          <p:cNvPr id="10" name="Text 7"/>
          <p:cNvSpPr txBox="1"/>
          <p:nvPr/>
        </p:nvSpPr>
        <p:spPr>
          <a:xfrm>
            <a:off x="548640" y="2286000"/>
            <a:ext cx="1005840" cy="1371600"/>
          </a:xfrm>
          <a:prstGeom prst="rect">
            <a:avLst/>
          </a:prstGeom>
          <a:noFill/>
          <a:ln/>
        </p:spPr>
        <p:txBody>
          <a:bodyPr wrap="square" lIns="0" tIns="0" rIns="0" bIns="0" rtlCol="0" anchor="ctr"/>
          <a:lstStyle/>
          <a:p>
            <a:pPr marL="0" indent="0">
              <a:buNone/>
            </a:pPr>
            <a:r>
              <a:rPr lang="en-US" sz="8000" b="1" dirty="0">
                <a:solidFill>
                  <a:srgbClr val="000080"/>
                </a:solidFill>
                <a:latin typeface="Arial" pitchFamily="34" charset="0"/>
                <a:ea typeface="Arial" pitchFamily="34" charset="-122"/>
                <a:cs typeface="Arial" pitchFamily="34" charset="-120"/>
              </a:rPr>
              <a:t>1</a:t>
            </a:r>
            <a:endParaRPr lang="en-US" sz="8000" dirty="0"/>
          </a:p>
        </p:txBody>
      </p:sp>
      <p:sp>
        <p:nvSpPr>
          <p:cNvPr id="11" name="Text 8"/>
          <p:cNvSpPr txBox="1"/>
          <p:nvPr/>
        </p:nvSpPr>
        <p:spPr>
          <a:xfrm>
            <a:off x="1645920" y="3063240"/>
            <a:ext cx="137160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외래성</a:t>
            </a:r>
            <a:endParaRPr lang="en-US" sz="1500" dirty="0"/>
          </a:p>
        </p:txBody>
      </p:sp>
      <p:sp>
        <p:nvSpPr>
          <p:cNvPr id="12" name="Text 9"/>
          <p:cNvSpPr txBox="1"/>
          <p:nvPr/>
        </p:nvSpPr>
        <p:spPr>
          <a:xfrm>
            <a:off x="548640" y="3840480"/>
            <a:ext cx="246888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PCV1 (Rotarix)</a:t>
            </a:r>
            <a:endParaRPr lang="en-US" sz="1500" dirty="0"/>
          </a:p>
        </p:txBody>
      </p:sp>
      <p:sp>
        <p:nvSpPr>
          <p:cNvPr id="13" name="Text 10"/>
          <p:cNvSpPr txBox="1"/>
          <p:nvPr/>
        </p:nvSpPr>
        <p:spPr>
          <a:xfrm>
            <a:off x="3154680" y="2286000"/>
            <a:ext cx="1005840" cy="1371600"/>
          </a:xfrm>
          <a:prstGeom prst="rect">
            <a:avLst/>
          </a:prstGeom>
          <a:noFill/>
          <a:ln/>
        </p:spPr>
        <p:txBody>
          <a:bodyPr wrap="square" lIns="0" tIns="0" rIns="0" bIns="0" rtlCol="0" anchor="ctr"/>
          <a:lstStyle/>
          <a:p>
            <a:pPr marL="0" indent="0">
              <a:buNone/>
            </a:pPr>
            <a:r>
              <a:rPr lang="en-US" sz="8000" b="1" dirty="0">
                <a:solidFill>
                  <a:srgbClr val="000080"/>
                </a:solidFill>
                <a:latin typeface="Arial" pitchFamily="34" charset="0"/>
                <a:ea typeface="Arial" pitchFamily="34" charset="-122"/>
                <a:cs typeface="Arial" pitchFamily="34" charset="-120"/>
              </a:rPr>
              <a:t>3</a:t>
            </a:r>
            <a:endParaRPr lang="en-US" sz="8000" dirty="0"/>
          </a:p>
        </p:txBody>
      </p:sp>
      <p:sp>
        <p:nvSpPr>
          <p:cNvPr id="14" name="Text 11"/>
          <p:cNvSpPr txBox="1"/>
          <p:nvPr/>
        </p:nvSpPr>
        <p:spPr>
          <a:xfrm>
            <a:off x="4251960" y="3063240"/>
            <a:ext cx="137160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백신</a:t>
            </a:r>
            <a:endParaRPr lang="en-US" sz="1500" dirty="0"/>
          </a:p>
        </p:txBody>
      </p:sp>
      <p:sp>
        <p:nvSpPr>
          <p:cNvPr id="15" name="Text 12"/>
          <p:cNvSpPr txBox="1"/>
          <p:nvPr/>
        </p:nvSpPr>
        <p:spPr>
          <a:xfrm>
            <a:off x="3154680" y="3840480"/>
            <a:ext cx="246888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Minority variant</a:t>
            </a:r>
            <a:endParaRPr lang="en-US" sz="1500" dirty="0"/>
          </a:p>
        </p:txBody>
      </p:sp>
      <p:sp>
        <p:nvSpPr>
          <p:cNvPr id="16" name="Text 13"/>
          <p:cNvSpPr txBox="1"/>
          <p:nvPr/>
        </p:nvSpPr>
        <p:spPr>
          <a:xfrm>
            <a:off x="5760720" y="2286000"/>
            <a:ext cx="1005840" cy="1371600"/>
          </a:xfrm>
          <a:prstGeom prst="rect">
            <a:avLst/>
          </a:prstGeom>
          <a:noFill/>
          <a:ln/>
        </p:spPr>
        <p:txBody>
          <a:bodyPr wrap="square" lIns="0" tIns="0" rIns="0" bIns="0" rtlCol="0" anchor="ctr"/>
          <a:lstStyle/>
          <a:p>
            <a:pPr marL="0" indent="0">
              <a:buNone/>
            </a:pPr>
            <a:r>
              <a:rPr lang="en-US" sz="8000" b="1" dirty="0">
                <a:solidFill>
                  <a:srgbClr val="000080"/>
                </a:solidFill>
                <a:latin typeface="Arial" pitchFamily="34" charset="0"/>
                <a:ea typeface="Arial" pitchFamily="34" charset="-122"/>
                <a:cs typeface="Arial" pitchFamily="34" charset="-120"/>
              </a:rPr>
              <a:t>2</a:t>
            </a:r>
            <a:endParaRPr lang="en-US" sz="8000" dirty="0"/>
          </a:p>
        </p:txBody>
      </p:sp>
      <p:sp>
        <p:nvSpPr>
          <p:cNvPr id="17" name="Text 14"/>
          <p:cNvSpPr txBox="1"/>
          <p:nvPr/>
        </p:nvSpPr>
        <p:spPr>
          <a:xfrm>
            <a:off x="6858000" y="3063240"/>
            <a:ext cx="137160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종</a:t>
            </a:r>
            <a:endParaRPr lang="en-US" sz="1500" dirty="0"/>
          </a:p>
        </p:txBody>
      </p:sp>
      <p:sp>
        <p:nvSpPr>
          <p:cNvPr id="18" name="Text 15"/>
          <p:cNvSpPr txBox="1"/>
          <p:nvPr/>
        </p:nvSpPr>
        <p:spPr>
          <a:xfrm>
            <a:off x="5760720" y="3840480"/>
            <a:ext cx="246888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내인성 ALV · SRV</a:t>
            </a:r>
            <a:endParaRPr lang="en-US" sz="1500" dirty="0"/>
          </a:p>
        </p:txBody>
      </p:sp>
      <p:sp>
        <p:nvSpPr>
          <p:cNvPr id="19" name="Text 16"/>
          <p:cNvSpPr txBox="1"/>
          <p:nvPr/>
        </p:nvSpPr>
        <p:spPr>
          <a:xfrm>
            <a:off x="548640" y="4846320"/>
            <a:ext cx="7498080" cy="64008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OPV · 볼거리 · 수두 백신의 변이체 / ALV = 입자 내 RNA · SRV = 결손 DNA</a:t>
            </a:r>
            <a:endParaRPr lang="en-US" sz="1200" dirty="0"/>
          </a:p>
        </p:txBody>
      </p:sp>
      <p:sp>
        <p:nvSpPr>
          <p:cNvPr id="20" name="Shape 17"/>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21" name="Text 18"/>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J Virol · 2010</a:t>
            </a:r>
            <a:endParaRPr lang="en-US" sz="1100" dirty="0"/>
          </a:p>
        </p:txBody>
      </p:sp>
      <p:sp>
        <p:nvSpPr>
          <p:cNvPr id="22" name="Text 19"/>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Viral nucleic acids in live-attenuated vaccines: detection of minority variants and an adventitious virus</a:t>
            </a:r>
            <a:endParaRPr lang="en-US" sz="1050" dirty="0"/>
          </a:p>
        </p:txBody>
      </p:sp>
      <p:sp>
        <p:nvSpPr>
          <p:cNvPr id="23" name="Text 20"/>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Victoria JG … Delwart EL</a:t>
            </a:r>
            <a:endParaRPr lang="en-US" sz="900" dirty="0"/>
          </a:p>
        </p:txBody>
      </p:sp>
      <p:sp>
        <p:nvSpPr>
          <p:cNvPr id="24" name="Shape 21"/>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25" name="Text 22"/>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현장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전통법도 잡았다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Kerr A, Nims R. PDA J Pharm Sci Technol 2010;64:481 (PMID 21502056)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36</a:t>
            </a:r>
            <a:endParaRPr lang="en-US" sz="900" dirty="0"/>
          </a:p>
        </p:txBody>
      </p:sp>
      <p:sp>
        <p:nvSpPr>
          <p:cNvPr id="8" name="Text 5"/>
          <p:cNvSpPr txBox="1"/>
          <p:nvPr/>
        </p:nvSpPr>
        <p:spPr>
          <a:xfrm>
            <a:off x="548640" y="1645920"/>
            <a:ext cx="3657600" cy="1554480"/>
          </a:xfrm>
          <a:prstGeom prst="rect">
            <a:avLst/>
          </a:prstGeom>
          <a:noFill/>
          <a:ln/>
        </p:spPr>
        <p:txBody>
          <a:bodyPr wrap="square" lIns="0" tIns="0" rIns="0" bIns="0" rtlCol="0" anchor="ctr"/>
          <a:lstStyle/>
          <a:p>
            <a:pPr marL="0" indent="0">
              <a:buNone/>
            </a:pPr>
            <a:r>
              <a:rPr lang="en-US" sz="8800" b="1" dirty="0">
                <a:solidFill>
                  <a:srgbClr val="000080"/>
                </a:solidFill>
                <a:latin typeface="Arial" pitchFamily="34" charset="0"/>
                <a:ea typeface="Arial" pitchFamily="34" charset="-122"/>
                <a:cs typeface="Arial" pitchFamily="34" charset="-120"/>
              </a:rPr>
              <a:t>10</a:t>
            </a:r>
            <a:r>
              <a:rPr lang="en-US" sz="2600" b="1" dirty="0">
                <a:solidFill>
                  <a:srgbClr val="000080"/>
                </a:solidFill>
                <a:latin typeface="Malgun Gothic" pitchFamily="34" charset="0"/>
                <a:ea typeface="Malgun Gothic" pitchFamily="34" charset="-122"/>
                <a:cs typeface="Malgun Gothic" pitchFamily="34" charset="-120"/>
              </a:rPr>
              <a:t> 년</a:t>
            </a:r>
            <a:endParaRPr lang="en-US" sz="1400" dirty="0"/>
          </a:p>
        </p:txBody>
      </p:sp>
      <p:sp>
        <p:nvSpPr>
          <p:cNvPr id="9" name="Shape 6"/>
          <p:cNvSpPr/>
          <p:nvPr/>
        </p:nvSpPr>
        <p:spPr>
          <a:xfrm>
            <a:off x="4160520" y="1783080"/>
            <a:ext cx="1417320" cy="1325880"/>
          </a:xfrm>
          <a:prstGeom prst="rect">
            <a:avLst/>
          </a:prstGeom>
          <a:solidFill>
            <a:srgbClr val="FFA500"/>
          </a:solidFill>
          <a:ln w="12700">
            <a:solidFill>
              <a:srgbClr val="FFA500"/>
            </a:solidFill>
            <a:prstDash val="solid"/>
          </a:ln>
        </p:spPr>
        <p:txBody>
          <a:bodyPr/>
          <a:lstStyle/>
          <a:p>
            <a:endParaRPr lang="ko-KR" altLang="en-US"/>
          </a:p>
        </p:txBody>
      </p:sp>
      <p:sp>
        <p:nvSpPr>
          <p:cNvPr id="10" name="Text 7"/>
          <p:cNvSpPr txBox="1"/>
          <p:nvPr/>
        </p:nvSpPr>
        <p:spPr>
          <a:xfrm>
            <a:off x="4206240" y="1645920"/>
            <a:ext cx="3291840" cy="1554480"/>
          </a:xfrm>
          <a:prstGeom prst="rect">
            <a:avLst/>
          </a:prstGeom>
          <a:noFill/>
          <a:ln/>
        </p:spPr>
        <p:txBody>
          <a:bodyPr wrap="square" lIns="0" tIns="0" rIns="0" bIns="0" rtlCol="0" anchor="ctr"/>
          <a:lstStyle/>
          <a:p>
            <a:pPr marL="0" indent="0">
              <a:buNone/>
            </a:pPr>
            <a:r>
              <a:rPr lang="en-US" sz="8800" b="1" dirty="0">
                <a:solidFill>
                  <a:srgbClr val="000080"/>
                </a:solidFill>
                <a:latin typeface="Arial" pitchFamily="34" charset="0"/>
                <a:ea typeface="Arial" pitchFamily="34" charset="-122"/>
                <a:cs typeface="Arial" pitchFamily="34" charset="-120"/>
              </a:rPr>
              <a:t>2</a:t>
            </a:r>
            <a:r>
              <a:rPr lang="en-US" sz="2600" b="1" dirty="0">
                <a:solidFill>
                  <a:srgbClr val="000080"/>
                </a:solidFill>
                <a:latin typeface="Malgun Gothic" pitchFamily="34" charset="0"/>
                <a:ea typeface="Malgun Gothic" pitchFamily="34" charset="-122"/>
                <a:cs typeface="Malgun Gothic" pitchFamily="34" charset="-120"/>
              </a:rPr>
              <a:t> 종</a:t>
            </a:r>
            <a:endParaRPr lang="en-US" sz="1400" dirty="0"/>
          </a:p>
        </p:txBody>
      </p:sp>
      <p:sp>
        <p:nvSpPr>
          <p:cNvPr id="11" name="Text 8"/>
          <p:cNvSpPr txBox="1"/>
          <p:nvPr/>
        </p:nvSpPr>
        <p:spPr>
          <a:xfrm>
            <a:off x="548640" y="3337560"/>
            <a:ext cx="7315200" cy="45720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Reovirus 2형 · Cache Valley virus</a:t>
            </a:r>
            <a:endParaRPr lang="en-US" sz="1800" dirty="0"/>
          </a:p>
        </p:txBody>
      </p:sp>
      <p:sp>
        <p:nvSpPr>
          <p:cNvPr id="12" name="Text 9"/>
          <p:cNvSpPr txBox="1"/>
          <p:nvPr/>
        </p:nvSpPr>
        <p:spPr>
          <a:xfrm>
            <a:off x="548640" y="397764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3" name="Text 10"/>
          <p:cNvSpPr txBox="1"/>
          <p:nvPr/>
        </p:nvSpPr>
        <p:spPr>
          <a:xfrm>
            <a:off x="1051560" y="3941064"/>
            <a:ext cx="68122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In vitro 실제 검출</a:t>
            </a:r>
            <a:endParaRPr lang="en-US" sz="1800" dirty="0"/>
          </a:p>
        </p:txBody>
      </p:sp>
      <p:sp>
        <p:nvSpPr>
          <p:cNvPr id="14" name="Text 11"/>
          <p:cNvSpPr txBox="1"/>
          <p:nvPr/>
        </p:nvSpPr>
        <p:spPr>
          <a:xfrm>
            <a:off x="1051560" y="4325112"/>
            <a:ext cx="68122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Bulk harvest 선별 시험</a:t>
            </a:r>
            <a:endParaRPr lang="en-US" sz="1150" dirty="0"/>
          </a:p>
        </p:txBody>
      </p:sp>
      <p:sp>
        <p:nvSpPr>
          <p:cNvPr id="15" name="Shape 12"/>
          <p:cNvSpPr/>
          <p:nvPr/>
        </p:nvSpPr>
        <p:spPr>
          <a:xfrm>
            <a:off x="548640" y="4562856"/>
            <a:ext cx="7315200" cy="0"/>
          </a:xfrm>
          <a:prstGeom prst="line">
            <a:avLst/>
          </a:prstGeom>
          <a:noFill/>
          <a:ln w="9525">
            <a:solidFill>
              <a:srgbClr val="D9D9D9"/>
            </a:solidFill>
            <a:prstDash val="solid"/>
          </a:ln>
        </p:spPr>
        <p:txBody>
          <a:bodyPr/>
          <a:lstStyle/>
          <a:p>
            <a:endParaRPr lang="ko-KR" altLang="en-US"/>
          </a:p>
        </p:txBody>
      </p:sp>
      <p:sp>
        <p:nvSpPr>
          <p:cNvPr id="16" name="Text 13"/>
          <p:cNvSpPr txBox="1"/>
          <p:nvPr/>
        </p:nvSpPr>
        <p:spPr>
          <a:xfrm>
            <a:off x="548640" y="4690872"/>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02</a:t>
            </a:r>
            <a:endParaRPr lang="en-US" sz="1200" dirty="0"/>
          </a:p>
        </p:txBody>
      </p:sp>
      <p:sp>
        <p:nvSpPr>
          <p:cNvPr id="17" name="Text 14"/>
          <p:cNvSpPr txBox="1"/>
          <p:nvPr/>
        </p:nvSpPr>
        <p:spPr>
          <a:xfrm>
            <a:off x="1051560" y="4654296"/>
            <a:ext cx="68122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CHO 생산품</a:t>
            </a:r>
            <a:endParaRPr lang="en-US" sz="1800" dirty="0"/>
          </a:p>
        </p:txBody>
      </p:sp>
      <p:sp>
        <p:nvSpPr>
          <p:cNvPr id="18" name="Text 15"/>
          <p:cNvSpPr txBox="1"/>
          <p:nvPr/>
        </p:nvSpPr>
        <p:spPr>
          <a:xfrm>
            <a:off x="1051560" y="5038344"/>
            <a:ext cx="68122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검출 2종 모두</a:t>
            </a:r>
            <a:endParaRPr lang="en-US" sz="1150" dirty="0"/>
          </a:p>
        </p:txBody>
      </p:sp>
      <p:sp>
        <p:nvSpPr>
          <p:cNvPr id="19" name="Shape 16"/>
          <p:cNvSpPr/>
          <p:nvPr/>
        </p:nvSpPr>
        <p:spPr>
          <a:xfrm>
            <a:off x="548640" y="5276088"/>
            <a:ext cx="7315200" cy="0"/>
          </a:xfrm>
          <a:prstGeom prst="line">
            <a:avLst/>
          </a:prstGeom>
          <a:noFill/>
          <a:ln w="9525">
            <a:solidFill>
              <a:srgbClr val="D9D9D9"/>
            </a:solidFill>
            <a:prstDash val="solid"/>
          </a:ln>
        </p:spPr>
        <p:txBody>
          <a:bodyPr/>
          <a:lstStyle/>
          <a:p>
            <a:endParaRPr lang="ko-KR" altLang="en-US"/>
          </a:p>
        </p:txBody>
      </p:sp>
      <p:sp>
        <p:nvSpPr>
          <p:cNvPr id="20" name="Text 17"/>
          <p:cNvSpPr txBox="1"/>
          <p:nvPr/>
        </p:nvSpPr>
        <p:spPr>
          <a:xfrm>
            <a:off x="548640" y="5404104"/>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21" name="Text 18"/>
          <p:cNvSpPr txBox="1"/>
          <p:nvPr/>
        </p:nvSpPr>
        <p:spPr>
          <a:xfrm>
            <a:off x="1051560" y="5367528"/>
            <a:ext cx="68122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희소한 사건</a:t>
            </a:r>
            <a:endParaRPr lang="en-US" sz="1800" dirty="0"/>
          </a:p>
        </p:txBody>
      </p:sp>
      <p:sp>
        <p:nvSpPr>
          <p:cNvPr id="22" name="Text 19"/>
          <p:cNvSpPr txBox="1"/>
          <p:nvPr/>
        </p:nvSpPr>
        <p:spPr>
          <a:xfrm>
            <a:off x="1051560" y="5751576"/>
            <a:ext cx="68122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10년간 2종</a:t>
            </a:r>
            <a:endParaRPr lang="en-US" sz="1150" dirty="0"/>
          </a:p>
        </p:txBody>
      </p:sp>
      <p:sp>
        <p:nvSpPr>
          <p:cNvPr id="23" name="Shape 20"/>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24" name="Text 21"/>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PDA J Pharm Sci Technol · 2010</a:t>
            </a:r>
            <a:endParaRPr lang="en-US" sz="1100" dirty="0"/>
          </a:p>
        </p:txBody>
      </p:sp>
      <p:sp>
        <p:nvSpPr>
          <p:cNvPr id="25" name="Text 22"/>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Adventitious viruses detected in biopharmaceutical bulk harvest samples over a 10 year period</a:t>
            </a:r>
            <a:endParaRPr lang="en-US" sz="1050" dirty="0"/>
          </a:p>
        </p:txBody>
      </p:sp>
      <p:sp>
        <p:nvSpPr>
          <p:cNvPr id="26" name="Text 23"/>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Kerr A, Nims R</a:t>
            </a:r>
            <a:endParaRPr lang="en-US" sz="900" dirty="0"/>
          </a:p>
        </p:txBody>
      </p:sp>
      <p:sp>
        <p:nvSpPr>
          <p:cNvPr id="27" name="Shape 24"/>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28" name="Text 25"/>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현장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설계로 막는다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Mascarenhas JX et al. Biotechnol Bioeng 2017;114:576 (doi:10.1002/bit.26186)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37</a:t>
            </a:r>
            <a:endParaRPr lang="en-US" sz="900" dirty="0"/>
          </a:p>
        </p:txBody>
      </p:sp>
      <p:sp>
        <p:nvSpPr>
          <p:cNvPr id="8" name="Text 5"/>
          <p:cNvSpPr txBox="1"/>
          <p:nvPr/>
        </p:nvSpPr>
        <p:spPr>
          <a:xfrm>
            <a:off x="548640" y="1645920"/>
            <a:ext cx="7589520" cy="731520"/>
          </a:xfrm>
          <a:prstGeom prst="rect">
            <a:avLst/>
          </a:prstGeom>
          <a:noFill/>
          <a:ln/>
        </p:spPr>
        <p:txBody>
          <a:bodyPr wrap="square" lIns="0" tIns="0" rIns="0" bIns="0" rtlCol="0" anchor="ctr"/>
          <a:lstStyle/>
          <a:p>
            <a:pPr marL="0" indent="0">
              <a:buNone/>
            </a:pPr>
            <a:r>
              <a:rPr lang="en-US" sz="2800" b="1" dirty="0">
                <a:solidFill>
                  <a:srgbClr val="000080"/>
                </a:solidFill>
                <a:latin typeface="Malgun Gothic" pitchFamily="34" charset="0"/>
                <a:ea typeface="Malgun Gothic" pitchFamily="34" charset="-122"/>
                <a:cs typeface="Malgun Gothic" pitchFamily="34" charset="-120"/>
              </a:rPr>
              <a:t>시알산 제거 → </a:t>
            </a:r>
            <a:r>
              <a:rPr lang="en-US" sz="2800" b="1" dirty="0">
                <a:solidFill>
                  <a:srgbClr val="000080"/>
                </a:solidFill>
                <a:highlight>
                  <a:srgbClr val="FFA500"/>
                </a:highlight>
                <a:latin typeface="Malgun Gothic" pitchFamily="34" charset="0"/>
                <a:ea typeface="Malgun Gothic" pitchFamily="34" charset="-122"/>
                <a:cs typeface="Malgun Gothic" pitchFamily="34" charset="-120"/>
              </a:rPr>
              <a:t>MVM 진입 차단</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7498080" cy="914400"/>
        </p:xfrm>
        <a:graphic>
          <a:graphicData uri="http://schemas.openxmlformats.org/drawingml/2006/table">
            <a:tbl>
              <a:tblPr/>
              <a:tblGrid>
                <a:gridCol w="37490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566928">
                <a:tc>
                  <a:txBody>
                    <a:bodyP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ZFN KO 표적</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MVM 감염</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566928">
                <a:tc>
                  <a:txBody>
                    <a:bodyPr/>
                    <a:lstStyle/>
                    <a:p>
                      <a:pPr marL="0" indent="0">
                        <a:buNone/>
                      </a:pPr>
                      <a:r>
                        <a:rPr lang="en-US" sz="1600" b="1" i="1" dirty="0">
                          <a:solidFill>
                            <a:srgbClr val="000080"/>
                          </a:solidFill>
                          <a:latin typeface="Arial" pitchFamily="34" charset="0"/>
                          <a:ea typeface="Arial" pitchFamily="34" charset="-122"/>
                          <a:cs typeface="Arial" pitchFamily="34" charset="-120"/>
                        </a:rPr>
                        <a:t>Slc35a1</a:t>
                      </a:r>
                      <a:endParaRPr lang="en-US" sz="16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b="1" dirty="0">
                          <a:solidFill>
                            <a:srgbClr val="000080"/>
                          </a:solidFill>
                          <a:latin typeface="Malgun Gothic" pitchFamily="34" charset="0"/>
                          <a:ea typeface="Malgun Gothic" pitchFamily="34" charset="-122"/>
                          <a:cs typeface="Malgun Gothic" pitchFamily="34" charset="-120"/>
                        </a:rPr>
                        <a:t>완전 저항</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1"/>
                  </a:ext>
                </a:extLst>
              </a:tr>
              <a:tr h="566928">
                <a:tc>
                  <a:txBody>
                    <a:bodyPr/>
                    <a:lstStyle/>
                    <a:p>
                      <a:pPr marL="0" indent="0">
                        <a:buNone/>
                      </a:pPr>
                      <a:r>
                        <a:rPr lang="en-US" sz="1600" b="1" i="1" dirty="0">
                          <a:solidFill>
                            <a:srgbClr val="000080"/>
                          </a:solidFill>
                          <a:latin typeface="Arial" pitchFamily="34" charset="0"/>
                          <a:ea typeface="Arial" pitchFamily="34" charset="-122"/>
                          <a:cs typeface="Arial" pitchFamily="34" charset="-120"/>
                        </a:rPr>
                        <a:t>Cosmc</a:t>
                      </a:r>
                      <a:endParaRPr lang="en-US" sz="16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유의한 억제</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600" b="1" i="1" dirty="0">
                          <a:solidFill>
                            <a:srgbClr val="000080"/>
                          </a:solidFill>
                          <a:latin typeface="Arial" pitchFamily="34" charset="0"/>
                          <a:ea typeface="Arial" pitchFamily="34" charset="-122"/>
                          <a:cs typeface="Arial" pitchFamily="34" charset="-120"/>
                        </a:rPr>
                        <a:t>Mgat1</a:t>
                      </a:r>
                      <a:endParaRPr lang="en-US" sz="16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유의한 억제</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bl>
          </a:graphicData>
        </a:graphic>
      </p:graphicFrame>
      <p:sp>
        <p:nvSpPr>
          <p:cNvPr id="10" name="Shape 6"/>
          <p:cNvSpPr/>
          <p:nvPr/>
        </p:nvSpPr>
        <p:spPr>
          <a:xfrm>
            <a:off x="548640" y="5257800"/>
            <a:ext cx="234696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11" name="Text 7"/>
          <p:cNvSpPr txBox="1"/>
          <p:nvPr/>
        </p:nvSpPr>
        <p:spPr>
          <a:xfrm>
            <a:off x="548640" y="5257800"/>
            <a:ext cx="234696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ZFN 편집</a:t>
            </a:r>
            <a:endParaRPr lang="en-US" sz="1400" dirty="0"/>
          </a:p>
        </p:txBody>
      </p:sp>
      <p:sp>
        <p:nvSpPr>
          <p:cNvPr id="12" name="Shape 8"/>
          <p:cNvSpPr/>
          <p:nvPr/>
        </p:nvSpPr>
        <p:spPr>
          <a:xfrm>
            <a:off x="3124200" y="5257800"/>
            <a:ext cx="234696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13" name="Text 9"/>
          <p:cNvSpPr txBox="1"/>
          <p:nvPr/>
        </p:nvSpPr>
        <p:spPr>
          <a:xfrm>
            <a:off x="3124200" y="5257800"/>
            <a:ext cx="234696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시알산 경로</a:t>
            </a:r>
            <a:endParaRPr lang="en-US" sz="1400" dirty="0"/>
          </a:p>
        </p:txBody>
      </p:sp>
      <p:sp>
        <p:nvSpPr>
          <p:cNvPr id="14" name="Shape 10"/>
          <p:cNvSpPr/>
          <p:nvPr/>
        </p:nvSpPr>
        <p:spPr>
          <a:xfrm>
            <a:off x="5699760" y="5257800"/>
            <a:ext cx="234696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15" name="Text 11"/>
          <p:cNvSpPr txBox="1"/>
          <p:nvPr/>
        </p:nvSpPr>
        <p:spPr>
          <a:xfrm>
            <a:off x="5699760" y="5257800"/>
            <a:ext cx="234696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MVM 저항성</a:t>
            </a:r>
            <a:endParaRPr lang="en-US" sz="1400" dirty="0"/>
          </a:p>
        </p:txBody>
      </p:sp>
      <p:sp>
        <p:nvSpPr>
          <p:cNvPr id="16" name="Shape 12"/>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17" name="Text 13"/>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Biotechnol Bioeng · 2017</a:t>
            </a:r>
            <a:endParaRPr lang="en-US" sz="1100" dirty="0"/>
          </a:p>
        </p:txBody>
      </p:sp>
      <p:sp>
        <p:nvSpPr>
          <p:cNvPr id="18" name="Text 14"/>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Genetic engineering of CHO cells for viral resistance to minute virus of mice</a:t>
            </a:r>
            <a:endParaRPr lang="en-US" sz="1050" dirty="0"/>
          </a:p>
        </p:txBody>
      </p:sp>
      <p:sp>
        <p:nvSpPr>
          <p:cNvPr id="19" name="Text 15"/>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Mascarenhas JX, et al.</a:t>
            </a:r>
            <a:endParaRPr lang="en-US" sz="900" dirty="0"/>
          </a:p>
        </p:txBody>
      </p:sp>
      <p:sp>
        <p:nvSpPr>
          <p:cNvPr id="20" name="Shape 16"/>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21" name="Text 17"/>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성능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동물시험 5 / 9</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Beurdeley-Fehlbaum P et al. Vaccine 2023;41:5383 (doi:10.1016/j.vaccine.2023.07.010)</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38</a:t>
            </a:r>
            <a:endParaRPr lang="en-US" sz="900" dirty="0"/>
          </a:p>
        </p:txBody>
      </p:sp>
      <p:sp>
        <p:nvSpPr>
          <p:cNvPr id="8" name="Text 5"/>
          <p:cNvSpPr txBox="1"/>
          <p:nvPr/>
        </p:nvSpPr>
        <p:spPr>
          <a:xfrm>
            <a:off x="548640" y="1600200"/>
            <a:ext cx="5486400" cy="36576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검출 폭 · 바이러스 9종 접종</a:t>
            </a:r>
            <a:endParaRPr lang="en-US" sz="1500" dirty="0"/>
          </a:p>
        </p:txBody>
      </p:sp>
      <p:graphicFrame>
        <p:nvGraphicFramePr>
          <p:cNvPr id="9" name="Chart 0"/>
          <p:cNvGraphicFramePr/>
          <p:nvPr/>
        </p:nvGraphicFramePr>
        <p:xfrm>
          <a:off x="457200" y="1965960"/>
          <a:ext cx="57607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6"/>
          <p:cNvSpPr txBox="1"/>
          <p:nvPr/>
        </p:nvSpPr>
        <p:spPr>
          <a:xfrm>
            <a:off x="6675120" y="1600200"/>
            <a:ext cx="4937760" cy="36576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민감도 · 감염세포 1개 대비 비감염세포</a:t>
            </a:r>
            <a:endParaRPr lang="en-US" sz="1500" dirty="0"/>
          </a:p>
        </p:txBody>
      </p:sp>
      <p:sp>
        <p:nvSpPr>
          <p:cNvPr id="11" name="Shape 7"/>
          <p:cNvSpPr/>
          <p:nvPr/>
        </p:nvSpPr>
        <p:spPr>
          <a:xfrm>
            <a:off x="6858000" y="3474720"/>
            <a:ext cx="4572000" cy="0"/>
          </a:xfrm>
          <a:prstGeom prst="line">
            <a:avLst/>
          </a:prstGeom>
          <a:noFill/>
          <a:ln w="19050">
            <a:solidFill>
              <a:srgbClr val="000080"/>
            </a:solidFill>
            <a:prstDash val="solid"/>
          </a:ln>
        </p:spPr>
        <p:txBody>
          <a:bodyPr/>
          <a:lstStyle/>
          <a:p>
            <a:endParaRPr lang="ko-KR" altLang="en-US"/>
          </a:p>
        </p:txBody>
      </p:sp>
      <p:sp>
        <p:nvSpPr>
          <p:cNvPr id="12" name="Shape 8"/>
          <p:cNvSpPr/>
          <p:nvPr/>
        </p:nvSpPr>
        <p:spPr>
          <a:xfrm>
            <a:off x="8572500" y="3182112"/>
            <a:ext cx="2286000" cy="256032"/>
          </a:xfrm>
          <a:prstGeom prst="rect">
            <a:avLst/>
          </a:prstGeom>
          <a:solidFill>
            <a:srgbClr val="FFA500"/>
          </a:solidFill>
          <a:ln w="12700">
            <a:solidFill>
              <a:srgbClr val="FFA500"/>
            </a:solidFill>
            <a:prstDash val="solid"/>
          </a:ln>
        </p:spPr>
        <p:txBody>
          <a:bodyPr/>
          <a:lstStyle/>
          <a:p>
            <a:endParaRPr lang="ko-KR" altLang="en-US"/>
          </a:p>
        </p:txBody>
      </p:sp>
      <p:sp>
        <p:nvSpPr>
          <p:cNvPr id="13" name="Shape 9"/>
          <p:cNvSpPr/>
          <p:nvPr/>
        </p:nvSpPr>
        <p:spPr>
          <a:xfrm>
            <a:off x="6858000" y="3474720"/>
            <a:ext cx="0" cy="91440"/>
          </a:xfrm>
          <a:prstGeom prst="line">
            <a:avLst/>
          </a:prstGeom>
          <a:noFill/>
          <a:ln w="12700">
            <a:solidFill>
              <a:srgbClr val="000080"/>
            </a:solidFill>
            <a:prstDash val="solid"/>
          </a:ln>
        </p:spPr>
        <p:txBody>
          <a:bodyPr/>
          <a:lstStyle/>
          <a:p>
            <a:endParaRPr lang="ko-KR" altLang="en-US"/>
          </a:p>
        </p:txBody>
      </p:sp>
      <p:sp>
        <p:nvSpPr>
          <p:cNvPr id="14" name="Text 10"/>
          <p:cNvSpPr txBox="1"/>
          <p:nvPr/>
        </p:nvSpPr>
        <p:spPr>
          <a:xfrm>
            <a:off x="65836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0</a:t>
            </a:r>
            <a:endParaRPr lang="en-US" sz="1100" dirty="0"/>
          </a:p>
        </p:txBody>
      </p:sp>
      <p:sp>
        <p:nvSpPr>
          <p:cNvPr id="15" name="Shape 11"/>
          <p:cNvSpPr/>
          <p:nvPr/>
        </p:nvSpPr>
        <p:spPr>
          <a:xfrm>
            <a:off x="7429500" y="3474720"/>
            <a:ext cx="0" cy="91440"/>
          </a:xfrm>
          <a:prstGeom prst="line">
            <a:avLst/>
          </a:prstGeom>
          <a:noFill/>
          <a:ln w="12700">
            <a:solidFill>
              <a:srgbClr val="000080"/>
            </a:solidFill>
            <a:prstDash val="solid"/>
          </a:ln>
        </p:spPr>
        <p:txBody>
          <a:bodyPr/>
          <a:lstStyle/>
          <a:p>
            <a:endParaRPr lang="ko-KR" altLang="en-US"/>
          </a:p>
        </p:txBody>
      </p:sp>
      <p:sp>
        <p:nvSpPr>
          <p:cNvPr id="16" name="Text 12"/>
          <p:cNvSpPr txBox="1"/>
          <p:nvPr/>
        </p:nvSpPr>
        <p:spPr>
          <a:xfrm>
            <a:off x="71551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1</a:t>
            </a:r>
            <a:endParaRPr lang="en-US" sz="1100" dirty="0"/>
          </a:p>
        </p:txBody>
      </p:sp>
      <p:sp>
        <p:nvSpPr>
          <p:cNvPr id="17" name="Shape 13"/>
          <p:cNvSpPr/>
          <p:nvPr/>
        </p:nvSpPr>
        <p:spPr>
          <a:xfrm>
            <a:off x="8001000" y="3474720"/>
            <a:ext cx="0" cy="91440"/>
          </a:xfrm>
          <a:prstGeom prst="line">
            <a:avLst/>
          </a:prstGeom>
          <a:noFill/>
          <a:ln w="12700">
            <a:solidFill>
              <a:srgbClr val="000080"/>
            </a:solidFill>
            <a:prstDash val="solid"/>
          </a:ln>
        </p:spPr>
        <p:txBody>
          <a:bodyPr/>
          <a:lstStyle/>
          <a:p>
            <a:endParaRPr lang="ko-KR" altLang="en-US"/>
          </a:p>
        </p:txBody>
      </p:sp>
      <p:sp>
        <p:nvSpPr>
          <p:cNvPr id="18" name="Shape 14"/>
          <p:cNvSpPr/>
          <p:nvPr/>
        </p:nvSpPr>
        <p:spPr>
          <a:xfrm>
            <a:off x="8572500" y="3474720"/>
            <a:ext cx="0" cy="91440"/>
          </a:xfrm>
          <a:prstGeom prst="line">
            <a:avLst/>
          </a:prstGeom>
          <a:noFill/>
          <a:ln w="12700">
            <a:solidFill>
              <a:srgbClr val="000080"/>
            </a:solidFill>
            <a:prstDash val="solid"/>
          </a:ln>
        </p:spPr>
        <p:txBody>
          <a:bodyPr/>
          <a:lstStyle/>
          <a:p>
            <a:endParaRPr lang="ko-KR" altLang="en-US"/>
          </a:p>
        </p:txBody>
      </p:sp>
      <p:sp>
        <p:nvSpPr>
          <p:cNvPr id="19" name="Text 15"/>
          <p:cNvSpPr txBox="1"/>
          <p:nvPr/>
        </p:nvSpPr>
        <p:spPr>
          <a:xfrm>
            <a:off x="82981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3</a:t>
            </a:r>
            <a:endParaRPr lang="en-US" sz="1100" dirty="0"/>
          </a:p>
        </p:txBody>
      </p:sp>
      <p:sp>
        <p:nvSpPr>
          <p:cNvPr id="20" name="Shape 16"/>
          <p:cNvSpPr/>
          <p:nvPr/>
        </p:nvSpPr>
        <p:spPr>
          <a:xfrm>
            <a:off x="9144000" y="3474720"/>
            <a:ext cx="0" cy="91440"/>
          </a:xfrm>
          <a:prstGeom prst="line">
            <a:avLst/>
          </a:prstGeom>
          <a:noFill/>
          <a:ln w="12700">
            <a:solidFill>
              <a:srgbClr val="000080"/>
            </a:solidFill>
            <a:prstDash val="solid"/>
          </a:ln>
        </p:spPr>
        <p:txBody>
          <a:bodyPr/>
          <a:lstStyle/>
          <a:p>
            <a:endParaRPr lang="ko-KR" altLang="en-US"/>
          </a:p>
        </p:txBody>
      </p:sp>
      <p:sp>
        <p:nvSpPr>
          <p:cNvPr id="21" name="Shape 17"/>
          <p:cNvSpPr/>
          <p:nvPr/>
        </p:nvSpPr>
        <p:spPr>
          <a:xfrm>
            <a:off x="9715500" y="3474720"/>
            <a:ext cx="0" cy="91440"/>
          </a:xfrm>
          <a:prstGeom prst="line">
            <a:avLst/>
          </a:prstGeom>
          <a:noFill/>
          <a:ln w="12700">
            <a:solidFill>
              <a:srgbClr val="000080"/>
            </a:solidFill>
            <a:prstDash val="solid"/>
          </a:ln>
        </p:spPr>
        <p:txBody>
          <a:bodyPr/>
          <a:lstStyle/>
          <a:p>
            <a:endParaRPr lang="ko-KR" altLang="en-US"/>
          </a:p>
        </p:txBody>
      </p:sp>
      <p:sp>
        <p:nvSpPr>
          <p:cNvPr id="22" name="Text 18"/>
          <p:cNvSpPr txBox="1"/>
          <p:nvPr/>
        </p:nvSpPr>
        <p:spPr>
          <a:xfrm>
            <a:off x="94411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5</a:t>
            </a:r>
            <a:endParaRPr lang="en-US" sz="1100" dirty="0"/>
          </a:p>
        </p:txBody>
      </p:sp>
      <p:sp>
        <p:nvSpPr>
          <p:cNvPr id="23" name="Shape 19"/>
          <p:cNvSpPr/>
          <p:nvPr/>
        </p:nvSpPr>
        <p:spPr>
          <a:xfrm>
            <a:off x="10287000" y="3474720"/>
            <a:ext cx="0" cy="91440"/>
          </a:xfrm>
          <a:prstGeom prst="line">
            <a:avLst/>
          </a:prstGeom>
          <a:noFill/>
          <a:ln w="12700">
            <a:solidFill>
              <a:srgbClr val="000080"/>
            </a:solidFill>
            <a:prstDash val="solid"/>
          </a:ln>
        </p:spPr>
        <p:txBody>
          <a:bodyPr/>
          <a:lstStyle/>
          <a:p>
            <a:endParaRPr lang="ko-KR" altLang="en-US"/>
          </a:p>
        </p:txBody>
      </p:sp>
      <p:sp>
        <p:nvSpPr>
          <p:cNvPr id="24" name="Shape 20"/>
          <p:cNvSpPr/>
          <p:nvPr/>
        </p:nvSpPr>
        <p:spPr>
          <a:xfrm>
            <a:off x="10858500" y="3474720"/>
            <a:ext cx="0" cy="91440"/>
          </a:xfrm>
          <a:prstGeom prst="line">
            <a:avLst/>
          </a:prstGeom>
          <a:noFill/>
          <a:ln w="12700">
            <a:solidFill>
              <a:srgbClr val="000080"/>
            </a:solidFill>
            <a:prstDash val="solid"/>
          </a:ln>
        </p:spPr>
        <p:txBody>
          <a:bodyPr/>
          <a:lstStyle/>
          <a:p>
            <a:endParaRPr lang="ko-KR" altLang="en-US"/>
          </a:p>
        </p:txBody>
      </p:sp>
      <p:sp>
        <p:nvSpPr>
          <p:cNvPr id="25" name="Text 21"/>
          <p:cNvSpPr txBox="1"/>
          <p:nvPr/>
        </p:nvSpPr>
        <p:spPr>
          <a:xfrm>
            <a:off x="105841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7</a:t>
            </a:r>
            <a:endParaRPr lang="en-US" sz="1100" dirty="0"/>
          </a:p>
        </p:txBody>
      </p:sp>
      <p:sp>
        <p:nvSpPr>
          <p:cNvPr id="26" name="Shape 22"/>
          <p:cNvSpPr/>
          <p:nvPr/>
        </p:nvSpPr>
        <p:spPr>
          <a:xfrm>
            <a:off x="11430000" y="3474720"/>
            <a:ext cx="0" cy="91440"/>
          </a:xfrm>
          <a:prstGeom prst="line">
            <a:avLst/>
          </a:prstGeom>
          <a:noFill/>
          <a:ln w="12700">
            <a:solidFill>
              <a:srgbClr val="000080"/>
            </a:solidFill>
            <a:prstDash val="solid"/>
          </a:ln>
        </p:spPr>
        <p:txBody>
          <a:bodyPr/>
          <a:lstStyle/>
          <a:p>
            <a:endParaRPr lang="ko-KR" altLang="en-US"/>
          </a:p>
        </p:txBody>
      </p:sp>
      <p:sp>
        <p:nvSpPr>
          <p:cNvPr id="27" name="Text 23"/>
          <p:cNvSpPr txBox="1"/>
          <p:nvPr/>
        </p:nvSpPr>
        <p:spPr>
          <a:xfrm>
            <a:off x="111556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8</a:t>
            </a:r>
            <a:endParaRPr lang="en-US" sz="1100" dirty="0"/>
          </a:p>
        </p:txBody>
      </p:sp>
      <p:sp>
        <p:nvSpPr>
          <p:cNvPr id="28" name="Text 24"/>
          <p:cNvSpPr txBox="1"/>
          <p:nvPr/>
        </p:nvSpPr>
        <p:spPr>
          <a:xfrm>
            <a:off x="6675120" y="4069080"/>
            <a:ext cx="4937760" cy="731520"/>
          </a:xfrm>
          <a:prstGeom prst="rect">
            <a:avLst/>
          </a:prstGeom>
          <a:noFill/>
          <a:ln/>
        </p:spPr>
        <p:txBody>
          <a:bodyPr wrap="square" lIns="0" tIns="0" rIns="0" bIns="0" rtlCol="0" anchor="t"/>
          <a:lstStyle/>
          <a:p>
            <a:pPr marL="0" indent="0">
              <a:buNone/>
            </a:pPr>
            <a:r>
              <a:rPr lang="en-US" sz="3000" b="1" dirty="0">
                <a:solidFill>
                  <a:srgbClr val="000080"/>
                </a:solidFill>
                <a:latin typeface="Arial" pitchFamily="34" charset="0"/>
                <a:ea typeface="Arial" pitchFamily="34" charset="-122"/>
                <a:cs typeface="Arial" pitchFamily="34" charset="-120"/>
              </a:rPr>
              <a:t>1 : 10</a:t>
            </a:r>
            <a:r>
              <a:rPr lang="en-US" sz="3000" b="1" baseline="30000" dirty="0">
                <a:solidFill>
                  <a:srgbClr val="000080"/>
                </a:solidFill>
                <a:latin typeface="Arial" pitchFamily="34" charset="0"/>
                <a:ea typeface="Arial" pitchFamily="34" charset="-122"/>
                <a:cs typeface="Arial" pitchFamily="34" charset="-120"/>
              </a:rPr>
              <a:t>3</a:t>
            </a:r>
            <a:r>
              <a:rPr lang="en-US" sz="3000" b="1" dirty="0">
                <a:solidFill>
                  <a:srgbClr val="000080"/>
                </a:solidFill>
                <a:latin typeface="Arial" pitchFamily="34" charset="0"/>
                <a:ea typeface="Arial" pitchFamily="34" charset="-122"/>
                <a:cs typeface="Arial" pitchFamily="34" charset="-120"/>
              </a:rPr>
              <a:t> – 10</a:t>
            </a:r>
            <a:r>
              <a:rPr lang="en-US" sz="3000" b="1" baseline="30000" dirty="0">
                <a:solidFill>
                  <a:srgbClr val="000080"/>
                </a:solidFill>
                <a:latin typeface="Arial" pitchFamily="34" charset="0"/>
                <a:ea typeface="Arial" pitchFamily="34" charset="-122"/>
                <a:cs typeface="Arial" pitchFamily="34" charset="-120"/>
              </a:rPr>
              <a:t>7</a:t>
            </a:r>
            <a:endParaRPr lang="en-US" sz="3000" dirty="0"/>
          </a:p>
        </p:txBody>
      </p:sp>
      <p:sp>
        <p:nvSpPr>
          <p:cNvPr id="29" name="Shape 25"/>
          <p:cNvSpPr/>
          <p:nvPr/>
        </p:nvSpPr>
        <p:spPr>
          <a:xfrm>
            <a:off x="548640" y="534924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30" name="Text 26"/>
          <p:cNvSpPr txBox="1"/>
          <p:nvPr/>
        </p:nvSpPr>
        <p:spPr>
          <a:xfrm>
            <a:off x="548640" y="534924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검출 폭</a:t>
            </a:r>
            <a:endParaRPr lang="en-US" sz="1400" dirty="0"/>
          </a:p>
        </p:txBody>
      </p:sp>
      <p:sp>
        <p:nvSpPr>
          <p:cNvPr id="31" name="Shape 27"/>
          <p:cNvSpPr/>
          <p:nvPr/>
        </p:nvSpPr>
        <p:spPr>
          <a:xfrm>
            <a:off x="4312920" y="534924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32" name="Text 28"/>
          <p:cNvSpPr txBox="1"/>
          <p:nvPr/>
        </p:nvSpPr>
        <p:spPr>
          <a:xfrm>
            <a:off x="4312920" y="534924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민감도</a:t>
            </a:r>
            <a:endParaRPr lang="en-US" sz="1400" dirty="0"/>
          </a:p>
        </p:txBody>
      </p:sp>
      <p:sp>
        <p:nvSpPr>
          <p:cNvPr id="33" name="Shape 29"/>
          <p:cNvSpPr/>
          <p:nvPr/>
        </p:nvSpPr>
        <p:spPr>
          <a:xfrm>
            <a:off x="8077200" y="5349240"/>
            <a:ext cx="3535680" cy="502920"/>
          </a:xfrm>
          <a:prstGeom prst="roundRect">
            <a:avLst>
              <a:gd name="adj" fmla="val 14545"/>
            </a:avLst>
          </a:prstGeom>
          <a:solidFill>
            <a:srgbClr val="FFA500"/>
          </a:solidFill>
          <a:ln w="12700">
            <a:solidFill>
              <a:srgbClr val="FFA500"/>
            </a:solidFill>
            <a:prstDash val="solid"/>
          </a:ln>
        </p:spPr>
        <p:txBody>
          <a:bodyPr/>
          <a:lstStyle/>
          <a:p>
            <a:endParaRPr lang="ko-KR" altLang="en-US"/>
          </a:p>
        </p:txBody>
      </p:sp>
      <p:sp>
        <p:nvSpPr>
          <p:cNvPr id="34" name="Text 30"/>
          <p:cNvSpPr txBox="1"/>
          <p:nvPr/>
        </p:nvSpPr>
        <p:spPr>
          <a:xfrm>
            <a:off x="8077200" y="534924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In vivo 대체 지지</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성능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1 copy / assay</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Hirai T, Kataoka K, Yuan Y, Yusa K, Sato Y, Uchida K, Kono K. Biologicals 2024;85:101739 (doi:10.1016/j.biologicals.2023.101739)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39</a:t>
            </a:r>
            <a:endParaRPr lang="en-US" sz="900" dirty="0"/>
          </a:p>
        </p:txBody>
      </p:sp>
      <p:sp>
        <p:nvSpPr>
          <p:cNvPr id="8" name="Shape 5"/>
          <p:cNvSpPr/>
          <p:nvPr/>
        </p:nvSpPr>
        <p:spPr>
          <a:xfrm>
            <a:off x="502920" y="1783080"/>
            <a:ext cx="3108960" cy="1737360"/>
          </a:xfrm>
          <a:prstGeom prst="rect">
            <a:avLst/>
          </a:prstGeom>
          <a:solidFill>
            <a:srgbClr val="FFA500"/>
          </a:solidFill>
          <a:ln w="12700">
            <a:solidFill>
              <a:srgbClr val="FFA500"/>
            </a:solidFill>
            <a:prstDash val="solid"/>
          </a:ln>
        </p:spPr>
        <p:txBody>
          <a:bodyPr/>
          <a:lstStyle/>
          <a:p>
            <a:endParaRPr lang="ko-KR" altLang="en-US"/>
          </a:p>
        </p:txBody>
      </p:sp>
      <p:sp>
        <p:nvSpPr>
          <p:cNvPr id="9" name="Text 6"/>
          <p:cNvSpPr txBox="1"/>
          <p:nvPr/>
        </p:nvSpPr>
        <p:spPr>
          <a:xfrm>
            <a:off x="548640" y="1645920"/>
            <a:ext cx="3017520" cy="2011680"/>
          </a:xfrm>
          <a:prstGeom prst="rect">
            <a:avLst/>
          </a:prstGeom>
          <a:noFill/>
          <a:ln/>
        </p:spPr>
        <p:txBody>
          <a:bodyPr wrap="square" lIns="0" tIns="0" rIns="0" bIns="0" rtlCol="0" anchor="ctr"/>
          <a:lstStyle/>
          <a:p>
            <a:pPr marL="0" indent="0" algn="ctr">
              <a:buNone/>
            </a:pPr>
            <a:r>
              <a:rPr lang="en-US" sz="15000" b="1" dirty="0">
                <a:solidFill>
                  <a:srgbClr val="000080"/>
                </a:solidFill>
                <a:latin typeface="Arial" pitchFamily="34" charset="0"/>
                <a:ea typeface="Arial" pitchFamily="34" charset="-122"/>
                <a:cs typeface="Arial" pitchFamily="34" charset="-120"/>
              </a:rPr>
              <a:t>1</a:t>
            </a:r>
            <a:endParaRPr lang="en-US" sz="15000" dirty="0"/>
          </a:p>
        </p:txBody>
      </p:sp>
      <p:sp>
        <p:nvSpPr>
          <p:cNvPr id="10" name="Text 7"/>
          <p:cNvSpPr txBox="1"/>
          <p:nvPr/>
        </p:nvSpPr>
        <p:spPr>
          <a:xfrm>
            <a:off x="3840480" y="2194560"/>
            <a:ext cx="3840480" cy="640080"/>
          </a:xfrm>
          <a:prstGeom prst="rect">
            <a:avLst/>
          </a:prstGeom>
          <a:noFill/>
          <a:ln/>
        </p:spPr>
        <p:txBody>
          <a:bodyPr wrap="square" lIns="0" tIns="0" rIns="0" bIns="0" rtlCol="0" anchor="t"/>
          <a:lstStyle/>
          <a:p>
            <a:pPr marL="0" indent="0">
              <a:buNone/>
            </a:pPr>
            <a:r>
              <a:rPr lang="en-US" sz="3000" b="1" dirty="0">
                <a:solidFill>
                  <a:srgbClr val="000080"/>
                </a:solidFill>
                <a:latin typeface="Arial" pitchFamily="34" charset="0"/>
                <a:ea typeface="Arial" pitchFamily="34" charset="-122"/>
                <a:cs typeface="Arial" pitchFamily="34" charset="-120"/>
              </a:rPr>
              <a:t>copy / assay</a:t>
            </a:r>
            <a:endParaRPr lang="en-US" sz="3000" dirty="0"/>
          </a:p>
        </p:txBody>
      </p:sp>
      <p:sp>
        <p:nvSpPr>
          <p:cNvPr id="11" name="Text 8"/>
          <p:cNvSpPr txBox="1"/>
          <p:nvPr/>
        </p:nvSpPr>
        <p:spPr>
          <a:xfrm>
            <a:off x="3840480" y="2880360"/>
            <a:ext cx="7680960" cy="411480"/>
          </a:xfrm>
          <a:prstGeom prst="rect">
            <a:avLst/>
          </a:prstGeom>
          <a:noFill/>
          <a:ln/>
        </p:spPr>
        <p:txBody>
          <a:bodyPr wrap="square" lIns="0" tIns="0" rIns="0" bIns="0" rtlCol="0" anchor="t"/>
          <a:lstStyle/>
          <a:p>
            <a:pPr marL="0" indent="0">
              <a:buNone/>
            </a:pPr>
            <a:r>
              <a:rPr lang="en-US" sz="1400" dirty="0">
                <a:solidFill>
                  <a:srgbClr val="595959"/>
                </a:solidFill>
                <a:latin typeface="Malgun Gothic" pitchFamily="34" charset="0"/>
                <a:ea typeface="Malgun Gothic" pitchFamily="34" charset="-122"/>
                <a:cs typeface="Malgun Gothic" pitchFamily="34" charset="-120"/>
              </a:rPr>
              <a:t>검출 한계 · Vero + adenovirus 5 RNA 희석계열</a:t>
            </a:r>
            <a:endParaRPr lang="en-US" sz="1400" dirty="0"/>
          </a:p>
        </p:txBody>
      </p:sp>
      <p:sp>
        <p:nvSpPr>
          <p:cNvPr id="12" name="Shape 9"/>
          <p:cNvSpPr/>
          <p:nvPr/>
        </p:nvSpPr>
        <p:spPr>
          <a:xfrm>
            <a:off x="548640" y="3931920"/>
            <a:ext cx="3291840" cy="1097280"/>
          </a:xfrm>
          <a:prstGeom prst="rect">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548640" y="4005072"/>
            <a:ext cx="3291840" cy="548640"/>
          </a:xfrm>
          <a:prstGeom prst="rect">
            <a:avLst/>
          </a:prstGeom>
          <a:noFill/>
          <a:ln/>
        </p:spPr>
        <p:txBody>
          <a:bodyPr wrap="square" lIns="0" tIns="0" rIns="0" bIns="0" rtlCol="0" anchor="t"/>
          <a:lstStyle/>
          <a:p>
            <a:pPr marL="0" indent="0" algn="ctr">
              <a:buNone/>
            </a:pPr>
            <a:r>
              <a:rPr lang="en-US" sz="2200" b="1" dirty="0">
                <a:solidFill>
                  <a:srgbClr val="000080"/>
                </a:solidFill>
                <a:latin typeface="Arial" pitchFamily="34" charset="0"/>
                <a:ea typeface="Arial" pitchFamily="34" charset="-122"/>
                <a:cs typeface="Arial" pitchFamily="34" charset="-120"/>
              </a:rPr>
              <a:t>Short-read</a:t>
            </a:r>
            <a:endParaRPr lang="en-US" sz="2200" dirty="0"/>
          </a:p>
        </p:txBody>
      </p:sp>
      <p:sp>
        <p:nvSpPr>
          <p:cNvPr id="14" name="Text 11"/>
          <p:cNvSpPr txBox="1"/>
          <p:nvPr/>
        </p:nvSpPr>
        <p:spPr>
          <a:xfrm>
            <a:off x="548640" y="4526280"/>
            <a:ext cx="3291840" cy="36576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짧은 read 플랫폼</a:t>
            </a:r>
            <a:endParaRPr lang="en-US" sz="1200" dirty="0"/>
          </a:p>
        </p:txBody>
      </p:sp>
      <p:sp>
        <p:nvSpPr>
          <p:cNvPr id="15" name="Shape 12"/>
          <p:cNvSpPr/>
          <p:nvPr/>
        </p:nvSpPr>
        <p:spPr>
          <a:xfrm>
            <a:off x="4754880" y="3931920"/>
            <a:ext cx="3291840" cy="1097280"/>
          </a:xfrm>
          <a:prstGeom prst="rect">
            <a:avLst/>
          </a:prstGeom>
          <a:solidFill>
            <a:srgbClr val="F2F2F2"/>
          </a:solidFill>
          <a:ln w="12700">
            <a:solidFill>
              <a:srgbClr val="F2F2F2"/>
            </a:solidFill>
            <a:prstDash val="solid"/>
          </a:ln>
        </p:spPr>
        <p:txBody>
          <a:bodyPr/>
          <a:lstStyle/>
          <a:p>
            <a:endParaRPr lang="ko-KR" altLang="en-US"/>
          </a:p>
        </p:txBody>
      </p:sp>
      <p:sp>
        <p:nvSpPr>
          <p:cNvPr id="16" name="Text 13"/>
          <p:cNvSpPr txBox="1"/>
          <p:nvPr/>
        </p:nvSpPr>
        <p:spPr>
          <a:xfrm>
            <a:off x="4754880" y="4005072"/>
            <a:ext cx="3291840" cy="548640"/>
          </a:xfrm>
          <a:prstGeom prst="rect">
            <a:avLst/>
          </a:prstGeom>
          <a:noFill/>
          <a:ln/>
        </p:spPr>
        <p:txBody>
          <a:bodyPr wrap="square" lIns="0" tIns="0" rIns="0" bIns="0" rtlCol="0" anchor="t"/>
          <a:lstStyle/>
          <a:p>
            <a:pPr marL="0" indent="0" algn="ctr">
              <a:buNone/>
            </a:pPr>
            <a:r>
              <a:rPr lang="en-US" sz="2200" b="1" dirty="0">
                <a:solidFill>
                  <a:srgbClr val="000080"/>
                </a:solidFill>
                <a:latin typeface="Arial" pitchFamily="34" charset="0"/>
                <a:ea typeface="Arial" pitchFamily="34" charset="-122"/>
                <a:cs typeface="Arial" pitchFamily="34" charset="-120"/>
              </a:rPr>
              <a:t>Long-read</a:t>
            </a:r>
            <a:endParaRPr lang="en-US" sz="2200" dirty="0"/>
          </a:p>
        </p:txBody>
      </p:sp>
      <p:sp>
        <p:nvSpPr>
          <p:cNvPr id="17" name="Text 14"/>
          <p:cNvSpPr txBox="1"/>
          <p:nvPr/>
        </p:nvSpPr>
        <p:spPr>
          <a:xfrm>
            <a:off x="4754880" y="4526280"/>
            <a:ext cx="3291840" cy="36576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Oxford Nanopore</a:t>
            </a:r>
            <a:endParaRPr lang="en-US" sz="1200" dirty="0"/>
          </a:p>
        </p:txBody>
      </p:sp>
      <p:sp>
        <p:nvSpPr>
          <p:cNvPr id="18" name="Text 15"/>
          <p:cNvSpPr txBox="1"/>
          <p:nvPr/>
        </p:nvSpPr>
        <p:spPr>
          <a:xfrm>
            <a:off x="3840480" y="3931920"/>
            <a:ext cx="914400" cy="1097280"/>
          </a:xfrm>
          <a:prstGeom prst="rect">
            <a:avLst/>
          </a:prstGeom>
          <a:noFill/>
          <a:ln/>
        </p:spPr>
        <p:txBody>
          <a:bodyPr wrap="square" lIns="0" tIns="0" rIns="0" bIns="0" rtlCol="0" anchor="ctr"/>
          <a:lstStyle/>
          <a:p>
            <a:pPr marL="0" indent="0" algn="ctr">
              <a:buNone/>
            </a:pPr>
            <a:r>
              <a:rPr lang="en-US" sz="4400" b="1" dirty="0">
                <a:solidFill>
                  <a:srgbClr val="000080"/>
                </a:solidFill>
                <a:latin typeface="Arial" pitchFamily="34" charset="0"/>
                <a:ea typeface="Arial" pitchFamily="34" charset="-122"/>
                <a:cs typeface="Arial" pitchFamily="34" charset="-120"/>
              </a:rPr>
              <a:t>≈</a:t>
            </a:r>
            <a:endParaRPr lang="en-US" sz="4400" dirty="0"/>
          </a:p>
        </p:txBody>
      </p:sp>
      <p:sp>
        <p:nvSpPr>
          <p:cNvPr id="19" name="Text 16"/>
          <p:cNvSpPr txBox="1"/>
          <p:nvPr/>
        </p:nvSpPr>
        <p:spPr>
          <a:xfrm>
            <a:off x="8595360" y="3931920"/>
            <a:ext cx="3017520" cy="1097280"/>
          </a:xfrm>
          <a:prstGeom prst="rect">
            <a:avLst/>
          </a:prstGeom>
          <a:noFill/>
          <a:ln/>
        </p:spPr>
        <p:txBody>
          <a:bodyPr wrap="square" lIns="0" tIns="0" rIns="0" bIns="0" rtlCol="0" anchor="ctr"/>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검출 한계 거의 동일</a:t>
            </a:r>
            <a:endParaRPr lang="en-US" sz="1800" dirty="0"/>
          </a:p>
        </p:txBody>
      </p:sp>
      <p:sp>
        <p:nvSpPr>
          <p:cNvPr id="20" name="Shape 17"/>
          <p:cNvSpPr/>
          <p:nvPr/>
        </p:nvSpPr>
        <p:spPr>
          <a:xfrm>
            <a:off x="548640" y="539496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1" name="Text 18"/>
          <p:cNvSpPr txBox="1"/>
          <p:nvPr/>
        </p:nvSpPr>
        <p:spPr>
          <a:xfrm>
            <a:off x="548640" y="539496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지시세포 RNA 희석</a:t>
            </a:r>
            <a:endParaRPr lang="en-US" sz="1400" dirty="0"/>
          </a:p>
        </p:txBody>
      </p:sp>
      <p:sp>
        <p:nvSpPr>
          <p:cNvPr id="22" name="Shape 19"/>
          <p:cNvSpPr/>
          <p:nvPr/>
        </p:nvSpPr>
        <p:spPr>
          <a:xfrm>
            <a:off x="4312920" y="539496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3" name="Text 20"/>
          <p:cNvSpPr txBox="1"/>
          <p:nvPr/>
        </p:nvSpPr>
        <p:spPr>
          <a:xfrm>
            <a:off x="4312920" y="539496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플랫폼 간 동등</a:t>
            </a:r>
            <a:endParaRPr lang="en-US" sz="1400" dirty="0"/>
          </a:p>
        </p:txBody>
      </p:sp>
      <p:sp>
        <p:nvSpPr>
          <p:cNvPr id="24" name="Shape 21"/>
          <p:cNvSpPr/>
          <p:nvPr/>
        </p:nvSpPr>
        <p:spPr>
          <a:xfrm>
            <a:off x="8077200" y="539496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5" name="Text 22"/>
          <p:cNvSpPr txBox="1"/>
          <p:nvPr/>
        </p:nvSpPr>
        <p:spPr>
          <a:xfrm>
            <a:off x="8077200" y="539496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In vitro 시험 보완 근거</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구현</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이미 교체했다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Alston A, Bova RA, Hasson B. Biologicals 2025;90:101828 (doi:10.1016/j.biologicals.2025.101828) · ICH Q5A(R2) §3.2.5.2</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40</a:t>
            </a:r>
            <a:endParaRPr lang="en-US" sz="900" dirty="0"/>
          </a:p>
        </p:txBody>
      </p:sp>
      <p:sp>
        <p:nvSpPr>
          <p:cNvPr id="8" name="Text 5"/>
          <p:cNvSpPr txBox="1"/>
          <p:nvPr/>
        </p:nvSpPr>
        <p:spPr>
          <a:xfrm>
            <a:off x="548640" y="1645920"/>
            <a:ext cx="7315200" cy="411480"/>
          </a:xfrm>
          <a:prstGeom prst="rect">
            <a:avLst/>
          </a:prstGeom>
          <a:noFill/>
          <a:ln/>
        </p:spPr>
        <p:txBody>
          <a:bodyPr wrap="square" lIns="0" tIns="0" rIns="0" bIns="0" rtlCol="0" anchor="t"/>
          <a:lstStyle/>
          <a:p>
            <a:pPr marL="0" indent="0">
              <a:buNone/>
            </a:pPr>
            <a:r>
              <a:rPr lang="en-US" sz="1600" dirty="0">
                <a:solidFill>
                  <a:srgbClr val="595959"/>
                </a:solidFill>
                <a:latin typeface="Malgun Gothic" pitchFamily="34" charset="0"/>
                <a:ea typeface="Malgun Gothic" pitchFamily="34" charset="-122"/>
                <a:cs typeface="Malgun Gothic" pitchFamily="34" charset="-120"/>
              </a:rPr>
              <a:t>상용 LAIV · 로트 출하시험</a:t>
            </a:r>
            <a:endParaRPr lang="en-US" sz="1600" dirty="0"/>
          </a:p>
        </p:txBody>
      </p:sp>
      <p:sp>
        <p:nvSpPr>
          <p:cNvPr id="9" name="Shape 6"/>
          <p:cNvSpPr/>
          <p:nvPr/>
        </p:nvSpPr>
        <p:spPr>
          <a:xfrm>
            <a:off x="548640" y="2286000"/>
            <a:ext cx="3200400" cy="1371600"/>
          </a:xfrm>
          <a:prstGeom prst="rect">
            <a:avLst/>
          </a:prstGeom>
          <a:solidFill>
            <a:srgbClr val="F2F2F2"/>
          </a:solidFill>
          <a:ln w="12700">
            <a:solidFill>
              <a:srgbClr val="F2F2F2"/>
            </a:solidFill>
            <a:prstDash val="solid"/>
          </a:ln>
        </p:spPr>
        <p:txBody>
          <a:bodyPr/>
          <a:lstStyle/>
          <a:p>
            <a:endParaRPr lang="ko-KR" altLang="en-US"/>
          </a:p>
        </p:txBody>
      </p:sp>
      <p:sp>
        <p:nvSpPr>
          <p:cNvPr id="10" name="Text 7"/>
          <p:cNvSpPr txBox="1"/>
          <p:nvPr/>
        </p:nvSpPr>
        <p:spPr>
          <a:xfrm>
            <a:off x="548640" y="2286000"/>
            <a:ext cx="3200400" cy="1371600"/>
          </a:xfrm>
          <a:prstGeom prst="rect">
            <a:avLst/>
          </a:prstGeom>
          <a:noFill/>
          <a:ln/>
        </p:spPr>
        <p:txBody>
          <a:bodyPr wrap="square" lIns="0" tIns="0" rIns="0" bIns="0" rtlCol="0" anchor="ctr"/>
          <a:lstStyle/>
          <a:p>
            <a:pPr marL="0" indent="0" algn="ctr">
              <a:buNone/>
            </a:pPr>
            <a:r>
              <a:rPr lang="en-US" sz="1800" b="1" dirty="0">
                <a:solidFill>
                  <a:srgbClr val="7F7F7F"/>
                </a:solidFill>
                <a:latin typeface="Malgun Gothic" pitchFamily="34" charset="0"/>
                <a:ea typeface="Malgun Gothic" pitchFamily="34" charset="-122"/>
                <a:cs typeface="Malgun Gothic" pitchFamily="34" charset="-120"/>
              </a:rPr>
              <a:t>In vivo</a:t>
            </a:r>
            <a:endParaRPr lang="en-US" sz="1800" dirty="0"/>
          </a:p>
          <a:p>
            <a:pPr marL="0" indent="0" algn="ctr">
              <a:buNone/>
            </a:pPr>
            <a:r>
              <a:rPr lang="en-US" sz="1800" b="1" dirty="0">
                <a:solidFill>
                  <a:srgbClr val="7F7F7F"/>
                </a:solidFill>
                <a:latin typeface="Malgun Gothic" pitchFamily="34" charset="0"/>
                <a:ea typeface="Malgun Gothic" pitchFamily="34" charset="-122"/>
                <a:cs typeface="Malgun Gothic" pitchFamily="34" charset="-120"/>
              </a:rPr>
              <a:t>외래성 인자 시험</a:t>
            </a:r>
            <a:endParaRPr lang="en-US" sz="1800" dirty="0"/>
          </a:p>
        </p:txBody>
      </p:sp>
      <p:sp>
        <p:nvSpPr>
          <p:cNvPr id="11" name="Shape 8"/>
          <p:cNvSpPr/>
          <p:nvPr/>
        </p:nvSpPr>
        <p:spPr>
          <a:xfrm>
            <a:off x="3886200" y="2971800"/>
            <a:ext cx="731520" cy="0"/>
          </a:xfrm>
          <a:prstGeom prst="line">
            <a:avLst/>
          </a:prstGeom>
          <a:noFill/>
          <a:ln w="19050">
            <a:solidFill>
              <a:srgbClr val="000080"/>
            </a:solidFill>
            <a:prstDash val="solid"/>
            <a:tailEnd type="triangle"/>
          </a:ln>
        </p:spPr>
        <p:txBody>
          <a:bodyPr/>
          <a:lstStyle/>
          <a:p>
            <a:endParaRPr lang="ko-KR" altLang="en-US"/>
          </a:p>
        </p:txBody>
      </p:sp>
      <p:sp>
        <p:nvSpPr>
          <p:cNvPr id="12" name="Shape 9"/>
          <p:cNvSpPr/>
          <p:nvPr/>
        </p:nvSpPr>
        <p:spPr>
          <a:xfrm>
            <a:off x="4754880" y="2286000"/>
            <a:ext cx="3200400" cy="1371600"/>
          </a:xfrm>
          <a:prstGeom prst="rect">
            <a:avLst/>
          </a:prstGeom>
          <a:solidFill>
            <a:srgbClr val="FFA500"/>
          </a:solidFill>
          <a:ln w="12700">
            <a:solidFill>
              <a:srgbClr val="FFA500"/>
            </a:solidFill>
            <a:prstDash val="solid"/>
          </a:ln>
        </p:spPr>
        <p:txBody>
          <a:bodyPr/>
          <a:lstStyle/>
          <a:p>
            <a:endParaRPr lang="ko-KR" altLang="en-US"/>
          </a:p>
        </p:txBody>
      </p:sp>
      <p:sp>
        <p:nvSpPr>
          <p:cNvPr id="13" name="Text 10"/>
          <p:cNvSpPr txBox="1"/>
          <p:nvPr/>
        </p:nvSpPr>
        <p:spPr>
          <a:xfrm>
            <a:off x="4754880" y="2286000"/>
            <a:ext cx="3200400" cy="1371600"/>
          </a:xfrm>
          <a:prstGeom prst="rect">
            <a:avLst/>
          </a:prstGeom>
          <a:noFill/>
          <a:ln/>
        </p:spPr>
        <p:txBody>
          <a:bodyPr wrap="square" lIns="0" tIns="0" rIns="0" bIns="0" rtlCol="0" anchor="ctr"/>
          <a:lstStyle/>
          <a:p>
            <a:pPr marL="0" indent="0" algn="ctr">
              <a:buNone/>
            </a:pPr>
            <a:r>
              <a:rPr lang="en-US" sz="1800" b="1" dirty="0">
                <a:solidFill>
                  <a:srgbClr val="000080"/>
                </a:solidFill>
                <a:latin typeface="Malgun Gothic" pitchFamily="34" charset="0"/>
                <a:ea typeface="Malgun Gothic" pitchFamily="34" charset="-122"/>
                <a:cs typeface="Malgun Gothic" pitchFamily="34" charset="-120"/>
              </a:rPr>
              <a:t>NGS</a:t>
            </a:r>
            <a:endParaRPr lang="en-US" sz="1800" dirty="0"/>
          </a:p>
          <a:p>
            <a:pPr marL="0" indent="0" algn="ctr">
              <a:buNone/>
            </a:pPr>
            <a:r>
              <a:rPr lang="en-US" sz="1800" b="1" dirty="0">
                <a:solidFill>
                  <a:srgbClr val="000080"/>
                </a:solidFill>
                <a:latin typeface="Malgun Gothic" pitchFamily="34" charset="0"/>
                <a:ea typeface="Malgun Gothic" pitchFamily="34" charset="-122"/>
                <a:cs typeface="Malgun Gothic" pitchFamily="34" charset="-120"/>
              </a:rPr>
              <a:t>외래성 인자 검출</a:t>
            </a:r>
            <a:endParaRPr lang="en-US" sz="1800" dirty="0"/>
          </a:p>
        </p:txBody>
      </p:sp>
      <p:sp>
        <p:nvSpPr>
          <p:cNvPr id="14" name="Text 11"/>
          <p:cNvSpPr txBox="1"/>
          <p:nvPr/>
        </p:nvSpPr>
        <p:spPr>
          <a:xfrm>
            <a:off x="548640" y="4069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5" name="Text 12"/>
          <p:cNvSpPr txBox="1"/>
          <p:nvPr/>
        </p:nvSpPr>
        <p:spPr>
          <a:xfrm>
            <a:off x="1051560" y="4032504"/>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상용 생백신</a:t>
            </a:r>
            <a:endParaRPr lang="en-US" sz="1800" dirty="0"/>
          </a:p>
        </p:txBody>
      </p:sp>
      <p:sp>
        <p:nvSpPr>
          <p:cNvPr id="16" name="Text 13"/>
          <p:cNvSpPr txBox="1"/>
          <p:nvPr/>
        </p:nvSpPr>
        <p:spPr>
          <a:xfrm>
            <a:off x="1051560" y="4416552"/>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LAIV 로트별 시험</a:t>
            </a:r>
            <a:endParaRPr lang="en-US" sz="1150" dirty="0"/>
          </a:p>
        </p:txBody>
      </p:sp>
      <p:sp>
        <p:nvSpPr>
          <p:cNvPr id="17" name="Shape 14"/>
          <p:cNvSpPr/>
          <p:nvPr/>
        </p:nvSpPr>
        <p:spPr>
          <a:xfrm>
            <a:off x="548640" y="4599432"/>
            <a:ext cx="7406640" cy="0"/>
          </a:xfrm>
          <a:prstGeom prst="line">
            <a:avLst/>
          </a:prstGeom>
          <a:noFill/>
          <a:ln w="9525">
            <a:solidFill>
              <a:srgbClr val="D9D9D9"/>
            </a:solidFill>
            <a:prstDash val="solid"/>
          </a:ln>
        </p:spPr>
        <p:txBody>
          <a:bodyPr/>
          <a:lstStyle/>
          <a:p>
            <a:endParaRPr lang="ko-KR" altLang="en-US"/>
          </a:p>
        </p:txBody>
      </p:sp>
      <p:sp>
        <p:nvSpPr>
          <p:cNvPr id="18" name="Text 15"/>
          <p:cNvSpPr txBox="1"/>
          <p:nvPr/>
        </p:nvSpPr>
        <p:spPr>
          <a:xfrm>
            <a:off x="548640" y="4727448"/>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9" name="Text 16"/>
          <p:cNvSpPr txBox="1"/>
          <p:nvPr/>
        </p:nvSpPr>
        <p:spPr>
          <a:xfrm>
            <a:off x="1051560" y="4690872"/>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매트릭스 spike · LoD</a:t>
            </a:r>
            <a:endParaRPr lang="en-US" sz="1800" dirty="0"/>
          </a:p>
        </p:txBody>
      </p:sp>
      <p:sp>
        <p:nvSpPr>
          <p:cNvPr id="20" name="Text 17"/>
          <p:cNvSpPr txBox="1"/>
          <p:nvPr/>
        </p:nvSpPr>
        <p:spPr>
          <a:xfrm>
            <a:off x="1051560" y="5074920"/>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제품 기반 밸리데이션</a:t>
            </a:r>
            <a:endParaRPr lang="en-US" sz="1150" dirty="0"/>
          </a:p>
        </p:txBody>
      </p:sp>
      <p:sp>
        <p:nvSpPr>
          <p:cNvPr id="21" name="Shape 18"/>
          <p:cNvSpPr/>
          <p:nvPr/>
        </p:nvSpPr>
        <p:spPr>
          <a:xfrm>
            <a:off x="548640" y="5257800"/>
            <a:ext cx="7406640" cy="0"/>
          </a:xfrm>
          <a:prstGeom prst="line">
            <a:avLst/>
          </a:prstGeom>
          <a:noFill/>
          <a:ln w="9525">
            <a:solidFill>
              <a:srgbClr val="D9D9D9"/>
            </a:solidFill>
            <a:prstDash val="solid"/>
          </a:ln>
        </p:spPr>
        <p:txBody>
          <a:bodyPr/>
          <a:lstStyle/>
          <a:p>
            <a:endParaRPr lang="ko-KR" altLang="en-US"/>
          </a:p>
        </p:txBody>
      </p:sp>
      <p:sp>
        <p:nvSpPr>
          <p:cNvPr id="22" name="Text 19"/>
          <p:cNvSpPr txBox="1"/>
          <p:nvPr/>
        </p:nvSpPr>
        <p:spPr>
          <a:xfrm>
            <a:off x="548640" y="5385816"/>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03</a:t>
            </a:r>
            <a:endParaRPr lang="en-US" sz="1200" dirty="0"/>
          </a:p>
        </p:txBody>
      </p:sp>
      <p:sp>
        <p:nvSpPr>
          <p:cNvPr id="23" name="Text 20"/>
          <p:cNvSpPr txBox="1"/>
          <p:nvPr/>
        </p:nvSpPr>
        <p:spPr>
          <a:xfrm>
            <a:off x="1051560" y="5349240"/>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ICH Q5A(R2) 근거</a:t>
            </a:r>
            <a:endParaRPr lang="en-US" sz="1800" dirty="0"/>
          </a:p>
        </p:txBody>
      </p:sp>
      <p:sp>
        <p:nvSpPr>
          <p:cNvPr id="24" name="Text 21"/>
          <p:cNvSpPr txBox="1"/>
          <p:nvPr/>
        </p:nvSpPr>
        <p:spPr>
          <a:xfrm>
            <a:off x="1051560" y="5733288"/>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§3.2.5.2</a:t>
            </a:r>
            <a:endParaRPr lang="en-US" sz="1150" dirty="0"/>
          </a:p>
        </p:txBody>
      </p:sp>
      <p:sp>
        <p:nvSpPr>
          <p:cNvPr id="25" name="Shape 22"/>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26" name="Text 23"/>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Biologicals · 2025</a:t>
            </a:r>
            <a:endParaRPr lang="en-US" sz="1100" dirty="0"/>
          </a:p>
        </p:txBody>
      </p:sp>
      <p:sp>
        <p:nvSpPr>
          <p:cNvPr id="27" name="Text 24"/>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Validation of a Next Generation Sequencing Method for adventitious agents detection in a live vaccine matrix</a:t>
            </a:r>
            <a:endParaRPr lang="en-US" sz="1050" dirty="0"/>
          </a:p>
        </p:txBody>
      </p:sp>
      <p:sp>
        <p:nvSpPr>
          <p:cNvPr id="28" name="Text 25"/>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Alston A, Bova RA, Hasson B</a:t>
            </a:r>
            <a:endParaRPr lang="en-US" sz="900" dirty="0"/>
          </a:p>
        </p:txBody>
      </p:sp>
      <p:sp>
        <p:nvSpPr>
          <p:cNvPr id="29" name="Shape 26"/>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30" name="Text 27"/>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구현</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합의에 이르기까지</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Mallet L, Gisonni-Lex L. PDA J Pharm Sci Technol 2014;68:556 · IABS 보고 Biologicals 2018;55:1 / 2020;67:94 / 2023;83:101696 · Khan AS et al. Biologicals 2025;92:101859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41</a:t>
            </a:r>
            <a:endParaRPr lang="en-US" sz="900" dirty="0"/>
          </a:p>
        </p:txBody>
      </p:sp>
      <p:sp>
        <p:nvSpPr>
          <p:cNvPr id="8" name="Shape 5"/>
          <p:cNvSpPr/>
          <p:nvPr/>
        </p:nvSpPr>
        <p:spPr>
          <a:xfrm>
            <a:off x="822960" y="2697480"/>
            <a:ext cx="10515600" cy="0"/>
          </a:xfrm>
          <a:prstGeom prst="line">
            <a:avLst/>
          </a:prstGeom>
          <a:noFill/>
          <a:ln w="25400">
            <a:solidFill>
              <a:srgbClr val="000080"/>
            </a:solidFill>
            <a:prstDash val="solid"/>
          </a:ln>
        </p:spPr>
        <p:txBody>
          <a:bodyPr/>
          <a:lstStyle/>
          <a:p>
            <a:endParaRPr lang="ko-KR" altLang="en-US"/>
          </a:p>
        </p:txBody>
      </p:sp>
      <p:sp>
        <p:nvSpPr>
          <p:cNvPr id="9" name="Shape 6"/>
          <p:cNvSpPr/>
          <p:nvPr/>
        </p:nvSpPr>
        <p:spPr>
          <a:xfrm>
            <a:off x="1800175" y="26060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0" name="Text 7"/>
          <p:cNvSpPr txBox="1"/>
          <p:nvPr/>
        </p:nvSpPr>
        <p:spPr>
          <a:xfrm>
            <a:off x="1022935" y="2953512"/>
            <a:ext cx="173736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2013</a:t>
            </a:r>
            <a:endParaRPr lang="en-US" sz="1400" dirty="0"/>
          </a:p>
        </p:txBody>
      </p:sp>
      <p:sp>
        <p:nvSpPr>
          <p:cNvPr id="11" name="Text 8"/>
          <p:cNvSpPr txBox="1"/>
          <p:nvPr/>
        </p:nvSpPr>
        <p:spPr>
          <a:xfrm>
            <a:off x="1022935" y="3273552"/>
            <a:ext cx="173736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PDA/FDA 워크숍</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Bethesda</a:t>
            </a:r>
            <a:endParaRPr lang="en-US" sz="1100" dirty="0"/>
          </a:p>
        </p:txBody>
      </p:sp>
      <p:sp>
        <p:nvSpPr>
          <p:cNvPr id="12" name="Shape 9"/>
          <p:cNvSpPr/>
          <p:nvPr/>
        </p:nvSpPr>
        <p:spPr>
          <a:xfrm>
            <a:off x="5066571" y="26060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3" name="Text 10"/>
          <p:cNvSpPr txBox="1"/>
          <p:nvPr/>
        </p:nvSpPr>
        <p:spPr>
          <a:xfrm>
            <a:off x="4289331" y="2953512"/>
            <a:ext cx="173736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2017</a:t>
            </a:r>
            <a:endParaRPr lang="en-US" sz="1400" dirty="0"/>
          </a:p>
        </p:txBody>
      </p:sp>
      <p:sp>
        <p:nvSpPr>
          <p:cNvPr id="14" name="Text 11"/>
          <p:cNvSpPr txBox="1"/>
          <p:nvPr/>
        </p:nvSpPr>
        <p:spPr>
          <a:xfrm>
            <a:off x="4289331" y="3273552"/>
            <a:ext cx="173736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1차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Rockville</a:t>
            </a:r>
            <a:endParaRPr lang="en-US" sz="1100" dirty="0"/>
          </a:p>
        </p:txBody>
      </p:sp>
      <p:sp>
        <p:nvSpPr>
          <p:cNvPr id="15" name="Shape 12"/>
          <p:cNvSpPr/>
          <p:nvPr/>
        </p:nvSpPr>
        <p:spPr>
          <a:xfrm>
            <a:off x="6761789" y="26060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6" name="Text 13"/>
          <p:cNvSpPr txBox="1"/>
          <p:nvPr/>
        </p:nvSpPr>
        <p:spPr>
          <a:xfrm>
            <a:off x="5984549" y="2953512"/>
            <a:ext cx="173736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2019</a:t>
            </a:r>
            <a:endParaRPr lang="en-US" sz="1400" dirty="0"/>
          </a:p>
        </p:txBody>
      </p:sp>
      <p:sp>
        <p:nvSpPr>
          <p:cNvPr id="17" name="Text 14"/>
          <p:cNvSpPr txBox="1"/>
          <p:nvPr/>
        </p:nvSpPr>
        <p:spPr>
          <a:xfrm>
            <a:off x="5984549" y="3273552"/>
            <a:ext cx="173736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2차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Ghent</a:t>
            </a:r>
            <a:endParaRPr lang="en-US" sz="1100" dirty="0"/>
          </a:p>
        </p:txBody>
      </p:sp>
      <p:sp>
        <p:nvSpPr>
          <p:cNvPr id="18" name="Shape 15"/>
          <p:cNvSpPr/>
          <p:nvPr/>
        </p:nvSpPr>
        <p:spPr>
          <a:xfrm>
            <a:off x="9118556" y="26060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9" name="Text 16"/>
          <p:cNvSpPr txBox="1"/>
          <p:nvPr/>
        </p:nvSpPr>
        <p:spPr>
          <a:xfrm>
            <a:off x="8341316" y="2953512"/>
            <a:ext cx="173736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2022</a:t>
            </a:r>
            <a:endParaRPr lang="en-US" sz="1400" dirty="0"/>
          </a:p>
        </p:txBody>
      </p:sp>
      <p:sp>
        <p:nvSpPr>
          <p:cNvPr id="20" name="Text 17"/>
          <p:cNvSpPr txBox="1"/>
          <p:nvPr/>
        </p:nvSpPr>
        <p:spPr>
          <a:xfrm>
            <a:off x="8341316" y="3273552"/>
            <a:ext cx="173736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3차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Rockville</a:t>
            </a:r>
            <a:endParaRPr lang="en-US" sz="1100" dirty="0"/>
          </a:p>
        </p:txBody>
      </p:sp>
      <p:sp>
        <p:nvSpPr>
          <p:cNvPr id="21" name="Shape 18"/>
          <p:cNvSpPr/>
          <p:nvPr/>
        </p:nvSpPr>
        <p:spPr>
          <a:xfrm>
            <a:off x="10910382" y="2578608"/>
            <a:ext cx="237744" cy="237744"/>
          </a:xfrm>
          <a:prstGeom prst="ellipse">
            <a:avLst/>
          </a:prstGeom>
          <a:solidFill>
            <a:srgbClr val="FFA500"/>
          </a:solidFill>
          <a:ln w="12700">
            <a:solidFill>
              <a:srgbClr val="FFA500"/>
            </a:solidFill>
            <a:prstDash val="solid"/>
          </a:ln>
        </p:spPr>
        <p:txBody>
          <a:bodyPr/>
          <a:lstStyle/>
          <a:p>
            <a:endParaRPr lang="ko-KR" altLang="en-US"/>
          </a:p>
        </p:txBody>
      </p:sp>
      <p:sp>
        <p:nvSpPr>
          <p:cNvPr id="22" name="Text 19"/>
          <p:cNvSpPr txBox="1"/>
          <p:nvPr/>
        </p:nvSpPr>
        <p:spPr>
          <a:xfrm>
            <a:off x="10160574" y="2953512"/>
            <a:ext cx="173736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2024</a:t>
            </a:r>
            <a:endParaRPr lang="en-US" sz="1400" dirty="0"/>
          </a:p>
        </p:txBody>
      </p:sp>
      <p:sp>
        <p:nvSpPr>
          <p:cNvPr id="23" name="Text 20"/>
          <p:cNvSpPr txBox="1"/>
          <p:nvPr/>
        </p:nvSpPr>
        <p:spPr>
          <a:xfrm>
            <a:off x="10160574" y="3273552"/>
            <a:ext cx="173736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4차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Frankfurt</a:t>
            </a:r>
            <a:endParaRPr lang="en-US" sz="1100" dirty="0"/>
          </a:p>
        </p:txBody>
      </p:sp>
      <p:sp>
        <p:nvSpPr>
          <p:cNvPr id="24" name="Shape 21"/>
          <p:cNvSpPr/>
          <p:nvPr/>
        </p:nvSpPr>
        <p:spPr>
          <a:xfrm>
            <a:off x="548640" y="4526280"/>
            <a:ext cx="3474720" cy="1325880"/>
          </a:xfrm>
          <a:prstGeom prst="rect">
            <a:avLst/>
          </a:prstGeom>
          <a:solidFill>
            <a:srgbClr val="FFA500"/>
          </a:solidFill>
          <a:ln w="12700">
            <a:solidFill>
              <a:srgbClr val="FFA500"/>
            </a:solidFill>
            <a:prstDash val="solid"/>
          </a:ln>
        </p:spPr>
        <p:txBody>
          <a:bodyPr/>
          <a:lstStyle/>
          <a:p>
            <a:endParaRPr lang="ko-KR" altLang="en-US"/>
          </a:p>
        </p:txBody>
      </p:sp>
      <p:sp>
        <p:nvSpPr>
          <p:cNvPr id="25" name="Text 22"/>
          <p:cNvSpPr txBox="1"/>
          <p:nvPr/>
        </p:nvSpPr>
        <p:spPr>
          <a:xfrm>
            <a:off x="777240" y="4617720"/>
            <a:ext cx="3108960" cy="365760"/>
          </a:xfrm>
          <a:prstGeom prst="rect">
            <a:avLst/>
          </a:prstGeom>
          <a:noFill/>
          <a:ln/>
        </p:spPr>
        <p:txBody>
          <a:bodyPr wrap="square" lIns="0" tIns="0" rIns="0" bIns="0" rtlCol="0" anchor="t"/>
          <a:lstStyle/>
          <a:p>
            <a:pPr marL="0" indent="0">
              <a:buNone/>
            </a:pPr>
            <a:r>
              <a:rPr lang="en-US" sz="1300" dirty="0">
                <a:solidFill>
                  <a:srgbClr val="000080"/>
                </a:solidFill>
                <a:latin typeface="Malgun Gothic" pitchFamily="34" charset="0"/>
                <a:ea typeface="Malgun Gothic" pitchFamily="34" charset="-122"/>
                <a:cs typeface="Malgun Gothic" pitchFamily="34" charset="-120"/>
              </a:rPr>
              <a:t>In vivo · PCR</a:t>
            </a:r>
            <a:endParaRPr lang="en-US" sz="1300" dirty="0"/>
          </a:p>
        </p:txBody>
      </p:sp>
      <p:sp>
        <p:nvSpPr>
          <p:cNvPr id="26" name="Text 23"/>
          <p:cNvSpPr txBox="1"/>
          <p:nvPr/>
        </p:nvSpPr>
        <p:spPr>
          <a:xfrm>
            <a:off x="777240" y="5029200"/>
            <a:ext cx="3108960" cy="64008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대체 준비</a:t>
            </a:r>
            <a:endParaRPr lang="en-US" sz="2400" dirty="0"/>
          </a:p>
        </p:txBody>
      </p:sp>
      <p:sp>
        <p:nvSpPr>
          <p:cNvPr id="27" name="Shape 24"/>
          <p:cNvSpPr/>
          <p:nvPr/>
        </p:nvSpPr>
        <p:spPr>
          <a:xfrm>
            <a:off x="4343400" y="4526280"/>
            <a:ext cx="3474720" cy="1325880"/>
          </a:xfrm>
          <a:prstGeom prst="rect">
            <a:avLst/>
          </a:prstGeom>
          <a:solidFill>
            <a:srgbClr val="F2F2F2"/>
          </a:solidFill>
          <a:ln w="12700">
            <a:solidFill>
              <a:srgbClr val="F2F2F2"/>
            </a:solidFill>
            <a:prstDash val="solid"/>
          </a:ln>
        </p:spPr>
        <p:txBody>
          <a:bodyPr/>
          <a:lstStyle/>
          <a:p>
            <a:endParaRPr lang="ko-KR" altLang="en-US"/>
          </a:p>
        </p:txBody>
      </p:sp>
      <p:sp>
        <p:nvSpPr>
          <p:cNvPr id="28" name="Text 25"/>
          <p:cNvSpPr txBox="1"/>
          <p:nvPr/>
        </p:nvSpPr>
        <p:spPr>
          <a:xfrm>
            <a:off x="4572000" y="4617720"/>
            <a:ext cx="3108960" cy="3657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In vitro 세포배양</a:t>
            </a:r>
            <a:endParaRPr lang="en-US" sz="1300" dirty="0"/>
          </a:p>
        </p:txBody>
      </p:sp>
      <p:sp>
        <p:nvSpPr>
          <p:cNvPr id="29" name="Text 26"/>
          <p:cNvSpPr txBox="1"/>
          <p:nvPr/>
        </p:nvSpPr>
        <p:spPr>
          <a:xfrm>
            <a:off x="4572000" y="5029200"/>
            <a:ext cx="3108960" cy="64008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보완 · 대체</a:t>
            </a:r>
            <a:endParaRPr lang="en-US" sz="2400" dirty="0"/>
          </a:p>
        </p:txBody>
      </p:sp>
      <p:sp>
        <p:nvSpPr>
          <p:cNvPr id="30" name="Shape 27"/>
          <p:cNvSpPr/>
          <p:nvPr/>
        </p:nvSpPr>
        <p:spPr>
          <a:xfrm>
            <a:off x="8138160" y="4526280"/>
            <a:ext cx="3474720" cy="1325880"/>
          </a:xfrm>
          <a:prstGeom prst="rect">
            <a:avLst/>
          </a:prstGeom>
          <a:solidFill>
            <a:srgbClr val="F2F2F2"/>
          </a:solidFill>
          <a:ln w="12700">
            <a:solidFill>
              <a:srgbClr val="F2F2F2"/>
            </a:solidFill>
            <a:prstDash val="solid"/>
          </a:ln>
        </p:spPr>
        <p:txBody>
          <a:bodyPr/>
          <a:lstStyle/>
          <a:p>
            <a:endParaRPr lang="ko-KR" altLang="en-US"/>
          </a:p>
        </p:txBody>
      </p:sp>
      <p:sp>
        <p:nvSpPr>
          <p:cNvPr id="31" name="Text 28"/>
          <p:cNvSpPr txBox="1"/>
          <p:nvPr/>
        </p:nvSpPr>
        <p:spPr>
          <a:xfrm>
            <a:off x="8366760" y="4617720"/>
            <a:ext cx="3108960" cy="3657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전제 조건</a:t>
            </a:r>
            <a:endParaRPr lang="en-US" sz="1300" dirty="0"/>
          </a:p>
        </p:txBody>
      </p:sp>
      <p:sp>
        <p:nvSpPr>
          <p:cNvPr id="32" name="Text 29"/>
          <p:cNvSpPr txBox="1"/>
          <p:nvPr/>
        </p:nvSpPr>
        <p:spPr>
          <a:xfrm>
            <a:off x="8366760" y="5029200"/>
            <a:ext cx="3108960" cy="64008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밸리데이션 패키지</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정리</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정리</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2023 · Ph. Eur. 2.6.41 (2026-04-01 시행) · Geisler C, Jarvis DL. Biologicals 2016;44:219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42</a:t>
            </a:r>
            <a:endParaRPr lang="en-US" sz="900" dirty="0"/>
          </a:p>
        </p:txBody>
      </p:sp>
      <p:sp>
        <p:nvSpPr>
          <p:cNvPr id="8" name="Text 5"/>
          <p:cNvSpPr txBox="1"/>
          <p:nvPr/>
        </p:nvSpPr>
        <p:spPr>
          <a:xfrm>
            <a:off x="548640" y="1645920"/>
            <a:ext cx="11064240" cy="1005840"/>
          </a:xfrm>
          <a:prstGeom prst="rect">
            <a:avLst/>
          </a:prstGeom>
          <a:noFill/>
          <a:ln/>
        </p:spPr>
        <p:txBody>
          <a:bodyPr wrap="square" lIns="0" tIns="0" rIns="0" bIns="0" rtlCol="0" anchor="ctr"/>
          <a:lstStyle/>
          <a:p>
            <a:pPr marL="0" indent="0">
              <a:buNone/>
            </a:pPr>
            <a:r>
              <a:rPr lang="en-US" sz="4400" b="1" dirty="0">
                <a:solidFill>
                  <a:srgbClr val="000080"/>
                </a:solidFill>
                <a:latin typeface="Malgun Gothic" pitchFamily="34" charset="0"/>
                <a:ea typeface="Malgun Gothic" pitchFamily="34" charset="-122"/>
                <a:cs typeface="Malgun Gothic" pitchFamily="34" charset="-120"/>
              </a:rPr>
              <a:t>NGS는 </a:t>
            </a:r>
            <a:r>
              <a:rPr lang="en-US" sz="4400" b="1" dirty="0">
                <a:solidFill>
                  <a:srgbClr val="000080"/>
                </a:solidFill>
                <a:highlight>
                  <a:srgbClr val="FFA500"/>
                </a:highlight>
                <a:latin typeface="Malgun Gothic" pitchFamily="34" charset="0"/>
                <a:ea typeface="Malgun Gothic" pitchFamily="34" charset="-122"/>
                <a:cs typeface="Malgun Gothic" pitchFamily="34" charset="-120"/>
              </a:rPr>
              <a:t>목록 밖</a:t>
            </a:r>
            <a:r>
              <a:rPr lang="en-US" sz="4400" b="1" dirty="0">
                <a:solidFill>
                  <a:srgbClr val="000080"/>
                </a:solidFill>
                <a:latin typeface="Malgun Gothic" pitchFamily="34" charset="0"/>
                <a:ea typeface="Malgun Gothic" pitchFamily="34" charset="-122"/>
                <a:cs typeface="Malgun Gothic" pitchFamily="34" charset="-120"/>
              </a:rPr>
              <a:t>을 본다</a:t>
            </a:r>
            <a:endParaRPr lang="en-US" sz="4400" dirty="0"/>
          </a:p>
        </p:txBody>
      </p:sp>
      <p:sp>
        <p:nvSpPr>
          <p:cNvPr id="9" name="Text 6"/>
          <p:cNvSpPr txBox="1"/>
          <p:nvPr/>
        </p:nvSpPr>
        <p:spPr>
          <a:xfrm>
            <a:off x="548640" y="2788920"/>
            <a:ext cx="11064240" cy="640080"/>
          </a:xfrm>
          <a:prstGeom prst="rect">
            <a:avLst/>
          </a:prstGeom>
          <a:noFill/>
          <a:ln/>
        </p:spPr>
        <p:txBody>
          <a:bodyPr wrap="square" lIns="0" tIns="0" rIns="0" bIns="0" rtlCol="0" anchor="ctr"/>
          <a:lstStyle/>
          <a:p>
            <a:pPr marL="0" indent="0">
              <a:buNone/>
            </a:pPr>
            <a:r>
              <a:rPr lang="en-US" sz="2600" dirty="0">
                <a:solidFill>
                  <a:srgbClr val="595959"/>
                </a:solidFill>
                <a:latin typeface="Malgun Gothic" pitchFamily="34" charset="0"/>
                <a:ea typeface="Malgun Gothic" pitchFamily="34" charset="-122"/>
                <a:cs typeface="Malgun Gothic" pitchFamily="34" charset="-120"/>
              </a:rPr>
              <a:t>판정은 여전히 확증시험이 한다</a:t>
            </a:r>
            <a:endParaRPr lang="en-US" sz="2600" dirty="0"/>
          </a:p>
        </p:txBody>
      </p:sp>
      <p:sp>
        <p:nvSpPr>
          <p:cNvPr id="10" name="Text 7"/>
          <p:cNvSpPr txBox="1"/>
          <p:nvPr/>
        </p:nvSpPr>
        <p:spPr>
          <a:xfrm>
            <a:off x="548640" y="4160520"/>
            <a:ext cx="3474720" cy="411480"/>
          </a:xfrm>
          <a:prstGeom prst="rect">
            <a:avLst/>
          </a:prstGeom>
          <a:noFill/>
          <a:ln/>
        </p:spPr>
        <p:txBody>
          <a:bodyPr wrap="square" lIns="0" tIns="0" rIns="0" bIns="0" rtlCol="0" anchor="t"/>
          <a:lstStyle/>
          <a:p>
            <a:pPr marL="0" indent="0">
              <a:buNone/>
            </a:pPr>
            <a:r>
              <a:rPr lang="en-US" sz="1400" b="1" dirty="0">
                <a:solidFill>
                  <a:srgbClr val="7F7F7F"/>
                </a:solidFill>
                <a:latin typeface="Malgun Gothic" pitchFamily="34" charset="0"/>
                <a:ea typeface="Malgun Gothic" pitchFamily="34" charset="-122"/>
                <a:cs typeface="Malgun Gothic" pitchFamily="34" charset="-120"/>
              </a:rPr>
              <a:t>정의</a:t>
            </a:r>
            <a:endParaRPr lang="en-US" sz="1400" dirty="0"/>
          </a:p>
        </p:txBody>
      </p:sp>
      <p:sp>
        <p:nvSpPr>
          <p:cNvPr id="11" name="Shape 8"/>
          <p:cNvSpPr/>
          <p:nvPr/>
        </p:nvSpPr>
        <p:spPr>
          <a:xfrm>
            <a:off x="548640" y="4617720"/>
            <a:ext cx="3383280" cy="0"/>
          </a:xfrm>
          <a:prstGeom prst="line">
            <a:avLst/>
          </a:prstGeom>
          <a:noFill/>
          <a:ln w="12700">
            <a:solidFill>
              <a:srgbClr val="000080"/>
            </a:solidFill>
            <a:prstDash val="solid"/>
          </a:ln>
        </p:spPr>
        <p:txBody>
          <a:bodyPr/>
          <a:lstStyle/>
          <a:p>
            <a:endParaRPr lang="ko-KR" altLang="en-US"/>
          </a:p>
        </p:txBody>
      </p:sp>
      <p:sp>
        <p:nvSpPr>
          <p:cNvPr id="12" name="Text 9"/>
          <p:cNvSpPr txBox="1"/>
          <p:nvPr/>
        </p:nvSpPr>
        <p:spPr>
          <a:xfrm>
            <a:off x="548640" y="4754880"/>
            <a:ext cx="3474720" cy="82296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기준점은 세포기질 유전체</a:t>
            </a:r>
            <a:endParaRPr lang="en-US" sz="1800" dirty="0"/>
          </a:p>
        </p:txBody>
      </p:sp>
      <p:sp>
        <p:nvSpPr>
          <p:cNvPr id="13" name="Text 10"/>
          <p:cNvSpPr txBox="1"/>
          <p:nvPr/>
        </p:nvSpPr>
        <p:spPr>
          <a:xfrm>
            <a:off x="4343400" y="4160520"/>
            <a:ext cx="3474720" cy="411480"/>
          </a:xfrm>
          <a:prstGeom prst="rect">
            <a:avLst/>
          </a:prstGeom>
          <a:noFill/>
          <a:ln/>
        </p:spPr>
        <p:txBody>
          <a:bodyPr wrap="square" lIns="0" tIns="0" rIns="0" bIns="0" rtlCol="0" anchor="t"/>
          <a:lstStyle/>
          <a:p>
            <a:pPr marL="0" indent="0">
              <a:buNone/>
            </a:pPr>
            <a:r>
              <a:rPr lang="en-US" sz="1400" b="1" dirty="0">
                <a:solidFill>
                  <a:srgbClr val="7F7F7F"/>
                </a:solidFill>
                <a:latin typeface="Malgun Gothic" pitchFamily="34" charset="0"/>
                <a:ea typeface="Malgun Gothic" pitchFamily="34" charset="-122"/>
                <a:cs typeface="Malgun Gothic" pitchFamily="34" charset="-120"/>
              </a:rPr>
              <a:t>규제</a:t>
            </a:r>
            <a:endParaRPr lang="en-US" sz="1400" dirty="0"/>
          </a:p>
        </p:txBody>
      </p:sp>
      <p:sp>
        <p:nvSpPr>
          <p:cNvPr id="14" name="Shape 11"/>
          <p:cNvSpPr/>
          <p:nvPr/>
        </p:nvSpPr>
        <p:spPr>
          <a:xfrm>
            <a:off x="4343400" y="4617720"/>
            <a:ext cx="3383280" cy="0"/>
          </a:xfrm>
          <a:prstGeom prst="line">
            <a:avLst/>
          </a:prstGeom>
          <a:noFill/>
          <a:ln w="12700">
            <a:solidFill>
              <a:srgbClr val="000080"/>
            </a:solidFill>
            <a:prstDash val="solid"/>
          </a:ln>
        </p:spPr>
        <p:txBody>
          <a:bodyPr/>
          <a:lstStyle/>
          <a:p>
            <a:endParaRPr lang="ko-KR" altLang="en-US"/>
          </a:p>
        </p:txBody>
      </p:sp>
      <p:sp>
        <p:nvSpPr>
          <p:cNvPr id="15" name="Text 12"/>
          <p:cNvSpPr txBox="1"/>
          <p:nvPr/>
        </p:nvSpPr>
        <p:spPr>
          <a:xfrm>
            <a:off x="4343400" y="4754880"/>
            <a:ext cx="3474720" cy="82296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ICH Q5A(R2) · Ph. Eur. 2.6.41 현행</a:t>
            </a:r>
            <a:endParaRPr lang="en-US" sz="1800" dirty="0"/>
          </a:p>
        </p:txBody>
      </p:sp>
      <p:sp>
        <p:nvSpPr>
          <p:cNvPr id="16" name="Text 13"/>
          <p:cNvSpPr txBox="1"/>
          <p:nvPr/>
        </p:nvSpPr>
        <p:spPr>
          <a:xfrm>
            <a:off x="8138160" y="4160520"/>
            <a:ext cx="3474720" cy="411480"/>
          </a:xfrm>
          <a:prstGeom prst="rect">
            <a:avLst/>
          </a:prstGeom>
          <a:noFill/>
          <a:ln/>
        </p:spPr>
        <p:txBody>
          <a:bodyPr wrap="square" lIns="0" tIns="0" rIns="0" bIns="0" rtlCol="0" anchor="t"/>
          <a:lstStyle/>
          <a:p>
            <a:pPr marL="0" indent="0">
              <a:buNone/>
            </a:pPr>
            <a:r>
              <a:rPr lang="en-US" sz="1400" b="1" dirty="0">
                <a:solidFill>
                  <a:srgbClr val="7F7F7F"/>
                </a:solidFill>
                <a:latin typeface="Malgun Gothic" pitchFamily="34" charset="0"/>
                <a:ea typeface="Malgun Gothic" pitchFamily="34" charset="-122"/>
                <a:cs typeface="Malgun Gothic" pitchFamily="34" charset="-120"/>
              </a:rPr>
              <a:t>기술</a:t>
            </a:r>
            <a:endParaRPr lang="en-US" sz="1400" dirty="0"/>
          </a:p>
        </p:txBody>
      </p:sp>
      <p:sp>
        <p:nvSpPr>
          <p:cNvPr id="17" name="Shape 14"/>
          <p:cNvSpPr/>
          <p:nvPr/>
        </p:nvSpPr>
        <p:spPr>
          <a:xfrm>
            <a:off x="8138160" y="4617720"/>
            <a:ext cx="3383280" cy="0"/>
          </a:xfrm>
          <a:prstGeom prst="line">
            <a:avLst/>
          </a:prstGeom>
          <a:noFill/>
          <a:ln w="12700">
            <a:solidFill>
              <a:srgbClr val="000080"/>
            </a:solidFill>
            <a:prstDash val="solid"/>
          </a:ln>
        </p:spPr>
        <p:txBody>
          <a:bodyPr/>
          <a:lstStyle/>
          <a:p>
            <a:endParaRPr lang="ko-KR" altLang="en-US"/>
          </a:p>
        </p:txBody>
      </p:sp>
      <p:sp>
        <p:nvSpPr>
          <p:cNvPr id="18" name="Text 15"/>
          <p:cNvSpPr txBox="1"/>
          <p:nvPr/>
        </p:nvSpPr>
        <p:spPr>
          <a:xfrm>
            <a:off x="8138160" y="4754880"/>
            <a:ext cx="3474720" cy="82296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파이프라인과 밸리데이션</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43</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5" name="Text 2"/>
          <p:cNvSpPr txBox="1"/>
          <p:nvPr/>
        </p:nvSpPr>
        <p:spPr>
          <a:xfrm>
            <a:off x="822960" y="2148840"/>
            <a:ext cx="2743200" cy="1188720"/>
          </a:xfrm>
          <a:prstGeom prst="rect">
            <a:avLst/>
          </a:prstGeom>
          <a:noFill/>
          <a:ln/>
        </p:spPr>
        <p:txBody>
          <a:bodyPr wrap="square" lIns="0" tIns="0" rIns="0" bIns="0" rtlCol="0" anchor="t"/>
          <a:lstStyle/>
          <a:p>
            <a:pPr marL="0" indent="0">
              <a:buNone/>
            </a:pPr>
            <a:r>
              <a:rPr lang="en-US" sz="8000" b="1" dirty="0">
                <a:solidFill>
                  <a:srgbClr val="000080"/>
                </a:solidFill>
                <a:latin typeface="Arial" pitchFamily="34" charset="0"/>
                <a:ea typeface="Arial" pitchFamily="34" charset="-122"/>
                <a:cs typeface="Arial" pitchFamily="34" charset="-120"/>
              </a:rPr>
              <a:t>S</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Supplementary</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marL="0" indent="0">
              <a:buNone/>
            </a:pPr>
            <a:r>
              <a:rPr lang="en-US" sz="1800" dirty="0">
                <a:solidFill>
                  <a:srgbClr val="595959"/>
                </a:solidFill>
                <a:latin typeface="Malgun Gothic" pitchFamily="34" charset="0"/>
                <a:ea typeface="Malgun Gothic" pitchFamily="34" charset="-122"/>
                <a:cs typeface="Malgun Gothic" pitchFamily="34" charset="-120"/>
              </a:rPr>
              <a:t>Bas-Congo virus   ·   In vivo 상세   ·   References</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marL="0" indent="0">
              <a:buNone/>
            </a:pPr>
            <a:r>
              <a:rPr lang="en-US" sz="1200" dirty="0">
                <a:solidFill>
                  <a:srgbClr val="7F7F7F"/>
                </a:solidFill>
                <a:latin typeface="Malgun Gothic" pitchFamily="34" charset="0"/>
                <a:ea typeface="Malgun Gothic" pitchFamily="34" charset="-122"/>
                <a:cs typeface="Malgun Gothic" pitchFamily="34" charset="-120"/>
              </a:rPr>
              <a:t>발표하지 않음</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PCR이 닿지 않는 거리</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Grard G et al. PLoS Pathog 2012;8:e1002924 (doi:10.1371/journal.ppat.1002924) · 수치 원문 대조 필요</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44</a:t>
            </a:r>
            <a:endParaRPr lang="en-US" sz="900" dirty="0"/>
          </a:p>
        </p:txBody>
      </p:sp>
      <p:sp>
        <p:nvSpPr>
          <p:cNvPr id="8" name="Shape 5"/>
          <p:cNvSpPr/>
          <p:nvPr/>
        </p:nvSpPr>
        <p:spPr>
          <a:xfrm>
            <a:off x="502920" y="1828800"/>
            <a:ext cx="3931920" cy="1600200"/>
          </a:xfrm>
          <a:prstGeom prst="rect">
            <a:avLst/>
          </a:prstGeom>
          <a:solidFill>
            <a:srgbClr val="FFA500"/>
          </a:solidFill>
          <a:ln w="12700">
            <a:solidFill>
              <a:srgbClr val="FFA500"/>
            </a:solidFill>
            <a:prstDash val="solid"/>
          </a:ln>
        </p:spPr>
        <p:txBody>
          <a:bodyPr/>
          <a:lstStyle/>
          <a:p>
            <a:endParaRPr lang="ko-KR" altLang="en-US"/>
          </a:p>
        </p:txBody>
      </p:sp>
      <p:sp>
        <p:nvSpPr>
          <p:cNvPr id="9" name="Text 6"/>
          <p:cNvSpPr txBox="1"/>
          <p:nvPr/>
        </p:nvSpPr>
        <p:spPr>
          <a:xfrm>
            <a:off x="548640" y="1691640"/>
            <a:ext cx="3840480" cy="1874520"/>
          </a:xfrm>
          <a:prstGeom prst="rect">
            <a:avLst/>
          </a:prstGeom>
          <a:noFill/>
          <a:ln/>
        </p:spPr>
        <p:txBody>
          <a:bodyPr wrap="square" lIns="0" tIns="0" rIns="0" bIns="0" rtlCol="0" anchor="ctr"/>
          <a:lstStyle/>
          <a:p>
            <a:pPr marL="0" indent="0" algn="ctr">
              <a:buNone/>
            </a:pPr>
            <a:r>
              <a:rPr lang="en-US" sz="8000" b="1" dirty="0">
                <a:solidFill>
                  <a:srgbClr val="000080"/>
                </a:solidFill>
                <a:latin typeface="Arial" pitchFamily="34" charset="0"/>
                <a:ea typeface="Arial" pitchFamily="34" charset="-122"/>
                <a:cs typeface="Arial" pitchFamily="34" charset="-120"/>
              </a:rPr>
              <a:t>&lt; 34%</a:t>
            </a:r>
            <a:endParaRPr lang="en-US" sz="8000" dirty="0"/>
          </a:p>
        </p:txBody>
      </p:sp>
      <p:sp>
        <p:nvSpPr>
          <p:cNvPr id="10" name="Text 7"/>
          <p:cNvSpPr txBox="1"/>
          <p:nvPr/>
        </p:nvSpPr>
        <p:spPr>
          <a:xfrm>
            <a:off x="4754880" y="2148840"/>
            <a:ext cx="3291840" cy="1005840"/>
          </a:xfrm>
          <a:prstGeom prst="rect">
            <a:avLst/>
          </a:prstGeom>
          <a:noFill/>
          <a:ln/>
        </p:spPr>
        <p:txBody>
          <a:bodyPr wrap="square" lIns="0" tIns="0" rIns="0" bIns="0" rtlCol="0" anchor="ctr"/>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기존 랩도바이러스와의 아미노산 동일성</a:t>
            </a:r>
            <a:endParaRPr lang="en-US" sz="1800" dirty="0"/>
          </a:p>
        </p:txBody>
      </p:sp>
      <p:sp>
        <p:nvSpPr>
          <p:cNvPr id="11" name="Text 8"/>
          <p:cNvSpPr txBox="1"/>
          <p:nvPr/>
        </p:nvSpPr>
        <p:spPr>
          <a:xfrm>
            <a:off x="548640" y="38404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2" name="Text 9"/>
          <p:cNvSpPr txBox="1"/>
          <p:nvPr/>
        </p:nvSpPr>
        <p:spPr>
          <a:xfrm>
            <a:off x="1051560" y="3803904"/>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신종 랩도바이러스</a:t>
            </a:r>
            <a:endParaRPr lang="en-US" sz="1800" dirty="0"/>
          </a:p>
        </p:txBody>
      </p:sp>
      <p:sp>
        <p:nvSpPr>
          <p:cNvPr id="13" name="Text 10"/>
          <p:cNvSpPr txBox="1"/>
          <p:nvPr/>
        </p:nvSpPr>
        <p:spPr>
          <a:xfrm>
            <a:off x="1051560" y="4187952"/>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2009 콩고민주공화국 · 급성 출혈열</a:t>
            </a:r>
            <a:endParaRPr lang="en-US" sz="1150" dirty="0"/>
          </a:p>
        </p:txBody>
      </p:sp>
      <p:sp>
        <p:nvSpPr>
          <p:cNvPr id="14" name="Shape 11"/>
          <p:cNvSpPr/>
          <p:nvPr/>
        </p:nvSpPr>
        <p:spPr>
          <a:xfrm>
            <a:off x="548640" y="4425696"/>
            <a:ext cx="7406640" cy="0"/>
          </a:xfrm>
          <a:prstGeom prst="line">
            <a:avLst/>
          </a:prstGeom>
          <a:noFill/>
          <a:ln w="9525">
            <a:solidFill>
              <a:srgbClr val="D9D9D9"/>
            </a:solidFill>
            <a:prstDash val="solid"/>
          </a:ln>
        </p:spPr>
        <p:txBody>
          <a:bodyPr/>
          <a:lstStyle/>
          <a:p>
            <a:endParaRPr lang="ko-KR" altLang="en-US"/>
          </a:p>
        </p:txBody>
      </p:sp>
      <p:sp>
        <p:nvSpPr>
          <p:cNvPr id="15" name="Text 12"/>
          <p:cNvSpPr txBox="1"/>
          <p:nvPr/>
        </p:nvSpPr>
        <p:spPr>
          <a:xfrm>
            <a:off x="548640" y="4553712"/>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6" name="Text 13"/>
          <p:cNvSpPr txBox="1"/>
          <p:nvPr/>
        </p:nvSpPr>
        <p:spPr>
          <a:xfrm>
            <a:off x="1051560" y="4517136"/>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Degenerate PCR 한계</a:t>
            </a:r>
            <a:endParaRPr lang="en-US" sz="1800" dirty="0"/>
          </a:p>
        </p:txBody>
      </p:sp>
      <p:sp>
        <p:nvSpPr>
          <p:cNvPr id="17" name="Text 14"/>
          <p:cNvSpPr txBox="1"/>
          <p:nvPr/>
        </p:nvSpPr>
        <p:spPr>
          <a:xfrm>
            <a:off x="1051560" y="4901184"/>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프라이머 설계가 닿지 않는 발산도</a:t>
            </a:r>
            <a:endParaRPr lang="en-US" sz="1150" dirty="0"/>
          </a:p>
        </p:txBody>
      </p:sp>
      <p:sp>
        <p:nvSpPr>
          <p:cNvPr id="18" name="Shape 15"/>
          <p:cNvSpPr/>
          <p:nvPr/>
        </p:nvSpPr>
        <p:spPr>
          <a:xfrm>
            <a:off x="548640" y="5138928"/>
            <a:ext cx="7406640" cy="0"/>
          </a:xfrm>
          <a:prstGeom prst="line">
            <a:avLst/>
          </a:prstGeom>
          <a:noFill/>
          <a:ln w="9525">
            <a:solidFill>
              <a:srgbClr val="D9D9D9"/>
            </a:solidFill>
            <a:prstDash val="solid"/>
          </a:ln>
        </p:spPr>
        <p:txBody>
          <a:bodyPr/>
          <a:lstStyle/>
          <a:p>
            <a:endParaRPr lang="ko-KR" altLang="en-US"/>
          </a:p>
        </p:txBody>
      </p:sp>
      <p:sp>
        <p:nvSpPr>
          <p:cNvPr id="19" name="Text 16"/>
          <p:cNvSpPr txBox="1"/>
          <p:nvPr/>
        </p:nvSpPr>
        <p:spPr>
          <a:xfrm>
            <a:off x="548640" y="5266944"/>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20" name="Text 17"/>
          <p:cNvSpPr txBox="1"/>
          <p:nvPr/>
        </p:nvSpPr>
        <p:spPr>
          <a:xfrm>
            <a:off x="1051560" y="5230368"/>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De novo assembly</a:t>
            </a:r>
            <a:endParaRPr lang="en-US" sz="1800" dirty="0"/>
          </a:p>
        </p:txBody>
      </p:sp>
      <p:sp>
        <p:nvSpPr>
          <p:cNvPr id="21" name="Text 18"/>
          <p:cNvSpPr txBox="1"/>
          <p:nvPr/>
        </p:nvSpPr>
        <p:spPr>
          <a:xfrm>
            <a:off x="1051560" y="5614416"/>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unbiased NGS로 유전체 복원</a:t>
            </a:r>
            <a:endParaRPr lang="en-US" sz="1150" dirty="0"/>
          </a:p>
        </p:txBody>
      </p:sp>
      <p:sp>
        <p:nvSpPr>
          <p:cNvPr id="22" name="Shape 19"/>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23" name="Text 20"/>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PLoS Pathog · 2012</a:t>
            </a:r>
            <a:endParaRPr lang="en-US" sz="1100" dirty="0"/>
          </a:p>
        </p:txBody>
      </p:sp>
      <p:sp>
        <p:nvSpPr>
          <p:cNvPr id="24" name="Text 21"/>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A novel rhabdovirus associated with acute hemorrhagic fever in central Africa</a:t>
            </a:r>
            <a:endParaRPr lang="en-US" sz="1050" dirty="0"/>
          </a:p>
        </p:txBody>
      </p:sp>
      <p:sp>
        <p:nvSpPr>
          <p:cNvPr id="25" name="Text 22"/>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Grard G, et al.</a:t>
            </a:r>
            <a:endParaRPr lang="en-US" sz="900" dirty="0"/>
          </a:p>
        </p:txBody>
      </p:sp>
      <p:sp>
        <p:nvSpPr>
          <p:cNvPr id="26" name="Shape 23"/>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27" name="Text 24"/>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In vivo 시험 상세</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FDA. Characterization and Qualification of Cell Substrates and Other Biological Materials Used in the Production of Viral Vaccines for Infectious Disease Indications (2010)</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45</a:t>
            </a:r>
            <a:endParaRPr lang="en-US" sz="900" dirty="0"/>
          </a:p>
        </p:txBody>
      </p:sp>
      <p:sp>
        <p:nvSpPr>
          <p:cNvPr id="8" name="Shape 5"/>
          <p:cNvSpPr/>
          <p:nvPr/>
        </p:nvSpPr>
        <p:spPr>
          <a:xfrm>
            <a:off x="548640" y="164592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9" name="Text 6"/>
          <p:cNvSpPr txBox="1"/>
          <p:nvPr/>
        </p:nvSpPr>
        <p:spPr>
          <a:xfrm>
            <a:off x="548640" y="164592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유약 · 성숙 마우스</a:t>
            </a:r>
            <a:endParaRPr lang="en-US" sz="1400" dirty="0"/>
          </a:p>
        </p:txBody>
      </p:sp>
      <p:sp>
        <p:nvSpPr>
          <p:cNvPr id="10" name="Shape 7"/>
          <p:cNvSpPr/>
          <p:nvPr/>
        </p:nvSpPr>
        <p:spPr>
          <a:xfrm>
            <a:off x="4312920" y="164592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11" name="Text 8"/>
          <p:cNvSpPr txBox="1"/>
          <p:nvPr/>
        </p:nvSpPr>
        <p:spPr>
          <a:xfrm>
            <a:off x="4312920" y="164592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발육란</a:t>
            </a:r>
            <a:endParaRPr lang="en-US" sz="1400" dirty="0"/>
          </a:p>
        </p:txBody>
      </p:sp>
      <p:sp>
        <p:nvSpPr>
          <p:cNvPr id="12" name="Shape 9"/>
          <p:cNvSpPr/>
          <p:nvPr/>
        </p:nvSpPr>
        <p:spPr>
          <a:xfrm>
            <a:off x="8077200" y="164592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8077200" y="164592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기니피그</a:t>
            </a:r>
            <a:endParaRPr lang="en-US" sz="1400" dirty="0"/>
          </a:p>
        </p:txBody>
      </p:sp>
      <p:sp>
        <p:nvSpPr>
          <p:cNvPr id="14" name="Shape 11"/>
          <p:cNvSpPr/>
          <p:nvPr/>
        </p:nvSpPr>
        <p:spPr>
          <a:xfrm>
            <a:off x="548640" y="2423160"/>
            <a:ext cx="11064240" cy="3657600"/>
          </a:xfrm>
          <a:prstGeom prst="rect">
            <a:avLst/>
          </a:prstGeom>
          <a:solidFill>
            <a:srgbClr val="FFFFFF"/>
          </a:solidFill>
          <a:ln w="12700">
            <a:solidFill>
              <a:srgbClr val="A6A6A6"/>
            </a:solidFill>
            <a:prstDash val="dash"/>
          </a:ln>
        </p:spPr>
        <p:txBody>
          <a:bodyPr/>
          <a:lstStyle/>
          <a:p>
            <a:endParaRPr lang="ko-KR" altLang="en-US"/>
          </a:p>
        </p:txBody>
      </p:sp>
      <p:sp>
        <p:nvSpPr>
          <p:cNvPr id="15" name="Text 12"/>
          <p:cNvSpPr txBox="1"/>
          <p:nvPr/>
        </p:nvSpPr>
        <p:spPr>
          <a:xfrm>
            <a:off x="548640" y="2423160"/>
            <a:ext cx="11064240" cy="3657600"/>
          </a:xfrm>
          <a:prstGeom prst="rect">
            <a:avLst/>
          </a:prstGeom>
          <a:noFill/>
          <a:ln/>
        </p:spPr>
        <p:txBody>
          <a:bodyPr wrap="square" lIns="0" tIns="0" rIns="0" bIns="0" rtlCol="0" anchor="ctr"/>
          <a:lstStyle/>
          <a:p>
            <a:pPr marL="0" indent="0" algn="ctr">
              <a:buNone/>
            </a:pPr>
            <a:r>
              <a:rPr lang="en-US" sz="1300" dirty="0">
                <a:solidFill>
                  <a:srgbClr val="7F7F7F"/>
                </a:solidFill>
                <a:latin typeface="Malgun Gothic" pitchFamily="34" charset="0"/>
                <a:ea typeface="Malgun Gothic" pitchFamily="34" charset="-122"/>
                <a:cs typeface="Malgun Gothic" pitchFamily="34" charset="-120"/>
              </a:rPr>
              <a:t>FDA 2010 가이던스 in vivo 시험 표 원문 삽입</a:t>
            </a:r>
            <a:endParaRPr lang="en-US" sz="1300" dirty="0"/>
          </a:p>
          <a:p>
            <a:pPr marL="0" indent="0" algn="ctr">
              <a:buNone/>
            </a:pPr>
            <a:r>
              <a:rPr lang="en-US" sz="1300" dirty="0">
                <a:solidFill>
                  <a:srgbClr val="7F7F7F"/>
                </a:solidFill>
                <a:latin typeface="Malgun Gothic" pitchFamily="34" charset="0"/>
                <a:ea typeface="Malgun Gothic" pitchFamily="34" charset="-122"/>
                <a:cs typeface="Malgun Gothic" pitchFamily="34" charset="-120"/>
              </a:rPr>
              <a:t>(동물 수 · 투여 경로 · 관찰 기간 · 표적 바이러스군)</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References (1/2)</a:t>
            </a:r>
            <a:endParaRPr lang="en-US" sz="3200" dirty="0"/>
          </a:p>
        </p:txBody>
      </p:sp>
      <p:sp>
        <p:nvSpPr>
          <p:cNvPr id="5" name="Text 3"/>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46</a:t>
            </a:r>
            <a:endParaRPr lang="en-US" sz="900" dirty="0"/>
          </a:p>
        </p:txBody>
      </p:sp>
      <p:sp>
        <p:nvSpPr>
          <p:cNvPr id="7" name="Text 4"/>
          <p:cNvSpPr txBox="1"/>
          <p:nvPr/>
        </p:nvSpPr>
        <p:spPr>
          <a:xfrm>
            <a:off x="548640" y="1463040"/>
            <a:ext cx="5394960" cy="320040"/>
          </a:xfrm>
          <a:prstGeom prst="rect">
            <a:avLst/>
          </a:prstGeom>
          <a:noFill/>
          <a:ln/>
        </p:spPr>
        <p:txBody>
          <a:bodyPr wrap="square" lIns="0" tIns="0" rIns="0" bIns="0" rtlCol="0" anchor="t"/>
          <a:lstStyle/>
          <a:p>
            <a:pPr marL="0" indent="0">
              <a:buNone/>
            </a:pPr>
            <a:r>
              <a:rPr lang="en-US" sz="1300" b="1" dirty="0">
                <a:solidFill>
                  <a:srgbClr val="000080"/>
                </a:solidFill>
                <a:latin typeface="Malgun Gothic" pitchFamily="34" charset="0"/>
                <a:ea typeface="Malgun Gothic" pitchFamily="34" charset="-122"/>
                <a:cs typeface="Malgun Gothic" pitchFamily="34" charset="-120"/>
              </a:rPr>
              <a:t>사례 문헌</a:t>
            </a:r>
            <a:endParaRPr lang="en-US" sz="1300" dirty="0"/>
          </a:p>
        </p:txBody>
      </p:sp>
      <p:sp>
        <p:nvSpPr>
          <p:cNvPr id="8" name="Text 5"/>
          <p:cNvSpPr txBox="1"/>
          <p:nvPr/>
        </p:nvSpPr>
        <p:spPr>
          <a:xfrm>
            <a:off x="548640" y="1828800"/>
            <a:ext cx="5394960" cy="4434840"/>
          </a:xfrm>
          <a:prstGeom prst="rect">
            <a:avLst/>
          </a:prstGeom>
          <a:noFill/>
          <a:ln/>
        </p:spPr>
        <p:txBody>
          <a:bodyPr wrap="square" lIns="0" tIns="0" rIns="0" bIns="0" rtlCol="0" anchor="t"/>
          <a:lstStyle/>
          <a:p>
            <a:pPr marL="0" indent="0">
              <a:spcAft>
                <a:spcPts val="300"/>
              </a:spcAft>
              <a:buNone/>
            </a:pPr>
            <a:r>
              <a:rPr lang="en-US" sz="900" dirty="0">
                <a:solidFill>
                  <a:srgbClr val="595959"/>
                </a:solidFill>
                <a:latin typeface="Arial" pitchFamily="34" charset="0"/>
                <a:ea typeface="Arial" pitchFamily="34" charset="-122"/>
                <a:cs typeface="Arial" pitchFamily="34" charset="-120"/>
              </a:rPr>
              <a:t>Ma H et al. J Virol 2014;88:6576. doi:10.1128/JVI.00780-14</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Onions D et al. Vaccine 2011;29:7117. doi:10.1016/j.vaccine.2011.05.071</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Shabram P, Kolman JL. PDA J Pharm Sci Technol 2014;68:639. doi:10.5731/pdajpst.2014.01027</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Gagnieur L et al. Biologicals 2014;42:145. doi:10.1016/j.biologicals.2014.02.002</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Zhang P et al. Zool Res 2022;43:756. doi:10.24272/j.issn.2095-8137.2022.093</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Victoria JG et al. J Virol 2010;84:6033. doi:10.1128/JVI.02690-09</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Kerr A, Nims R. PDA J Pharm Sci Technol 2010;64:481. PMID 21502056</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Mascarenhas JX et al. Biotechnol Bioeng 2017;114:576. doi:10.1002/bit.26186</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Beurdeley-Fehlbaum P et al. Vaccine 2023;41:5383. doi:10.1016/j.vaccine.2023.07.010</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Alston A et al. Biologicals 2025;90:101828. doi:10.1016/j.biologicals.2025.101828</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Hirai T et al. Biologicals 2024;85:101739. doi:10.1016/j.biologicals.2023.101739</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Khan AS et al. Biologicals 2025;92:101859. doi:10.1016/j.biologicals.2025.101859</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Geisler C, Jarvis DL. Biologicals 2016;44:219. doi:10.1016/j.biologicals.2016.04.004</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Grard G et al. PLoS Pathog 2012;8:e1002924. doi:10.1371/journal.ppat.1002924</a:t>
            </a:r>
            <a:endParaRPr lang="en-US" sz="900" dirty="0"/>
          </a:p>
        </p:txBody>
      </p:sp>
      <p:sp>
        <p:nvSpPr>
          <p:cNvPr id="9" name="Text 6"/>
          <p:cNvSpPr txBox="1"/>
          <p:nvPr/>
        </p:nvSpPr>
        <p:spPr>
          <a:xfrm>
            <a:off x="6263640" y="1463040"/>
            <a:ext cx="5394960" cy="320040"/>
          </a:xfrm>
          <a:prstGeom prst="rect">
            <a:avLst/>
          </a:prstGeom>
          <a:noFill/>
          <a:ln/>
        </p:spPr>
        <p:txBody>
          <a:bodyPr wrap="square" lIns="0" tIns="0" rIns="0" bIns="0" rtlCol="0" anchor="t"/>
          <a:lstStyle/>
          <a:p>
            <a:pPr marL="0" indent="0">
              <a:buNone/>
            </a:pPr>
            <a:r>
              <a:rPr lang="en-US" sz="1300" b="1" dirty="0">
                <a:solidFill>
                  <a:srgbClr val="000080"/>
                </a:solidFill>
                <a:latin typeface="Malgun Gothic" pitchFamily="34" charset="0"/>
                <a:ea typeface="Malgun Gothic" pitchFamily="34" charset="-122"/>
                <a:cs typeface="Malgun Gothic" pitchFamily="34" charset="-120"/>
              </a:rPr>
              <a:t>규제 · 사건</a:t>
            </a:r>
            <a:endParaRPr lang="en-US" sz="1300" dirty="0"/>
          </a:p>
        </p:txBody>
      </p:sp>
      <p:sp>
        <p:nvSpPr>
          <p:cNvPr id="10" name="Text 7"/>
          <p:cNvSpPr txBox="1"/>
          <p:nvPr/>
        </p:nvSpPr>
        <p:spPr>
          <a:xfrm>
            <a:off x="6263640" y="1828800"/>
            <a:ext cx="5394960" cy="4434840"/>
          </a:xfrm>
          <a:prstGeom prst="rect">
            <a:avLst/>
          </a:prstGeom>
          <a:noFill/>
          <a:ln/>
        </p:spPr>
        <p:txBody>
          <a:bodyPr wrap="square" lIns="0" tIns="0" rIns="0" bIns="0" rtlCol="0" anchor="t"/>
          <a:lstStyle/>
          <a:p>
            <a:pPr marL="0" indent="0">
              <a:spcAft>
                <a:spcPts val="300"/>
              </a:spcAft>
              <a:buNone/>
            </a:pPr>
            <a:r>
              <a:rPr lang="en-US" sz="900" dirty="0">
                <a:solidFill>
                  <a:srgbClr val="595959"/>
                </a:solidFill>
                <a:latin typeface="Arial" pitchFamily="34" charset="0"/>
                <a:ea typeface="Arial" pitchFamily="34" charset="-122"/>
                <a:cs typeface="Arial" pitchFamily="34" charset="-120"/>
              </a:rPr>
              <a:t>ICH Q5A(R2) Step 4, 2023-11-01 · FDA 89 FR 1925 (2024) · EMA/CHMP/ICH/804363/2022</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EDQM. Ph. Eur. 2.6.41 채택 공지 (2025) · Ph. Eur. 12.2</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FDA. Cell Substrates Guidance for Viral Vaccines (2010)</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WHO TRS 978 Annex 3 (2013) · WHO/BS/2024.2471</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식약처. 생물의약품 외래성 바이러스 부정시험 가이드라인 (2010)</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식품의약품안전평가원. 백신 생산용 세포주의 NGS 기반 외래성 바이러스 부정시험법 정보집 (2021)</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IABS NGS 컨퍼런스 보고: Biologicals 2018;55:1 · 2020;67:94 · 2023;83:101696</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Mallet L, Gisonni-Lex L. PDA J Pharm Sci Technol 2014;68:556</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Dubin G et al. Hum Vaccin Immunother 2013;9:2398. doi:10.4161/hv.25973</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Barone PW et al. Nat Biotechnol 2020;38:563. doi:10.1038/s41587-020-0507-2</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Garnick RL. Dev Biol Stand 1996;88:49 · Nims RW et al. BioPharm Int 2008</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CDC Historical concerns (SV40) · IOM 2002 · Genzyme Form 10-K FY2009</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References (2/2)</a:t>
            </a:r>
            <a:endParaRPr lang="en-US" sz="3200" dirty="0"/>
          </a:p>
        </p:txBody>
      </p:sp>
      <p:sp>
        <p:nvSpPr>
          <p:cNvPr id="5" name="Text 3"/>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47</a:t>
            </a:r>
            <a:endParaRPr lang="en-US" sz="900" dirty="0"/>
          </a:p>
        </p:txBody>
      </p:sp>
      <p:sp>
        <p:nvSpPr>
          <p:cNvPr id="7" name="Text 4"/>
          <p:cNvSpPr txBox="1"/>
          <p:nvPr/>
        </p:nvSpPr>
        <p:spPr>
          <a:xfrm>
            <a:off x="548640" y="1463040"/>
            <a:ext cx="10972800" cy="320040"/>
          </a:xfrm>
          <a:prstGeom prst="rect">
            <a:avLst/>
          </a:prstGeom>
          <a:noFill/>
          <a:ln/>
        </p:spPr>
        <p:txBody>
          <a:bodyPr wrap="square" lIns="0" tIns="0" rIns="0" bIns="0" rtlCol="0" anchor="t"/>
          <a:lstStyle/>
          <a:p>
            <a:pPr marL="0" indent="0">
              <a:buNone/>
            </a:pPr>
            <a:r>
              <a:rPr lang="en-US" sz="1300" b="1" dirty="0">
                <a:solidFill>
                  <a:srgbClr val="000080"/>
                </a:solidFill>
                <a:latin typeface="Malgun Gothic" pitchFamily="34" charset="0"/>
                <a:ea typeface="Malgun Gothic" pitchFamily="34" charset="-122"/>
                <a:cs typeface="Malgun Gothic" pitchFamily="34" charset="-120"/>
              </a:rPr>
              <a:t>NGS 원리 · 분석</a:t>
            </a:r>
            <a:endParaRPr lang="en-US" sz="1300" dirty="0"/>
          </a:p>
        </p:txBody>
      </p:sp>
      <p:sp>
        <p:nvSpPr>
          <p:cNvPr id="8" name="Text 5"/>
          <p:cNvSpPr txBox="1"/>
          <p:nvPr/>
        </p:nvSpPr>
        <p:spPr>
          <a:xfrm>
            <a:off x="548640" y="1828800"/>
            <a:ext cx="5394960" cy="4434840"/>
          </a:xfrm>
          <a:prstGeom prst="rect">
            <a:avLst/>
          </a:prstGeom>
          <a:noFill/>
          <a:ln/>
        </p:spPr>
        <p:txBody>
          <a:bodyPr wrap="square" lIns="0" tIns="0" rIns="0" bIns="0" rtlCol="0" anchor="t"/>
          <a:lstStyle/>
          <a:p>
            <a:pPr marL="0" indent="0">
              <a:spcAft>
                <a:spcPts val="400"/>
              </a:spcAft>
              <a:buNone/>
            </a:pPr>
            <a:r>
              <a:rPr lang="en-US" sz="950" dirty="0">
                <a:solidFill>
                  <a:srgbClr val="595959"/>
                </a:solidFill>
                <a:latin typeface="Arial" pitchFamily="34" charset="0"/>
                <a:ea typeface="Arial" pitchFamily="34" charset="-122"/>
                <a:cs typeface="Arial" pitchFamily="34" charset="-120"/>
              </a:rPr>
              <a:t>Illumina. An Introduction to NGS Technology · Patterned Flow Cell · 2-Channel SBS</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Illumina white paper 770-2017-004 (index misassignment)</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Bentley DR et al. Nature 2008;456:53</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Allander T et al. PNAS 2001;98:11609</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Ng SHS et al. Viruses 2018;10:566</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Mee ET et al. Vaccine 2016;34:2035</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Salter SJ et al. BMC Biol 2014;12:87</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Khan AS et al. mSphere 2017;2:e00307-17</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Bolger AM et al. Bioinformatics 2014;30:2114 · Chen S et al. Bioinformatics 2018;34:i884</a:t>
            </a:r>
            <a:endParaRPr lang="en-US" sz="950" dirty="0"/>
          </a:p>
        </p:txBody>
      </p:sp>
      <p:sp>
        <p:nvSpPr>
          <p:cNvPr id="9" name="Text 6"/>
          <p:cNvSpPr txBox="1"/>
          <p:nvPr/>
        </p:nvSpPr>
        <p:spPr>
          <a:xfrm>
            <a:off x="6263640" y="1828800"/>
            <a:ext cx="5394960" cy="4434840"/>
          </a:xfrm>
          <a:prstGeom prst="rect">
            <a:avLst/>
          </a:prstGeom>
          <a:noFill/>
          <a:ln/>
        </p:spPr>
        <p:txBody>
          <a:bodyPr wrap="square" lIns="0" tIns="0" rIns="0" bIns="0" rtlCol="0" anchor="t"/>
          <a:lstStyle/>
          <a:p>
            <a:pPr marL="0" indent="0">
              <a:spcAft>
                <a:spcPts val="400"/>
              </a:spcAft>
              <a:buNone/>
            </a:pPr>
            <a:r>
              <a:rPr lang="en-US" sz="950" dirty="0">
                <a:solidFill>
                  <a:srgbClr val="595959"/>
                </a:solidFill>
                <a:latin typeface="Arial" pitchFamily="34" charset="0"/>
                <a:ea typeface="Arial" pitchFamily="34" charset="-122"/>
                <a:cs typeface="Arial" pitchFamily="34" charset="-120"/>
              </a:rPr>
              <a:t>Li H, Durbin R. Bioinformatics 2009;25:1754 · Langmead B, Salzberg SL. Nat Methods 2012;9:357</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Buchfink B et al. Nat Methods 2015;12:59 · Wood DE et al. Genome Biol 2019;20:257</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Bankevich A et al. J Comput Biol 2012;19:455 · Li D et al. Bioinformatics 2015;31:1674</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Goodacre N et al. mSphere 2018;3:e00069-18 · Chin P et al. mSphere 2025;10:e00286-25</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MacDonald ML et al. mSphere 2021;6:e01336-20 · Simonyan V et al. Database 2016;baw022</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Xu X et al. Nat Biotechnol 2011;29:735 · Lewis NE et al. Nat Biotechnol 2013;31:759</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Rupp O et al. Biotechnol Bioeng 2018;115:2087 · Osada N et al. DNA Res 2014;21:673</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Lin YC et al. Nat Commun 2014;5:4767 · Nandakumar S et al. Genome Announc 2017;5:e00829-17</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Chiu CY, Miller SA. Nat Rev Genet 2019;20:341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8081</Words>
  <Application>Microsoft Office PowerPoint</Application>
  <PresentationFormat>와이드스크린</PresentationFormat>
  <Paragraphs>924</Paragraphs>
  <Slides>46</Slides>
  <Notes>46</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46</vt:i4>
      </vt:variant>
    </vt:vector>
  </HeadingPairs>
  <TitlesOfParts>
    <vt:vector size="49" baseType="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목록에 없는 바이러스 - NGS 기반 외래성 바이러스 부정시험</dc:title>
  <dc:subject>PptxGenJS Presentation</dc:subject>
  <dc:creator>PptxGenJS</dc:creator>
  <cp:lastModifiedBy>Yunbeom Lee</cp:lastModifiedBy>
  <cp:revision>2</cp:revision>
  <dcterms:created xsi:type="dcterms:W3CDTF">2026-09-30T00:30:34Z</dcterms:created>
  <dcterms:modified xsi:type="dcterms:W3CDTF">2026-09-30T00:54:36Z</dcterms:modified>
</cp:coreProperties>
</file>